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90" r:id="rId2"/>
    <p:sldMasterId id="2147483695" r:id="rId3"/>
    <p:sldMasterId id="2147483729" r:id="rId4"/>
    <p:sldMasterId id="2147483735" r:id="rId5"/>
    <p:sldMasterId id="2147483747" r:id="rId6"/>
    <p:sldMasterId id="2147483749" r:id="rId7"/>
    <p:sldMasterId id="2147483754" r:id="rId8"/>
  </p:sldMasterIdLst>
  <p:notesMasterIdLst>
    <p:notesMasterId r:id="rId38"/>
  </p:notesMasterIdLst>
  <p:handoutMasterIdLst>
    <p:handoutMasterId r:id="rId39"/>
  </p:handoutMasterIdLst>
  <p:sldIdLst>
    <p:sldId id="414" r:id="rId9"/>
    <p:sldId id="389" r:id="rId10"/>
    <p:sldId id="390" r:id="rId11"/>
    <p:sldId id="593" r:id="rId12"/>
    <p:sldId id="448" r:id="rId13"/>
    <p:sldId id="418" r:id="rId14"/>
    <p:sldId id="419" r:id="rId15"/>
    <p:sldId id="420" r:id="rId16"/>
    <p:sldId id="421" r:id="rId17"/>
    <p:sldId id="422" r:id="rId18"/>
    <p:sldId id="423" r:id="rId19"/>
    <p:sldId id="426" r:id="rId20"/>
    <p:sldId id="427" r:id="rId21"/>
    <p:sldId id="428" r:id="rId22"/>
    <p:sldId id="429" r:id="rId23"/>
    <p:sldId id="430" r:id="rId24"/>
    <p:sldId id="431" r:id="rId25"/>
    <p:sldId id="433" r:id="rId26"/>
    <p:sldId id="434" r:id="rId27"/>
    <p:sldId id="435" r:id="rId28"/>
    <p:sldId id="436" r:id="rId29"/>
    <p:sldId id="391" r:id="rId30"/>
    <p:sldId id="417" r:id="rId31"/>
    <p:sldId id="439" r:id="rId32"/>
    <p:sldId id="594" r:id="rId33"/>
    <p:sldId id="598" r:id="rId34"/>
    <p:sldId id="372" r:id="rId35"/>
    <p:sldId id="595" r:id="rId36"/>
    <p:sldId id="596" r:id="rId37"/>
  </p:sldIdLst>
  <p:sldSz cx="9144000" cy="6858000" type="screen4x3"/>
  <p:notesSz cx="67691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0000"/>
    <a:srgbClr val="00145A"/>
    <a:srgbClr val="001E5A"/>
    <a:srgbClr val="5F5F5F"/>
    <a:srgbClr val="6699FF"/>
    <a:srgbClr val="33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77890" autoAdjust="0"/>
  </p:normalViewPr>
  <p:slideViewPr>
    <p:cSldViewPr snapToGrid="0">
      <p:cViewPr varScale="1">
        <p:scale>
          <a:sx n="204" d="100"/>
          <a:sy n="204" d="100"/>
        </p:scale>
        <p:origin x="3948" y="144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defTabSz="928117">
              <a:defRPr sz="1100" b="0" i="1"/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5624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algn="r" defTabSz="928117">
              <a:defRPr sz="1100" b="0" i="1"/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defTabSz="928117">
              <a:defRPr sz="1100" b="0" i="1"/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5624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algn="r" defTabSz="928117">
              <a:defRPr sz="1100" b="0" i="1">
                <a:ea typeface="굴림" pitchFamily="50" charset="-127"/>
              </a:defRPr>
            </a:lvl1pPr>
          </a:lstStyle>
          <a:p>
            <a:pPr>
              <a:defRPr/>
            </a:pPr>
            <a:fld id="{83CC22A7-D8E3-41CF-9D0B-5ADBFC9E7F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02968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defTabSz="928117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5624" y="3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t" anchorCtr="0" compatLnSpc="1">
            <a:prstTxWarp prst="textNoShape">
              <a:avLst/>
            </a:prstTxWarp>
          </a:bodyPr>
          <a:lstStyle>
            <a:lvl1pPr algn="r" defTabSz="928117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defTabSz="928117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5624" y="9411240"/>
            <a:ext cx="2933479" cy="49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61" tIns="0" rIns="19361" bIns="0" numCol="1" anchor="b" anchorCtr="0" compatLnSpc="1">
            <a:prstTxWarp prst="textNoShape">
              <a:avLst/>
            </a:prstTxWarp>
          </a:bodyPr>
          <a:lstStyle>
            <a:lvl1pPr algn="r" defTabSz="928117">
              <a:defRPr sz="1100" b="0" i="1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fld id="{974C6C48-3D23-459E-8E38-4ECADFB1CA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2144" y="4703316"/>
            <a:ext cx="4964814" cy="445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84" tIns="46792" rIns="93584" bIns="467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584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4538"/>
            <a:ext cx="4943475" cy="3708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45490" y="9434285"/>
            <a:ext cx="737760" cy="271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8745" tIns="45178" rIns="88745" bIns="45178">
            <a:spAutoFit/>
          </a:bodyPr>
          <a:lstStyle/>
          <a:p>
            <a:pPr algn="ctr" defTabSz="880794">
              <a:lnSpc>
                <a:spcPct val="90000"/>
              </a:lnSpc>
              <a:defRPr/>
            </a:pPr>
            <a:r>
              <a:rPr lang="en-US" altLang="ko-KR" sz="1300" b="0" dirty="0">
                <a:solidFill>
                  <a:schemeClr val="tx1"/>
                </a:solidFill>
                <a:ea typeface="굴림" pitchFamily="50" charset="-127"/>
              </a:rPr>
              <a:t>Page </a:t>
            </a:r>
            <a:fld id="{82C2BBBC-64C2-4359-B7A5-957E3A457D2B}" type="slidenum">
              <a:rPr lang="en-US" altLang="ko-KR" sz="1300" b="0">
                <a:solidFill>
                  <a:schemeClr val="tx1"/>
                </a:solidFill>
                <a:ea typeface="굴림" pitchFamily="50" charset="-127"/>
              </a:rPr>
              <a:pPr algn="ctr" defTabSz="880794">
                <a:lnSpc>
                  <a:spcPct val="90000"/>
                </a:lnSpc>
                <a:defRPr/>
              </a:pPr>
              <a:t>‹#›</a:t>
            </a:fld>
            <a:endParaRPr lang="en-US" altLang="ko-KR" sz="1300" b="0" dirty="0">
              <a:solidFill>
                <a:schemeClr val="tx1"/>
              </a:solidFill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3441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We have demonstrated that our new technique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 could  effectively detect 24 crash bugs. Now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 is successfully adopted by the original development team. I personally believe that </a:t>
            </a:r>
            <a:r>
              <a:rPr lang="en-US" altLang="ko-KR" baseline="0" dirty="0" err="1"/>
              <a:t>concolic</a:t>
            </a:r>
            <a:r>
              <a:rPr lang="en-US" altLang="ko-KR" baseline="0" dirty="0"/>
              <a:t> testing is mature enough to be adopted by industry, not only academy. Traditionally, testing focuses on manual TC generation testing main scenarios, ~~. But I believe that our testing paradigm is changing to new testing new paradigm based on </a:t>
            </a:r>
            <a:r>
              <a:rPr lang="en-US" altLang="ko-KR" baseline="0" dirty="0" err="1"/>
              <a:t>concolic</a:t>
            </a:r>
            <a:r>
              <a:rPr lang="en-US" altLang="ko-KR" baseline="0" dirty="0"/>
              <a:t> testing like </a:t>
            </a:r>
            <a:r>
              <a:rPr lang="en-US" altLang="ko-KR" baseline="0" dirty="0" err="1"/>
              <a:t>conbol</a:t>
            </a:r>
            <a:r>
              <a:rPr lang="en-US" altLang="ko-KR" baseline="0" dirty="0"/>
              <a:t>. Now we generate millions of test cases automatically, and targeting exceptional scenarios as we detected 24 hidden bugs with unit-level testing and large # of TCs. So overall I believe automated testing has a lower V7V cost than manual testing for higher reliability. And our group and </a:t>
            </a:r>
            <a:r>
              <a:rPr lang="en-US" altLang="ko-KR" baseline="0" dirty="0" err="1"/>
              <a:t>samsung</a:t>
            </a:r>
            <a:r>
              <a:rPr lang="en-US" altLang="ko-KR" baseline="0" dirty="0"/>
              <a:t> electronics try hard to apply such automated technique to more larger product.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EC2DCC-8750-4A47-8AEC-5DB665F4C30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633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http://blog.skby.net/%EB%B8%94%EB%9E%99%EB%B0%95%EC%8A%A4-%ED%85%8C%EC%8A%A4%ED%8A%B8-%ED%99%94%EC%9D%B4%ED%8A%B8%EB%B0%95%EC%8A%A4-%ED%85%8C%EC%8A%A4%ED%8A%B8/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C8E97-7F41-4A11-BD62-AE4849AC0FA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640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number may be further reduced by using [single] markings. This annotation is intended to describe special, unusual, or redundant conditions that do not have to be combined with all possible choices. As with (error I choices, the generator does not com-a [single] choice with any choices from other categories.</a:t>
            </a:r>
          </a:p>
          <a:p>
            <a:endParaRPr lang="en-US" altLang="ko-KR" dirty="0"/>
          </a:p>
          <a:p>
            <a:r>
              <a:rPr lang="en-US" altLang="ko-KR" dirty="0"/>
              <a:t>The decision to use a [single ] marking is a judgment by the tester that the marked choice can be adequately tested with only one test case.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3790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590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2229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number may be further reduced by using [single] markings. This annotation is intended to describe special, unusual, or redundant conditions that do not have to be combined with all possible choices. As with (error I choices, the generator does not com-a [single] choice with any choices from other categories.</a:t>
            </a:r>
          </a:p>
          <a:p>
            <a:endParaRPr lang="en-US" altLang="ko-KR" dirty="0"/>
          </a:p>
          <a:p>
            <a:r>
              <a:rPr lang="en-US" altLang="ko-KR" dirty="0"/>
              <a:t>The decision to use a [single ] marking is a judgment by the tester that the marked choice can be adequately tested with only one test case.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4C6C48-3D23-459E-8E38-4ECADFB1CA3A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7061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625C59-C6F0-4DEA-95E8-7AE6212AB15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67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171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</a:t>
            </a:r>
          </a:p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669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C515-6F76-4834-BC94-A4C2B94A0A22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434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1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1820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</a:t>
            </a:r>
          </a:p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16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C515-6F76-4834-BC94-A4C2B94A0A22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39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29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4950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</a:t>
            </a:r>
          </a:p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Provable SW Lab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15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70104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09888" y="6491291"/>
            <a:ext cx="321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6096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47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6038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990600"/>
            <a:ext cx="4038600" cy="5334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334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11"/>
          </p:nvPr>
        </p:nvSpPr>
        <p:spPr>
          <a:xfrm>
            <a:off x="7010416" y="6502442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09888" y="6500834"/>
            <a:ext cx="321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609600" y="6502442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892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136B-662F-4257-B137-91EDC4F53174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337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C4D9B-E843-4D4A-8C02-23BF3AB0F85E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05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307F-0496-4A73-A8E5-94444AC1291C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480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B481E-34E9-48EF-A35B-B569F95FF103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054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9A90D-6C66-4860-BD11-A0F45B1123E5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713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F328F-E297-4E71-AA26-1F02D9C14C94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2562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FB2C3-0A19-4C03-BECC-8FFAECE953C1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80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B648E-2193-422C-8B4B-990A7FEA69C3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1604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A6CA0-FCBC-41B8-9D33-0A78BBF70594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2695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C2477-0EBB-40EA-BBED-B2735FDC3421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9255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D36D-5410-4AA0-B6CF-8BFA481344D5}" type="datetime1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68514-7FFF-4D82-BD34-CC1477EAA0E4}" type="slidenum">
              <a:rPr lang="ko-KR" alt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5179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cs typeface="Microsoft Sans Serif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Microsoft Sans Serif" pitchFamily="34" charset="0"/>
              </a:rPr>
              <a:t>Moonzoo Kim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Microsoft Sans Serif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  <a:cs typeface="Microsoft Sans Serif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Microsoft Sans Serif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Microsoft Sans Serif" pitchFamily="34" charset="0"/>
              </a:rPr>
              <a:t>/11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Microsoft Sans Serif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60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072462" y="6522464"/>
            <a:ext cx="1017182" cy="31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Moonzoo Kim 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/11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0315757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Moonzoo Kim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/11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9958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34C515-6F76-4834-BC94-A4C2B94A0A22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5034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EFB0D160-5955-ADB1-832E-6EAB0FF4B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60769F-C01C-1FA0-506B-28D901908E1B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76737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82DF07F6-378E-771A-1BAE-6F472476BA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FC1B98-24CC-BB0B-F598-4700B3FD34C9}"/>
              </a:ext>
            </a:extLst>
          </p:cNvPr>
          <p:cNvSpPr txBox="1"/>
          <p:nvPr userDrawn="1"/>
        </p:nvSpPr>
        <p:spPr>
          <a:xfrm>
            <a:off x="8853191" y="6542967"/>
            <a:ext cx="339837" cy="1731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125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3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0B261-FAED-380D-B02C-A36335D3E084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89802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9445290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1291414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3851524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245744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6069296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2284701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9601023"/>
      </p:ext>
    </p:extLst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1365601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1774741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+ Credits">
  <p:cSld name="Thanks + Credi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>
            <a:spLocks noGrp="1"/>
          </p:cNvSpPr>
          <p:nvPr>
            <p:ph type="title"/>
          </p:nvPr>
        </p:nvSpPr>
        <p:spPr>
          <a:xfrm>
            <a:off x="924870" y="1013833"/>
            <a:ext cx="3068700" cy="7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2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ubTitle" idx="1"/>
          </p:nvPr>
        </p:nvSpPr>
        <p:spPr>
          <a:xfrm>
            <a:off x="924875" y="2245700"/>
            <a:ext cx="3305400" cy="14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05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51203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3B0FB928-E31E-4EF9-AB54-15CC486A18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657408-645C-41CF-B499-B3CDF1F1151D}"/>
              </a:ext>
            </a:extLst>
          </p:cNvPr>
          <p:cNvSpPr txBox="1"/>
          <p:nvPr userDrawn="1"/>
        </p:nvSpPr>
        <p:spPr>
          <a:xfrm>
            <a:off x="8853191" y="6542967"/>
            <a:ext cx="339837" cy="1731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125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3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21793-D18A-4967-8D8D-ADE135A2374F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80049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download.hipwallpaper.com/desktop/1920/1080/74/27/GO5V1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  </a:t>
            </a:r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44662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download.hipwallpaper.com/desktop/1920/1080/74/27/GO5V1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8160" y="953755"/>
            <a:ext cx="8725343" cy="524502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853191" y="6542967"/>
            <a:ext cx="339837" cy="173124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rtlCol="0">
            <a:spAutoFit/>
          </a:bodyPr>
          <a:lstStyle/>
          <a:p>
            <a:pPr algn="ctr"/>
            <a:fld id="{1E8EF55A-D651-4309-8E22-CE3674AD0D62}" type="slidenum">
              <a:rPr lang="ko-KR" altLang="en-US" sz="1125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/>
              <a:t>‹#›</a:t>
            </a:fld>
            <a:endParaRPr lang="ko-KR" altLang="en-US" sz="135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>
          <a:xfrm>
            <a:off x="138210" y="157675"/>
            <a:ext cx="8229600" cy="58660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91746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857256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858016" y="6492901"/>
            <a:ext cx="1357322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/>
              <a:t>Moonzoo Kim Provable SW Lab</a:t>
            </a: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2857488" y="6491293"/>
            <a:ext cx="321471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altLang="ko-KR" dirty="0"/>
              <a:t>Automated Software Analysis Techniques</a:t>
            </a:r>
            <a:br>
              <a:rPr lang="en-US" altLang="ko-KR" dirty="0"/>
            </a:br>
            <a:r>
              <a:rPr lang="en-US" altLang="ko-KR" dirty="0"/>
              <a:t>For High Reliability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653EB63F-210B-426B-8655-095B3862437C}" type="slidenum">
              <a:rPr lang="ko-KR" altLang="en-US" smtClean="0"/>
              <a:pPr/>
              <a:t>‹#›</a:t>
            </a:fld>
            <a:r>
              <a:rPr lang="en-US" altLang="ko-KR" dirty="0"/>
              <a:t>/42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3"/>
          </p:nvPr>
        </p:nvSpPr>
        <p:spPr>
          <a:xfrm>
            <a:off x="285721" y="1214422"/>
            <a:ext cx="8429655" cy="5214974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8165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8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95" name="Rectangle 11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58796" name="Rectangle 12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5879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39125" y="6248400"/>
            <a:ext cx="6318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solidFill>
                  <a:schemeClr val="bg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DEF573D-8FF1-4457-AE1E-9EB79F03C1B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29" name="Picture 16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7800" y="6415088"/>
            <a:ext cx="804863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</p:sldLayoutIdLst>
  <p:hf hd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rgbClr val="660033"/>
          </a:solidFill>
          <a:effectLst>
            <a:outerShdw blurRad="38100" dist="38100" dir="2700000" algn="tl">
              <a:srgbClr val="C0C0C0"/>
            </a:outerShdw>
          </a:effectLst>
          <a:latin typeface="Palatino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1600">
          <a:solidFill>
            <a:schemeClr val="bg2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/21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066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Moonzoo Kim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1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857488" y="6491291"/>
            <a:ext cx="3214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653EB63F-210B-426B-8655-095B3862437C}" type="slidenum">
              <a:rPr lang="ko-KR" altLang="en-US" b="0" smtClean="0">
                <a:solidFill>
                  <a:prstClr val="black">
                    <a:tint val="75000"/>
                  </a:prstClr>
                </a:solidFill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r>
              <a:rPr lang="en-US" altLang="ko-KR" b="0" dirty="0">
                <a:solidFill>
                  <a:prstClr val="black">
                    <a:tint val="75000"/>
                  </a:prstClr>
                </a:solidFill>
              </a:rPr>
              <a:t>/92</a:t>
            </a:r>
            <a:endParaRPr lang="ko-KR" altLang="en-US" b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36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01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49411016-0908-4DB8-A836-5EA4C29B8B7A}" type="datetime1">
              <a:rPr lang="ko-KR" altLang="en-US" b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2025-11-26</a:t>
            </a:fld>
            <a:endParaRPr lang="ko-KR" altLang="en-US" b="0">
              <a:solidFill>
                <a:prstClr val="black">
                  <a:lumMod val="75000"/>
                  <a:lumOff val="25000"/>
                </a:prstClr>
              </a:solidFill>
              <a:latin typeface="맑은 고딕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468512" y="6356350"/>
            <a:ext cx="620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b="0">
                <a:solidFill>
                  <a:prstClr val="black">
                    <a:lumMod val="75000"/>
                    <a:lumOff val="25000"/>
                  </a:prstClr>
                </a:solidFill>
              </a:rPr>
              <a:t>Code Coverage-based Testing of Concurrent Programs</a:t>
            </a:r>
            <a:endParaRPr lang="ko-KR" altLang="en-US" b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172400" y="6356350"/>
            <a:ext cx="5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fld id="{2C968514-7FFF-4D82-BD34-CC1477EAA0E4}" type="slidenum">
              <a:rPr lang="ko-KR" altLang="en-US" b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</a:rPr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ko-KR" altLang="en-US" b="0">
              <a:solidFill>
                <a:prstClr val="black">
                  <a:lumMod val="75000"/>
                  <a:lumOff val="25000"/>
                </a:prst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7641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7494170"/>
      </p:ext>
    </p:extLst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 latinLnBrk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latinLnBrk="1" hangingPunct="0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latinLnBrk="1" hangingPunct="0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428736"/>
            <a:ext cx="8229600" cy="5000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58016" y="6492899"/>
            <a:ext cx="1357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Moonzoo Kim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57200" y="6492899"/>
            <a:ext cx="9000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3EB63F-210B-426B-8655-095B3862437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t>/11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80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F9E0C-DB97-4F1D-83F5-9E57D5CEC7C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Picture 2" descr="https://download.hipwallpaper.com/desktop/1920/1080/74/27/GO5V1i.png">
            <a:extLst>
              <a:ext uri="{FF2B5EF4-FFF2-40B4-BE49-F238E27FC236}">
                <a16:creationId xmlns:a16="http://schemas.microsoft.com/office/drawing/2014/main" id="{2885BD5B-E0C9-589F-AC7B-E19BD8FDDF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2" y="802028"/>
            <a:ext cx="9143999" cy="605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9AFEF9-B32F-9829-3286-58FB2A6CBF85}"/>
              </a:ext>
            </a:extLst>
          </p:cNvPr>
          <p:cNvSpPr txBox="1"/>
          <p:nvPr userDrawn="1"/>
        </p:nvSpPr>
        <p:spPr>
          <a:xfrm>
            <a:off x="216193" y="113944"/>
            <a:ext cx="7589702" cy="369332"/>
          </a:xfrm>
          <a:prstGeom prst="rect">
            <a:avLst/>
          </a:prstGeom>
          <a:noFill/>
          <a:effectLst>
            <a:outerShdw blurRad="889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A1B91FA0-CB03-7612-8730-554C9E51E74B}"/>
              </a:ext>
            </a:extLst>
          </p:cNvPr>
          <p:cNvSpPr/>
          <p:nvPr userDrawn="1"/>
        </p:nvSpPr>
        <p:spPr>
          <a:xfrm>
            <a:off x="0" y="-2"/>
            <a:ext cx="9144000" cy="802028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69000">
                <a:schemeClr val="accent1">
                  <a:lumMod val="75000"/>
                </a:schemeClr>
              </a:gs>
              <a:gs pos="39000">
                <a:schemeClr val="tx2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350" dirty="0">
              <a:solidFill>
                <a:prstClr val="white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9329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skby.net/%EB%B8%94%EB%9E%99%EB%B0%95%EC%8A%A4-%ED%85%8C%EC%8A%A4%ED%8A%B8-%ED%99%94%EC%9D%B4%ED%8A%B8%EB%B0%95%EC%8A%A4-%ED%85%8C%EC%8A%A4%ED%8A%B8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%20msagiv@post.tau.ac.i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9.xml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blog.skby.net/%EB%B8%94%EB%9E%99%EB%B0%95%EC%8A%A4-%ED%85%8C%EC%8A%A4%ED%8A%B8-%ED%99%94%EC%9D%B4%ED%8A%B8%EB%B0%95%EC%8A%A4-%ED%85%8C%EC%8A%A4%ED%8A%B8/" TargetMode="Externa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438144"/>
            <a:ext cx="9144000" cy="857256"/>
          </a:xfrm>
        </p:spPr>
        <p:txBody>
          <a:bodyPr>
            <a:normAutofit fontScale="90000"/>
          </a:bodyPr>
          <a:lstStyle/>
          <a:p>
            <a:r>
              <a:rPr lang="en-US" dirty="0"/>
              <a:t>SW Development and Testing Model </a:t>
            </a:r>
            <a:br>
              <a:rPr lang="en-US" dirty="0"/>
            </a:br>
            <a:r>
              <a:rPr lang="en-US" dirty="0"/>
              <a:t>(a.k.a. V model)</a:t>
            </a:r>
            <a:br>
              <a:rPr lang="en-US" dirty="0"/>
            </a:b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Moonzoo Kim Provable SW Lab</a:t>
            </a: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/42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321" y="1643050"/>
            <a:ext cx="6490389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>
          <a:xfrm>
            <a:off x="2082139" y="4786322"/>
            <a:ext cx="4769856" cy="928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357158" y="1857364"/>
            <a:ext cx="428628" cy="4357718"/>
          </a:xfrm>
          <a:prstGeom prst="downArrow">
            <a:avLst/>
          </a:prstGeom>
          <a:gradFill flip="none"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306" y="1214422"/>
            <a:ext cx="1085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70C0"/>
                </a:solidFill>
                <a:latin typeface="맑은 고딕"/>
                <a:ea typeface="HY견고딕" pitchFamily="18" charset="-127"/>
              </a:rPr>
              <a:t>Manual </a:t>
            </a:r>
          </a:p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70C0"/>
                </a:solidFill>
                <a:latin typeface="맑은 고딕"/>
                <a:ea typeface="HY견고딕" pitchFamily="18" charset="-127"/>
              </a:rPr>
              <a:t>Labor</a:t>
            </a:r>
          </a:p>
        </p:txBody>
      </p:sp>
      <p:sp>
        <p:nvSpPr>
          <p:cNvPr id="17" name="아래쪽 화살표 16"/>
          <p:cNvSpPr/>
          <p:nvPr/>
        </p:nvSpPr>
        <p:spPr>
          <a:xfrm rot="10800000">
            <a:off x="8128729" y="1785926"/>
            <a:ext cx="428628" cy="4214842"/>
          </a:xfrm>
          <a:prstGeom prst="down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5400000" scaled="0"/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en-US" sz="1800" b="0">
              <a:solidFill>
                <a:prstClr val="white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43834" y="600076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FF0000"/>
                </a:solidFill>
                <a:latin typeface="맑은 고딕"/>
                <a:ea typeface="HY견고딕" pitchFamily="18" charset="-127"/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534870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22114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Foundation of Software Testing 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5680" y="3933058"/>
            <a:ext cx="8312728" cy="2664294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ko-KR" sz="2000" dirty="0"/>
              <a:t>Multiple targets for software </a:t>
            </a:r>
            <a:r>
              <a:rPr lang="en-US" altLang="ko-KR" sz="2000" dirty="0">
                <a:latin typeface="Calibri" panose="020F0502020204030204" pitchFamily="34" charset="0"/>
              </a:rPr>
              <a:t>testing </a:t>
            </a:r>
            <a:endParaRPr lang="en-US" altLang="ko-KR" sz="2000" dirty="0"/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altLang="ko-KR" sz="2000" dirty="0"/>
              <a:t>Does </a:t>
            </a:r>
            <a:r>
              <a:rPr lang="en-US" altLang="ko-KR" sz="2000" dirty="0">
                <a:latin typeface="Calibri" panose="020F0502020204030204" pitchFamily="34" charset="0"/>
              </a:rPr>
              <a:t>the test</a:t>
            </a:r>
            <a:r>
              <a:rPr lang="ko-KR" altLang="en-US" sz="2000" dirty="0">
                <a:latin typeface="Calibri" panose="020F0502020204030204" pitchFamily="34" charset="0"/>
              </a:rPr>
              <a:t> </a:t>
            </a:r>
            <a:r>
              <a:rPr lang="en-US" altLang="ko-KR" sz="2000" dirty="0">
                <a:latin typeface="Calibri" panose="020F0502020204030204" pitchFamily="34" charset="0"/>
              </a:rPr>
              <a:t>cases represent the requirement spec correctly?  </a:t>
            </a:r>
            <a:br>
              <a:rPr lang="en-US" altLang="ko-KR" sz="2000" dirty="0">
                <a:latin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2000" dirty="0">
                <a:sym typeface="Wingdings" panose="05000000000000000000" pitchFamily="2" charset="2"/>
              </a:rPr>
              <a:t>S</a:t>
            </a:r>
            <a:r>
              <a:rPr lang="en-US" altLang="ko-KR" sz="2000" dirty="0">
                <a:latin typeface="Calibri" panose="020F0502020204030204" pitchFamily="34" charset="0"/>
                <a:sym typeface="Wingdings" panose="05000000000000000000" pitchFamily="2" charset="2"/>
              </a:rPr>
              <a:t>cenario based testing </a:t>
            </a:r>
            <a:r>
              <a:rPr lang="en-US" altLang="ko-KR" sz="2000" dirty="0">
                <a:latin typeface="Calibri" panose="020F0502020204030204" pitchFamily="34" charset="0"/>
              </a:rPr>
              <a:t>(black-box testing)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r>
              <a:rPr lang="en-US" altLang="ko-KR" sz="2000" dirty="0"/>
              <a:t>Is the design spec implemented as program correctly?  </a:t>
            </a:r>
            <a:br>
              <a:rPr lang="en-US" altLang="ko-KR" sz="2000" dirty="0"/>
            </a:br>
            <a:r>
              <a:rPr lang="en-US" altLang="ko-KR" sz="2000" dirty="0">
                <a:sym typeface="Wingdings" panose="05000000000000000000" pitchFamily="2" charset="2"/>
              </a:rPr>
              <a:t> Model-based  testing (grey-box testing)</a:t>
            </a:r>
            <a:endParaRPr lang="en-US" altLang="ko-KR" sz="2000" dirty="0"/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altLang="ko-KR" sz="2000" dirty="0"/>
              <a:t>Does </a:t>
            </a:r>
            <a:r>
              <a:rPr lang="en-US" altLang="ko-KR" sz="2000" dirty="0">
                <a:latin typeface="Calibri" panose="020F0502020204030204" pitchFamily="34" charset="0"/>
              </a:rPr>
              <a:t>the program </a:t>
            </a:r>
            <a:r>
              <a:rPr lang="en-US" altLang="ko-KR" sz="2000" dirty="0"/>
              <a:t>satisfy test cases correctly? </a:t>
            </a:r>
            <a:r>
              <a:rPr lang="en-US" altLang="ko-KR" sz="2000" dirty="0">
                <a:latin typeface="Calibri" panose="020F0502020204030204" pitchFamily="34" charset="0"/>
              </a:rPr>
              <a:t> </a:t>
            </a:r>
            <a:br>
              <a:rPr lang="en-US" altLang="ko-KR" sz="2000" dirty="0">
                <a:latin typeface="Calibri" panose="020F0502020204030204" pitchFamily="34" charset="0"/>
              </a:rPr>
            </a:br>
            <a:r>
              <a:rPr lang="en-US" altLang="ko-KR" sz="2000" dirty="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 Code-based testing (white-box testing)</a:t>
            </a:r>
            <a:r>
              <a:rPr lang="en-US" altLang="ko-KR" sz="2000" b="1" u="sng" dirty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endParaRPr lang="ko-KR" altLang="en-US" sz="2000" b="1" u="sng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69AE-7D4A-4E37-8AA4-499D9F739F40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2025-11-26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1691208" cy="365125"/>
          </a:xfrm>
          <a:prstGeom prst="rect">
            <a:avLst/>
          </a:prstGeom>
        </p:spPr>
        <p:txBody>
          <a:bodyPr/>
          <a:lstStyle/>
          <a:p>
            <a:fld id="{D0511ED5-3048-4CF9-802D-78AD5332C64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990753" y="1196752"/>
            <a:ext cx="1162494" cy="8640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800" dirty="0">
                <a:solidFill>
                  <a:srgbClr val="002060"/>
                </a:solidFill>
                <a:latin typeface="Calibri" panose="020F0502020204030204" pitchFamily="34" charset="0"/>
              </a:rPr>
              <a:t>Spec</a:t>
            </a:r>
            <a:endParaRPr lang="ko-KR" altLang="en-US" sz="2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088617" y="2492896"/>
            <a:ext cx="1547279" cy="8640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800" dirty="0">
                <a:solidFill>
                  <a:srgbClr val="002060"/>
                </a:solidFill>
                <a:latin typeface="Calibri" panose="020F0502020204030204" pitchFamily="34" charset="0"/>
              </a:rPr>
              <a:t>Program</a:t>
            </a:r>
            <a:endParaRPr lang="ko-KR" altLang="en-US" sz="2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5508105" y="2492896"/>
            <a:ext cx="1728192" cy="8640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800" dirty="0">
                <a:solidFill>
                  <a:srgbClr val="002060"/>
                </a:solidFill>
                <a:latin typeface="Calibri" panose="020F0502020204030204" pitchFamily="34" charset="0"/>
              </a:rPr>
              <a:t>Test case</a:t>
            </a:r>
            <a:endParaRPr lang="ko-KR" altLang="en-US" sz="28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2862256" y="1916832"/>
            <a:ext cx="1349704" cy="8542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4860032" y="1916832"/>
            <a:ext cx="1440160" cy="8542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8" idx="3"/>
            <a:endCxn id="9" idx="1"/>
          </p:cNvCxnSpPr>
          <p:nvPr/>
        </p:nvCxnSpPr>
        <p:spPr>
          <a:xfrm>
            <a:off x="3635896" y="2924944"/>
            <a:ext cx="187220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 설명선 22"/>
          <p:cNvSpPr/>
          <p:nvPr/>
        </p:nvSpPr>
        <p:spPr>
          <a:xfrm>
            <a:off x="5616117" y="908721"/>
            <a:ext cx="2484275" cy="566190"/>
          </a:xfrm>
          <a:prstGeom prst="wedgeRectCallout">
            <a:avLst>
              <a:gd name="adj1" fmla="val -71217"/>
              <a:gd name="adj2" fmla="val 6910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0" dirty="0">
                <a:solidFill>
                  <a:srgbClr val="002060"/>
                </a:solidFill>
                <a:latin typeface="Calibri" panose="020F0502020204030204" pitchFamily="34" charset="0"/>
              </a:rPr>
              <a:t>A pair of requirement spec and system design spec  </a:t>
            </a:r>
          </a:p>
        </p:txBody>
      </p:sp>
      <p:sp>
        <p:nvSpPr>
          <p:cNvPr id="24" name="TextBox 23"/>
          <p:cNvSpPr txBox="1"/>
          <p:nvPr/>
        </p:nvSpPr>
        <p:spPr>
          <a:xfrm rot="1834314">
            <a:off x="5256317" y="1582425"/>
            <a:ext cx="11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2060"/>
                </a:solidFill>
                <a:latin typeface="맑은 고딕"/>
              </a:rPr>
              <a:t>1. Representation</a:t>
            </a:r>
            <a:endParaRPr lang="ko-KR" altLang="en-US" sz="1400" b="0" dirty="0">
              <a:solidFill>
                <a:srgbClr val="002060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79912" y="2617167"/>
            <a:ext cx="1368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FF0000"/>
                </a:solidFill>
                <a:latin typeface="맑은 고딕"/>
              </a:rPr>
              <a:t>3. execution</a:t>
            </a:r>
            <a:endParaRPr lang="ko-KR" altLang="en-US" sz="1400" b="0" dirty="0">
              <a:solidFill>
                <a:srgbClr val="FF0000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 rot="19664986">
            <a:off x="2808003" y="1663196"/>
            <a:ext cx="11521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400" b="0" dirty="0">
                <a:solidFill>
                  <a:srgbClr val="002060"/>
                </a:solidFill>
                <a:latin typeface="맑은 고딕"/>
              </a:rPr>
              <a:t>2. implementation</a:t>
            </a:r>
            <a:endParaRPr lang="ko-KR" altLang="en-US" sz="1400" b="0" dirty="0">
              <a:solidFill>
                <a:srgbClr val="002060"/>
              </a:solidFill>
              <a:latin typeface="맑은 고딕"/>
            </a:endParaRPr>
          </a:p>
        </p:txBody>
      </p:sp>
      <p:sp>
        <p:nvSpPr>
          <p:cNvPr id="27" name="사각형 설명선 26"/>
          <p:cNvSpPr/>
          <p:nvPr/>
        </p:nvSpPr>
        <p:spPr>
          <a:xfrm>
            <a:off x="5768517" y="3212977"/>
            <a:ext cx="2979947" cy="648072"/>
          </a:xfrm>
          <a:prstGeom prst="wedgeRectCallout">
            <a:avLst>
              <a:gd name="adj1" fmla="val -39812"/>
              <a:gd name="adj2" fmla="val -6701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0" dirty="0">
                <a:solidFill>
                  <a:srgbClr val="002060"/>
                </a:solidFill>
                <a:latin typeface="Calibri" panose="020F0502020204030204" pitchFamily="34" charset="0"/>
              </a:rPr>
              <a:t>A pair of test input and expected test output for the input</a:t>
            </a:r>
          </a:p>
        </p:txBody>
      </p:sp>
      <p:sp>
        <p:nvSpPr>
          <p:cNvPr id="32" name="사각형 설명선 31"/>
          <p:cNvSpPr/>
          <p:nvPr/>
        </p:nvSpPr>
        <p:spPr>
          <a:xfrm>
            <a:off x="179512" y="3212976"/>
            <a:ext cx="2808312" cy="576064"/>
          </a:xfrm>
          <a:prstGeom prst="wedgeRectCallout">
            <a:avLst>
              <a:gd name="adj1" fmla="val 39119"/>
              <a:gd name="adj2" fmla="val -774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0" dirty="0">
                <a:solidFill>
                  <a:srgbClr val="002060"/>
                </a:solidFill>
                <a:latin typeface="Calibri" panose="020F0502020204030204" pitchFamily="34" charset="0"/>
              </a:rPr>
              <a:t>Code that implements the system specification and satisfies the requirements</a:t>
            </a:r>
          </a:p>
        </p:txBody>
      </p:sp>
      <p:sp>
        <p:nvSpPr>
          <p:cNvPr id="18" name="타원 17"/>
          <p:cNvSpPr/>
          <p:nvPr/>
        </p:nvSpPr>
        <p:spPr>
          <a:xfrm>
            <a:off x="3887925" y="908720"/>
            <a:ext cx="1332147" cy="5372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Test oracle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25679" y="5708073"/>
            <a:ext cx="7120429" cy="784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18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Black Box Testing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3"/>
          </p:nvPr>
        </p:nvSpPr>
        <p:spPr>
          <a:xfrm>
            <a:off x="0" y="1214422"/>
            <a:ext cx="8715375" cy="5214974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 main goal of testing is </a:t>
            </a:r>
            <a:r>
              <a:rPr lang="en-US" altLang="ko-KR" u="sng" dirty="0"/>
              <a:t>to generate multiple test cases</a:t>
            </a:r>
            <a:r>
              <a:rPr lang="en-US" altLang="ko-KR" dirty="0"/>
              <a:t>, one of which may reveal a bug.</a:t>
            </a:r>
          </a:p>
          <a:p>
            <a:r>
              <a:rPr lang="en-US" altLang="ko-KR" dirty="0"/>
              <a:t>Black box testing concerns only input/output of a target program (i.e., ignore program code)</a:t>
            </a:r>
          </a:p>
          <a:p>
            <a:pPr lvl="1"/>
            <a:r>
              <a:rPr lang="en-US" altLang="ko-KR" dirty="0"/>
              <a:t>Ex1. Requirement specification based testing</a:t>
            </a:r>
          </a:p>
          <a:p>
            <a:pPr lvl="1"/>
            <a:r>
              <a:rPr lang="en-US" altLang="ko-KR" dirty="0"/>
              <a:t>Ex2. Random (input generation) testing</a:t>
            </a:r>
          </a:p>
          <a:p>
            <a:pPr lvl="1"/>
            <a:r>
              <a:rPr lang="en-US" altLang="ko-KR" dirty="0"/>
              <a:t>Ex3. Category partitioning method</a:t>
            </a:r>
          </a:p>
          <a:p>
            <a:pPr lvl="1"/>
            <a:r>
              <a:rPr lang="en-US" altLang="ko-KR" dirty="0"/>
              <a:t>Ex4. T-way testing</a:t>
            </a:r>
          </a:p>
          <a:p>
            <a:r>
              <a:rPr lang="en-US" altLang="ko-KR" dirty="0"/>
              <a:t>Advantage of black box testing</a:t>
            </a:r>
          </a:p>
          <a:p>
            <a:pPr lvl="1"/>
            <a:r>
              <a:rPr lang="en-US" altLang="ko-KR" dirty="0"/>
              <a:t>Intuitive and simple</a:t>
            </a:r>
          </a:p>
          <a:p>
            <a:pPr lvl="1"/>
            <a:r>
              <a:rPr lang="en-US" altLang="ko-KR" dirty="0"/>
              <a:t>Requires little expertise on program/code analysis techniques</a:t>
            </a:r>
          </a:p>
          <a:p>
            <a:pPr lvl="1"/>
            <a:r>
              <a:rPr lang="en-US" altLang="ko-KR" dirty="0"/>
              <a:t>Requires less effort compared to white-box testing</a:t>
            </a:r>
          </a:p>
          <a:p>
            <a:pPr lvl="2"/>
            <a:r>
              <a:rPr lang="en-US" altLang="ko-KR" dirty="0"/>
              <a:t>cheaper but less effective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298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1724188" y="1723774"/>
            <a:ext cx="5644334" cy="3802398"/>
            <a:chOff x="672" y="1296"/>
            <a:chExt cx="4416" cy="2448"/>
          </a:xfrm>
        </p:grpSpPr>
        <p:sp>
          <p:nvSpPr>
            <p:cNvPr id="19" name="Line 4"/>
            <p:cNvSpPr>
              <a:spLocks noChangeShapeType="1"/>
            </p:cNvSpPr>
            <p:nvPr/>
          </p:nvSpPr>
          <p:spPr bwMode="auto">
            <a:xfrm>
              <a:off x="672" y="3744"/>
              <a:ext cx="44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defTabSz="34290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en-US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0" name="Line 5"/>
            <p:cNvSpPr>
              <a:spLocks noChangeShapeType="1"/>
            </p:cNvSpPr>
            <p:nvPr/>
          </p:nvSpPr>
          <p:spPr bwMode="auto">
            <a:xfrm flipV="1">
              <a:off x="672" y="1296"/>
              <a:ext cx="0" cy="24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pPr defTabSz="34290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endParaRPr lang="ko-KR" altLang="en-US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795759" y="1821433"/>
            <a:ext cx="938077" cy="5078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342900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 </a:t>
            </a:r>
            <a:b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Reliability</a:t>
            </a:r>
            <a:endParaRPr lang="en-US" altLang="ko-KR" sz="135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5929164" y="5589757"/>
            <a:ext cx="1518046" cy="30008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342900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SW Testing Cost</a:t>
            </a:r>
            <a:endParaRPr lang="en-US" altLang="ko-KR" sz="135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18986CA6-82AB-45C9-B2EF-44B4CE5F8093}"/>
              </a:ext>
            </a:extLst>
          </p:cNvPr>
          <p:cNvSpPr txBox="1">
            <a:spLocks noChangeArrowheads="1"/>
          </p:cNvSpPr>
          <p:nvPr/>
        </p:nvSpPr>
        <p:spPr>
          <a:xfrm>
            <a:off x="156825" y="131668"/>
            <a:ext cx="8315324" cy="420290"/>
          </a:xfrm>
          <a:prstGeom prst="rect">
            <a:avLst/>
          </a:prstGeo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 fontAlgn="auto">
              <a:spcAft>
                <a:spcPts val="0"/>
              </a:spcAft>
            </a:pPr>
            <a:r>
              <a:rPr lang="en-US" altLang="ko-KR" sz="2600" b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rPr>
              <a:t>Various SW Testing Techniques w/ Different Cost and Effectiveness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66BFED9-A660-4ACF-92C8-7CC116787E2B}"/>
              </a:ext>
            </a:extLst>
          </p:cNvPr>
          <p:cNvSpPr/>
          <p:nvPr/>
        </p:nvSpPr>
        <p:spPr>
          <a:xfrm>
            <a:off x="1858053" y="3793887"/>
            <a:ext cx="2792656" cy="1668701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ko-KR" altLang="en-US" sz="1350" b="0">
              <a:noFill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0CBC7CF-0FB3-4633-AD99-516DB887DF26}"/>
              </a:ext>
            </a:extLst>
          </p:cNvPr>
          <p:cNvSpPr/>
          <p:nvPr/>
        </p:nvSpPr>
        <p:spPr>
          <a:xfrm>
            <a:off x="4476384" y="1821433"/>
            <a:ext cx="2792656" cy="206476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endParaRPr lang="ko-KR" altLang="en-US" sz="1350" b="0" baseline="-25000">
              <a:noFill/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2F79EF0-C11C-4F98-88D4-E51102111B2B}"/>
              </a:ext>
            </a:extLst>
          </p:cNvPr>
          <p:cNvSpPr/>
          <p:nvPr/>
        </p:nvSpPr>
        <p:spPr>
          <a:xfrm>
            <a:off x="1888092" y="5004650"/>
            <a:ext cx="930136" cy="4238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050" b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Rand. </a:t>
            </a:r>
            <a:br>
              <a:rPr lang="en-US" altLang="ko-KR" sz="1050" b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050" b="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050" b="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6FBB512-CCC2-40F7-A5EE-898C9FC935E3}"/>
              </a:ext>
            </a:extLst>
          </p:cNvPr>
          <p:cNvSpPr/>
          <p:nvPr/>
        </p:nvSpPr>
        <p:spPr>
          <a:xfrm>
            <a:off x="2331005" y="4646232"/>
            <a:ext cx="1246860" cy="4238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Req. based</a:t>
            </a:r>
            <a:b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350" b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5D575E8-1F1C-4CA0-9338-3B8D582B9E57}"/>
              </a:ext>
            </a:extLst>
          </p:cNvPr>
          <p:cNvSpPr/>
          <p:nvPr/>
        </p:nvSpPr>
        <p:spPr>
          <a:xfrm>
            <a:off x="3723082" y="3825791"/>
            <a:ext cx="906288" cy="46498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Equiv. Partition. Testing </a:t>
            </a:r>
            <a:endParaRPr lang="ko-KR" altLang="en-US" sz="1200" b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B12A761-8E68-42EA-AF54-E3026B4ABCF3}"/>
              </a:ext>
            </a:extLst>
          </p:cNvPr>
          <p:cNvSpPr/>
          <p:nvPr/>
        </p:nvSpPr>
        <p:spPr>
          <a:xfrm>
            <a:off x="3043942" y="4253738"/>
            <a:ext cx="1149869" cy="42386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95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T-way</a:t>
            </a:r>
            <a:r>
              <a:rPr lang="ko-KR" altLang="en-US" sz="195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95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950" b="0" baseline="-250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0332554-85A6-4EA0-B998-E15FE407EC65}"/>
              </a:ext>
            </a:extLst>
          </p:cNvPr>
          <p:cNvSpPr/>
          <p:nvPr/>
        </p:nvSpPr>
        <p:spPr>
          <a:xfrm>
            <a:off x="4557083" y="3429001"/>
            <a:ext cx="825588" cy="3967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baseline="-2500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Stmt. Testing</a:t>
            </a:r>
            <a:endParaRPr lang="ko-KR" altLang="en-US" sz="1800" b="0" baseline="-250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E62E63C-B20F-431D-BB44-746DC95F07DA}"/>
              </a:ext>
            </a:extLst>
          </p:cNvPr>
          <p:cNvSpPr/>
          <p:nvPr/>
        </p:nvSpPr>
        <p:spPr>
          <a:xfrm>
            <a:off x="5019963" y="3041355"/>
            <a:ext cx="886820" cy="39679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 b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Branch Testing</a:t>
            </a:r>
            <a:endParaRPr lang="ko-KR" altLang="en-US" sz="1350" b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60C99EE1-8519-4154-AB22-ECC28377CA83}"/>
              </a:ext>
            </a:extLst>
          </p:cNvPr>
          <p:cNvSpPr/>
          <p:nvPr/>
        </p:nvSpPr>
        <p:spPr>
          <a:xfrm>
            <a:off x="5908353" y="2284551"/>
            <a:ext cx="1096838" cy="39679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200" b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Concolic</a:t>
            </a:r>
            <a:r>
              <a:rPr lang="ko-KR" altLang="en-US" sz="1200" b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b="0">
                <a:solidFill>
                  <a:prstClr val="white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Testing</a:t>
            </a:r>
            <a:endParaRPr lang="ko-KR" altLang="en-US" sz="1200" b="0">
              <a:solidFill>
                <a:prstClr val="white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F6DE4E4-378A-4977-A024-265ABDF11004}"/>
              </a:ext>
            </a:extLst>
          </p:cNvPr>
          <p:cNvSpPr/>
          <p:nvPr/>
        </p:nvSpPr>
        <p:spPr>
          <a:xfrm>
            <a:off x="6410106" y="1903394"/>
            <a:ext cx="791972" cy="3703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500" b="0" baseline="-2500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Model Checking</a:t>
            </a:r>
            <a:endParaRPr lang="ko-KR" altLang="en-US" sz="1500" b="0" baseline="-2500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BB38ED-C18E-450B-9C61-B3C26E42F5AB}"/>
              </a:ext>
            </a:extLst>
          </p:cNvPr>
          <p:cNvSpPr txBox="1"/>
          <p:nvPr/>
        </p:nvSpPr>
        <p:spPr>
          <a:xfrm>
            <a:off x="2401778" y="3514716"/>
            <a:ext cx="134056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350" b="0">
                <a:solidFill>
                  <a:srgbClr val="FFC000"/>
                </a:solidFill>
                <a:latin typeface="Calibri" panose="020F0502020204030204"/>
                <a:ea typeface="맑은 고딕" panose="020B0503020000020004" pitchFamily="50" charset="-127"/>
              </a:rPr>
              <a:t>Blackbox Testing</a:t>
            </a:r>
            <a:endParaRPr lang="ko-KR" altLang="en-US" sz="1350" b="0">
              <a:solidFill>
                <a:srgbClr val="FFC000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D2AE87-9D27-4C15-B019-822AF033BF5D}"/>
              </a:ext>
            </a:extLst>
          </p:cNvPr>
          <p:cNvSpPr txBox="1"/>
          <p:nvPr/>
        </p:nvSpPr>
        <p:spPr>
          <a:xfrm>
            <a:off x="4997583" y="1488170"/>
            <a:ext cx="1808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2100" b="0" baseline="-25000">
                <a:solidFill>
                  <a:srgbClr val="00B050"/>
                </a:solidFill>
                <a:latin typeface="Calibri" panose="020F0502020204030204"/>
                <a:ea typeface="맑은 고딕" panose="020B0503020000020004" pitchFamily="50" charset="-127"/>
              </a:rPr>
              <a:t>Whitebox Testing</a:t>
            </a:r>
            <a:endParaRPr lang="ko-KR" altLang="en-US" sz="2100" b="0" baseline="-25000">
              <a:solidFill>
                <a:srgbClr val="00B050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F3A9DD-7BB2-48B1-98A0-DC623ED93984}"/>
              </a:ext>
            </a:extLst>
          </p:cNvPr>
          <p:cNvSpPr txBox="1"/>
          <p:nvPr/>
        </p:nvSpPr>
        <p:spPr>
          <a:xfrm>
            <a:off x="5230819" y="4551821"/>
            <a:ext cx="184036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참고</a:t>
            </a:r>
            <a:r>
              <a:rPr lang="en-US" altLang="ko-KR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테스팅 국어 사전 </a:t>
            </a:r>
            <a:br>
              <a:rPr lang="en-US" altLang="ko-KR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1350" b="0" i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http://dic.sten.or.kr/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4B907DF-8DC6-4E90-8BEF-CB4A136C14D1}"/>
              </a:ext>
            </a:extLst>
          </p:cNvPr>
          <p:cNvSpPr/>
          <p:nvPr/>
        </p:nvSpPr>
        <p:spPr>
          <a:xfrm>
            <a:off x="5563245" y="2665114"/>
            <a:ext cx="1096838" cy="39679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 defTabSz="3429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975" b="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Search-based Testing</a:t>
            </a:r>
            <a:endParaRPr lang="ko-KR" altLang="en-US" sz="975" b="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573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593556" y="3935851"/>
            <a:ext cx="35504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350" i="1" dirty="0">
                <a:solidFill>
                  <a:schemeClr val="tx1"/>
                </a:solidFill>
              </a:rPr>
              <a:t>도리의 디지털라이프 블로그에서 발췌</a:t>
            </a:r>
            <a:r>
              <a:rPr lang="en-US" altLang="ko-KR" sz="1350" i="1" dirty="0">
                <a:solidFill>
                  <a:schemeClr val="tx1"/>
                </a:solidFill>
              </a:rPr>
              <a:t>/</a:t>
            </a:r>
            <a:r>
              <a:rPr lang="ko-KR" altLang="en-US" sz="1350" i="1" dirty="0">
                <a:solidFill>
                  <a:schemeClr val="tx1"/>
                </a:solidFill>
              </a:rPr>
              <a:t>편집</a:t>
            </a:r>
            <a:endParaRPr lang="en-US" altLang="ko-KR" sz="1350" i="1" dirty="0">
              <a:solidFill>
                <a:schemeClr val="tx1"/>
              </a:solidFill>
            </a:endParaRPr>
          </a:p>
          <a:p>
            <a:r>
              <a:rPr lang="ko-KR" altLang="en-US" sz="1350" i="1" dirty="0">
                <a:hlinkClick r:id="rId3"/>
              </a:rPr>
              <a:t>http://blog.skby.net/%EB%B8%94%EB%9E%99%EB%B0%95%EC%8A%A4-%ED%85%8C%EC%8A%A4%ED%8A%B8-%ED%99%94%EC%9D%B4%ED%8A%B8%EB%B0%95%EC%8A%A4-%ED%85%8C%EC%8A%A4%ED%8A%B8/</a:t>
            </a:r>
            <a:endParaRPr lang="en-US" altLang="ko-KR" sz="1350" i="1" dirty="0"/>
          </a:p>
          <a:p>
            <a:endParaRPr lang="ko-KR" altLang="en-US" sz="1350" i="1" dirty="0"/>
          </a:p>
        </p:txBody>
      </p:sp>
      <p:sp>
        <p:nvSpPr>
          <p:cNvPr id="155" name="제목 1"/>
          <p:cNvSpPr>
            <a:spLocks noGrp="1"/>
          </p:cNvSpPr>
          <p:nvPr>
            <p:ph type="title"/>
          </p:nvPr>
        </p:nvSpPr>
        <p:spPr>
          <a:xfrm>
            <a:off x="171451" y="174028"/>
            <a:ext cx="6858000" cy="642942"/>
          </a:xfrm>
        </p:spPr>
        <p:txBody>
          <a:bodyPr>
            <a:normAutofit fontScale="90000"/>
          </a:bodyPr>
          <a:lstStyle/>
          <a:p>
            <a:r>
              <a:rPr lang="en-US" altLang="ko-KR" sz="2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Requirement based Blackbox Testing </a:t>
            </a:r>
            <a:br>
              <a:rPr lang="en-US" altLang="ko-KR" sz="2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2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Logic based Whitebox Testing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843684"/>
              </p:ext>
            </p:extLst>
          </p:nvPr>
        </p:nvGraphicFramePr>
        <p:xfrm>
          <a:off x="171451" y="940812"/>
          <a:ext cx="5422105" cy="4844168"/>
        </p:xfrm>
        <a:graphic>
          <a:graphicData uri="http://schemas.openxmlformats.org/drawingml/2006/table">
            <a:tbl>
              <a:tblPr/>
              <a:tblGrid>
                <a:gridCol w="1144166">
                  <a:extLst>
                    <a:ext uri="{9D8B030D-6E8A-4147-A177-3AD203B41FA5}">
                      <a16:colId xmlns:a16="http://schemas.microsoft.com/office/drawing/2014/main" val="725494996"/>
                    </a:ext>
                  </a:extLst>
                </a:gridCol>
                <a:gridCol w="2248677">
                  <a:extLst>
                    <a:ext uri="{9D8B030D-6E8A-4147-A177-3AD203B41FA5}">
                      <a16:colId xmlns:a16="http://schemas.microsoft.com/office/drawing/2014/main" val="1231962624"/>
                    </a:ext>
                  </a:extLst>
                </a:gridCol>
                <a:gridCol w="2029262">
                  <a:extLst>
                    <a:ext uri="{9D8B030D-6E8A-4147-A177-3AD203B41FA5}">
                      <a16:colId xmlns:a16="http://schemas.microsoft.com/office/drawing/2014/main" val="2697478448"/>
                    </a:ext>
                  </a:extLst>
                </a:gridCol>
              </a:tblGrid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</a:rPr>
                        <a:t>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Black Box Test</a:t>
                      </a:r>
                      <a:endParaRPr 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effectLst/>
                        </a:rPr>
                        <a:t>White Box Test</a:t>
                      </a:r>
                      <a:endParaRPr 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0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Def.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Functional test based on the requirement specification 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Logical analysis based on target source code 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169711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View</a:t>
                      </a:r>
                      <a:br>
                        <a:rPr lang="en-US" altLang="ko-KR" sz="1200" dirty="0">
                          <a:effectLst/>
                        </a:rPr>
                      </a:br>
                      <a:r>
                        <a:rPr lang="en-US" altLang="ko-KR" sz="1200" dirty="0">
                          <a:effectLst/>
                        </a:rPr>
                        <a:t>point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User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Developer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515733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Bug detection criteria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Interface and/or performance problem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Logical problems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39515"/>
                  </a:ext>
                </a:extLst>
              </a:tr>
              <a:tr h="6128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altLang="ko-KR" sz="1200" dirty="0">
                          <a:effectLst/>
                        </a:rPr>
                        <a:t>erification </a:t>
                      </a:r>
                      <a:r>
                        <a:rPr lang="en-US" sz="1200" dirty="0">
                          <a:effectLst/>
                        </a:rPr>
                        <a:t>&amp;V</a:t>
                      </a:r>
                      <a:r>
                        <a:rPr lang="en-US" altLang="ko-KR" sz="1200" dirty="0">
                          <a:effectLst/>
                        </a:rPr>
                        <a:t>alidation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altLang="ko-KR" sz="1200" dirty="0">
                          <a:effectLst/>
                        </a:rPr>
                        <a:t>level </a:t>
                      </a:r>
                      <a:endParaRPr 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High (user) 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Low (testing)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211910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Target bugs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Observable external errors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Internal errors due to logic problem, uncovered stmt.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285796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Technique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Category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en-US" altLang="ko-KR" sz="1200" dirty="0">
                          <a:effectLst/>
                        </a:rPr>
                        <a:t>partition, boundary value analysis, etc.  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Loop, control structure test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72246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Bug detection ability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Low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High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640209"/>
                  </a:ext>
                </a:extLst>
              </a:tr>
              <a:tr h="42973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# of TC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Small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Large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552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Application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Beta test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</a:rPr>
                        <a:t>Alpha test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95356" marR="95356" marT="31785" marB="31785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066266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D03299F-D998-479B-9A5F-EB78AD52D2BE}"/>
              </a:ext>
            </a:extLst>
          </p:cNvPr>
          <p:cNvGrpSpPr/>
          <p:nvPr/>
        </p:nvGrpSpPr>
        <p:grpSpPr>
          <a:xfrm>
            <a:off x="463134" y="5690177"/>
            <a:ext cx="5186566" cy="1110344"/>
            <a:chOff x="667452" y="5499802"/>
            <a:chExt cx="5186566" cy="1253905"/>
          </a:xfrm>
        </p:grpSpPr>
        <p:sp>
          <p:nvSpPr>
            <p:cNvPr id="6" name="화살표: 오른쪽 5">
              <a:extLst>
                <a:ext uri="{FF2B5EF4-FFF2-40B4-BE49-F238E27FC236}">
                  <a16:creationId xmlns:a16="http://schemas.microsoft.com/office/drawing/2014/main" id="{2CBBABF0-01A2-4D5A-B526-ED78445A33C6}"/>
                </a:ext>
              </a:extLst>
            </p:cNvPr>
            <p:cNvSpPr/>
            <p:nvPr/>
          </p:nvSpPr>
          <p:spPr>
            <a:xfrm>
              <a:off x="667452" y="5499802"/>
              <a:ext cx="5186566" cy="125390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1EE2CBF-8D5A-4730-A81C-1AAC5ADDEF2E}"/>
                </a:ext>
              </a:extLst>
            </p:cNvPr>
            <p:cNvSpPr txBox="1"/>
            <p:nvPr/>
          </p:nvSpPr>
          <p:spPr>
            <a:xfrm>
              <a:off x="832922" y="5820867"/>
              <a:ext cx="4888454" cy="6603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chemeClr val="bg1"/>
                  </a:solidFill>
                </a:rPr>
                <a:t>If a requirement is specified as an </a:t>
              </a:r>
              <a:r>
                <a:rPr lang="en-US" altLang="ko-KR" sz="1600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assert</a:t>
              </a:r>
              <a:r>
                <a:rPr lang="en-US" altLang="ko-KR" sz="1600" dirty="0">
                  <a:solidFill>
                    <a:schemeClr val="bg1"/>
                  </a:solidFill>
                </a:rPr>
                <a:t> statement </a:t>
              </a:r>
              <a:br>
                <a:rPr lang="en-US" altLang="ko-KR" sz="1600" dirty="0">
                  <a:solidFill>
                    <a:schemeClr val="bg1"/>
                  </a:solidFill>
                </a:rPr>
              </a:br>
              <a:r>
                <a:rPr lang="en-US" altLang="ko-KR" sz="1600" dirty="0">
                  <a:solidFill>
                    <a:schemeClr val="bg1"/>
                  </a:solidFill>
                </a:rPr>
                <a:t>requirement can be tested through </a:t>
              </a:r>
              <a:r>
                <a:rPr lang="en-US" altLang="ko-KR" sz="1600" dirty="0" err="1">
                  <a:solidFill>
                    <a:schemeClr val="bg1"/>
                  </a:solidFill>
                </a:rPr>
                <a:t>whitebox</a:t>
              </a:r>
              <a:r>
                <a:rPr lang="en-US" altLang="ko-KR" sz="1600" dirty="0">
                  <a:solidFill>
                    <a:schemeClr val="bg1"/>
                  </a:solidFill>
                </a:rPr>
                <a:t> texting </a:t>
              </a:r>
              <a:r>
                <a:rPr lang="ko-KR" altLang="en-US" sz="1600" dirty="0">
                  <a:solidFill>
                    <a:schemeClr val="bg1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03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387119" y="1495425"/>
            <a:ext cx="8389786" cy="2438400"/>
          </a:xfrm>
        </p:spPr>
        <p:txBody>
          <a:bodyPr>
            <a:normAutofit fontScale="90000"/>
          </a:bodyPr>
          <a:lstStyle/>
          <a:p>
            <a:r>
              <a:rPr lang="en-US" altLang="he-IL" dirty="0"/>
              <a:t>Example of Blackbox Testing Technique:</a:t>
            </a:r>
            <a:br>
              <a:rPr lang="en-US" altLang="he-IL" dirty="0"/>
            </a:br>
            <a:br>
              <a:rPr lang="en-US" altLang="he-IL" dirty="0"/>
            </a:br>
            <a:r>
              <a:rPr lang="en-US" altLang="he-IL" sz="3200" dirty="0"/>
              <a:t>The Category-Partition  Method for Specifying and </a:t>
            </a:r>
            <a:br>
              <a:rPr lang="en-US" altLang="he-IL" sz="3200" dirty="0"/>
            </a:br>
            <a:r>
              <a:rPr lang="en-US" altLang="he-IL" sz="3200" dirty="0"/>
              <a:t>Generating Functional Tests </a:t>
            </a:r>
            <a:br>
              <a:rPr lang="en-US" altLang="he-IL" sz="3200" dirty="0"/>
            </a:br>
            <a:r>
              <a:rPr lang="en-US" altLang="he-IL" sz="3200" dirty="0"/>
              <a:t>(Thomas J. </a:t>
            </a:r>
            <a:r>
              <a:rPr lang="en-US" altLang="he-IL" sz="3200" dirty="0" err="1"/>
              <a:t>Ostrand</a:t>
            </a:r>
            <a:r>
              <a:rPr lang="en-US" altLang="he-IL" sz="3200" dirty="0"/>
              <a:t> and Marc </a:t>
            </a:r>
            <a:r>
              <a:rPr lang="en-US" altLang="he-IL" sz="3200" dirty="0" err="1"/>
              <a:t>J.Balcer</a:t>
            </a:r>
            <a:r>
              <a:rPr lang="en-US" altLang="he-IL" sz="3200" dirty="0"/>
              <a:t> [ </a:t>
            </a:r>
            <a:r>
              <a:rPr lang="en-US" altLang="he-IL" sz="3200" dirty="0" err="1"/>
              <a:t>CACM,1988</a:t>
            </a:r>
            <a:r>
              <a:rPr lang="en-US" altLang="he-IL" sz="3200" dirty="0"/>
              <a:t> ])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896569" y="6092825"/>
            <a:ext cx="821250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r"/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</a:rPr>
              <a:t>The original slides from Prof. Shmuel Sagiv</a:t>
            </a:r>
            <a:r>
              <a:rPr lang="en-US" altLang="ko-KR" b="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50" charset="-127"/>
              </a:rPr>
              <a:t>’</a:t>
            </a:r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</a:rPr>
              <a:t>s lecture notes</a:t>
            </a:r>
          </a:p>
          <a:p>
            <a:pPr algn="r"/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  <a:hlinkClick r:id="rId2"/>
              </a:rPr>
              <a:t>msagiv@post.tau.ac.il</a:t>
            </a:r>
            <a:r>
              <a:rPr lang="en-US" altLang="ko-KR" b="0">
                <a:solidFill>
                  <a:srgbClr val="000000"/>
                </a:solidFill>
                <a:ea typeface="굴림" panose="020B0600000101010101" pitchFamily="50" charset="-127"/>
              </a:rPr>
              <a:t> </a:t>
            </a:r>
            <a:endParaRPr lang="ko-KR" altLang="en-US" b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922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848600" cy="1143000"/>
          </a:xfrm>
        </p:spPr>
        <p:txBody>
          <a:bodyPr/>
          <a:lstStyle/>
          <a:p>
            <a:pPr algn="l"/>
            <a:r>
              <a:rPr lang="en-US" altLang="he-IL" sz="3600" b="1" u="sng"/>
              <a:t>Content:</a:t>
            </a:r>
            <a:endParaRPr lang="en-US" altLang="he-IL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e-IL"/>
              <a:t>Introduction.</a:t>
            </a:r>
          </a:p>
          <a:p>
            <a:r>
              <a:rPr lang="en-US" altLang="he-IL"/>
              <a:t>The category-partition method:</a:t>
            </a:r>
          </a:p>
          <a:p>
            <a:pPr>
              <a:buFontTx/>
              <a:buNone/>
            </a:pPr>
            <a:r>
              <a:rPr lang="en-US" altLang="he-IL"/>
              <a:t>      - characteristics.</a:t>
            </a:r>
          </a:p>
          <a:p>
            <a:pPr>
              <a:buFontTx/>
              <a:buNone/>
            </a:pPr>
            <a:r>
              <a:rPr lang="en-US" altLang="he-IL"/>
              <a:t>      - the method.</a:t>
            </a:r>
          </a:p>
          <a:p>
            <a:pPr>
              <a:buFontTx/>
              <a:buNone/>
            </a:pPr>
            <a:r>
              <a:rPr lang="en-US" altLang="he-IL"/>
              <a:t>      -  examples.</a:t>
            </a:r>
          </a:p>
          <a:p>
            <a:r>
              <a:rPr lang="en-US" altLang="he-IL"/>
              <a:t>Other methods.</a:t>
            </a:r>
          </a:p>
          <a:p>
            <a:pPr>
              <a:buFontTx/>
              <a:buNone/>
            </a:pPr>
            <a:r>
              <a:rPr lang="en-US" altLang="he-IL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342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he-IL" sz="4000" b="1" u="sng"/>
              <a:t>The goal of functional testing</a:t>
            </a:r>
            <a:endParaRPr lang="en-US" altLang="he-I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e-IL"/>
              <a:t>To find discrepancies between the </a:t>
            </a:r>
            <a:r>
              <a:rPr lang="en-US" altLang="he-IL" b="1"/>
              <a:t>actual behavior</a:t>
            </a:r>
            <a:r>
              <a:rPr lang="en-US" altLang="he-IL"/>
              <a:t> of the implemented system’s function and the </a:t>
            </a:r>
            <a:r>
              <a:rPr lang="en-US" altLang="he-IL" b="1"/>
              <a:t>desired behavior</a:t>
            </a:r>
            <a:r>
              <a:rPr lang="en-US" altLang="he-IL"/>
              <a:t> as described in the system’s functional specification. </a:t>
            </a:r>
          </a:p>
        </p:txBody>
      </p:sp>
    </p:spTree>
    <p:extLst>
      <p:ext uri="{BB962C8B-B14F-4D97-AF65-F5344CB8AC3E}">
        <p14:creationId xmlns:p14="http://schemas.microsoft.com/office/powerpoint/2010/main" val="188832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he-IL" sz="4000" b="1" u="sng"/>
              <a:t>How to achieve this goal 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he-IL"/>
              <a:t>Tests have to be execute for all the system functions.</a:t>
            </a:r>
          </a:p>
          <a:p>
            <a:endParaRPr lang="en-US" altLang="he-IL"/>
          </a:p>
          <a:p>
            <a:r>
              <a:rPr lang="en-US" altLang="he-IL"/>
              <a:t>Tests have to be designed to maximize the chances  of finding errors in the software.</a:t>
            </a:r>
          </a:p>
        </p:txBody>
      </p:sp>
    </p:spTree>
    <p:extLst>
      <p:ext uri="{BB962C8B-B14F-4D97-AF65-F5344CB8AC3E}">
        <p14:creationId xmlns:p14="http://schemas.microsoft.com/office/powerpoint/2010/main" val="2611284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altLang="he-IL" sz="4000" b="1"/>
              <a:t>Functional test can be derived </a:t>
            </a:r>
            <a:r>
              <a:rPr lang="en-US" altLang="he-IL" sz="4000" b="1" u="sng"/>
              <a:t>from 3 sources:                          </a:t>
            </a:r>
            <a:endParaRPr lang="en-US" altLang="he-IL" sz="400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ko-KR" altLang="en-US">
                <a:ea typeface="굴림" panose="020B0600000101010101" pitchFamily="50" charset="-127"/>
              </a:rPr>
              <a:t>1.  </a:t>
            </a:r>
            <a:r>
              <a:rPr lang="en-US" altLang="he-IL"/>
              <a:t>The software specification.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r>
              <a:rPr lang="en-US" altLang="he-IL"/>
              <a:t>2.  Design information.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r>
              <a:rPr lang="en-US" altLang="he-IL"/>
              <a:t>3.  The code itself.</a:t>
            </a:r>
          </a:p>
          <a:p>
            <a:pPr>
              <a:buFontTx/>
              <a:buNone/>
            </a:pPr>
            <a:r>
              <a:rPr lang="en-US" altLang="he-I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8842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he-IL" sz="4000" b="1" u="sng"/>
              <a:t>Partition - The standard approach</a:t>
            </a:r>
            <a:endParaRPr lang="en-US" altLang="he-IL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400" y="1428736"/>
            <a:ext cx="8585200" cy="5000660"/>
          </a:xfrm>
        </p:spPr>
        <p:txBody>
          <a:bodyPr/>
          <a:lstStyle/>
          <a:p>
            <a:r>
              <a:rPr lang="en-US" altLang="he-IL" u="sng" dirty="0"/>
              <a:t>The main idea is</a:t>
            </a:r>
            <a:r>
              <a:rPr lang="en-US" altLang="he-IL" dirty="0"/>
              <a:t> to </a:t>
            </a:r>
            <a:r>
              <a:rPr lang="en-US" altLang="he-IL" b="1" dirty="0"/>
              <a:t>partition the input domain</a:t>
            </a:r>
            <a:r>
              <a:rPr lang="en-US" altLang="he-IL" dirty="0"/>
              <a:t>  of function being tested, and then </a:t>
            </a:r>
            <a:r>
              <a:rPr lang="en-US" altLang="he-IL" b="1" dirty="0"/>
              <a:t>select test data for each class</a:t>
            </a:r>
            <a:r>
              <a:rPr lang="en-US" altLang="he-IL" dirty="0"/>
              <a:t> of the partition.</a:t>
            </a:r>
          </a:p>
          <a:p>
            <a:endParaRPr lang="en-US" altLang="he-IL" dirty="0"/>
          </a:p>
          <a:p>
            <a:r>
              <a:rPr lang="en-US" altLang="he-IL" u="sng" dirty="0"/>
              <a:t>The problem</a:t>
            </a:r>
            <a:r>
              <a:rPr lang="en-US" altLang="he-IL" dirty="0"/>
              <a:t> of all the existing techniques is the </a:t>
            </a:r>
            <a:r>
              <a:rPr lang="en-US" altLang="he-IL" b="1" dirty="0"/>
              <a:t>lack of systematic steps</a:t>
            </a:r>
            <a:r>
              <a:rPr lang="en-US" altLang="he-IL" dirty="0"/>
              <a:t>.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765964" y="4719782"/>
            <a:ext cx="3417454" cy="1865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>
            <a:stCxn id="2" idx="1"/>
            <a:endCxn id="2" idx="3"/>
          </p:cNvCxnSpPr>
          <p:nvPr/>
        </p:nvCxnSpPr>
        <p:spPr>
          <a:xfrm>
            <a:off x="4765964" y="5652655"/>
            <a:ext cx="34174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stCxn id="2" idx="2"/>
            <a:endCxn id="2" idx="0"/>
          </p:cNvCxnSpPr>
          <p:nvPr/>
        </p:nvCxnSpPr>
        <p:spPr>
          <a:xfrm flipV="1">
            <a:off x="6474691" y="4719782"/>
            <a:ext cx="0" cy="186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5301673" y="4875915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301673" y="5347855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i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2728" y="51572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83200" y="583312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72728" y="59262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4958798" y="6232409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121794" y="5791325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z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11322" y="588439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6797392" y="6190606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079671" y="487716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69199" y="497023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16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6755269" y="5276446"/>
            <a:ext cx="424873" cy="231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57788" y="4708198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73632" y="4696693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31862" y="5558752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38398" y="5591270"/>
            <a:ext cx="455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p4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83308" y="4276439"/>
            <a:ext cx="1686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Input domain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92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914400"/>
          </a:xfrm>
        </p:spPr>
        <p:txBody>
          <a:bodyPr/>
          <a:lstStyle/>
          <a:p>
            <a:pPr algn="l"/>
            <a:r>
              <a:rPr lang="en-US" altLang="en-US" sz="4000" b="1" u="sng"/>
              <a:t>A strategy for test case generation</a:t>
            </a:r>
            <a:endParaRPr lang="en-US" altLang="he-IL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839200" cy="4495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ko-KR" altLang="he-IL" dirty="0">
                <a:ea typeface="굴림" panose="020B0600000101010101" pitchFamily="50" charset="-127"/>
              </a:rPr>
              <a:t>1. </a:t>
            </a:r>
            <a:r>
              <a:rPr lang="en-US" altLang="he-IL" dirty="0"/>
              <a:t>Transform the system’s specification to be    </a:t>
            </a:r>
          </a:p>
          <a:p>
            <a:pPr>
              <a:buFontTx/>
              <a:buNone/>
            </a:pPr>
            <a:r>
              <a:rPr lang="en-US" altLang="he-IL" dirty="0"/>
              <a:t>    more concise and structured.</a:t>
            </a:r>
          </a:p>
          <a:p>
            <a:pPr>
              <a:buFontTx/>
              <a:buNone/>
            </a:pPr>
            <a:endParaRPr lang="en-US" altLang="he-IL" dirty="0"/>
          </a:p>
          <a:p>
            <a:pPr>
              <a:buFontTx/>
              <a:buNone/>
            </a:pPr>
            <a:r>
              <a:rPr lang="en-US" altLang="he-IL" dirty="0"/>
              <a:t>2. Decompose the specification into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  <a:cs typeface="Aharoni" pitchFamily="10" charset="-79"/>
              </a:rPr>
              <a:t>functional</a:t>
            </a:r>
            <a:r>
              <a:rPr lang="en-US" altLang="he-IL" dirty="0">
                <a:solidFill>
                  <a:schemeClr val="accent2"/>
                </a:solidFill>
                <a:cs typeface="Aharoni" pitchFamily="10" charset="-79"/>
              </a:rPr>
              <a:t> 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  <a:cs typeface="Aharoni" pitchFamily="10" charset="-79"/>
              </a:rPr>
              <a:t>unit</a:t>
            </a:r>
            <a:r>
              <a:rPr lang="en-US" altLang="he-IL" dirty="0"/>
              <a:t> - to be tested </a:t>
            </a:r>
            <a:r>
              <a:rPr lang="en-US" altLang="he-IL" u="sng" dirty="0"/>
              <a:t>independently</a:t>
            </a:r>
            <a:r>
              <a:rPr lang="en-US" altLang="he-IL" dirty="0"/>
              <a:t>.</a:t>
            </a:r>
          </a:p>
          <a:p>
            <a:pPr>
              <a:buFontTx/>
              <a:buNone/>
            </a:pPr>
            <a:endParaRPr lang="en-US" altLang="he-IL" dirty="0"/>
          </a:p>
          <a:p>
            <a:pPr>
              <a:buFontTx/>
              <a:buNone/>
            </a:pPr>
            <a:r>
              <a:rPr lang="en-US" altLang="he-IL" dirty="0"/>
              <a:t>3. Identify the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</a:rPr>
              <a:t>parameters</a:t>
            </a:r>
            <a:r>
              <a:rPr lang="en-US" altLang="he-IL" dirty="0"/>
              <a:t> and </a:t>
            </a: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</a:rPr>
              <a:t>environment   </a:t>
            </a:r>
          </a:p>
          <a:p>
            <a:pPr>
              <a:buFontTx/>
              <a:buNone/>
            </a:pPr>
            <a:r>
              <a:rPr lang="en-US" altLang="he-IL" dirty="0">
                <a:solidFill>
                  <a:schemeClr val="accent2"/>
                </a:solidFill>
                <a:latin typeface="Arial Backslanted" pitchFamily="42" charset="0"/>
              </a:rPr>
              <a:t>    conditions</a:t>
            </a:r>
            <a:r>
              <a:rPr lang="en-US" altLang="he-IL" dirty="0"/>
              <a:t>.</a:t>
            </a:r>
          </a:p>
          <a:p>
            <a:pPr>
              <a:buFontTx/>
              <a:buNone/>
            </a:pPr>
            <a:endParaRPr lang="en-US" altLang="he-IL" dirty="0"/>
          </a:p>
          <a:p>
            <a:endParaRPr lang="en-US" altLang="he-IL" sz="2800" dirty="0"/>
          </a:p>
        </p:txBody>
      </p:sp>
    </p:spTree>
    <p:extLst>
      <p:ext uri="{BB962C8B-B14F-4D97-AF65-F5344CB8AC3E}">
        <p14:creationId xmlns:p14="http://schemas.microsoft.com/office/powerpoint/2010/main" val="871422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056418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b="1" u="sng" dirty="0"/>
              <a:t>A strategy for test case generation (</a:t>
            </a:r>
            <a:r>
              <a:rPr lang="en-US" altLang="en-US" sz="4000" b="1" u="sng" dirty="0" err="1"/>
              <a:t>cont</a:t>
            </a:r>
            <a:r>
              <a:rPr lang="en-US" altLang="en-US" sz="4000" b="1" u="sng" dirty="0"/>
              <a:t>)</a:t>
            </a:r>
            <a:endParaRPr lang="en-US" altLang="he-IL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534400" cy="49530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 sz="2800">
                <a:ea typeface="굴림" panose="020B0600000101010101" pitchFamily="50" charset="-127"/>
              </a:rPr>
              <a:t>4. </a:t>
            </a:r>
            <a:r>
              <a:rPr lang="en-US" altLang="he-IL"/>
              <a:t>Find </a:t>
            </a:r>
            <a:r>
              <a:rPr lang="en-US" altLang="he-IL">
                <a:solidFill>
                  <a:schemeClr val="accent2"/>
                </a:solidFill>
                <a:latin typeface="Arial Backslanted" pitchFamily="42" charset="0"/>
              </a:rPr>
              <a:t>categories</a:t>
            </a:r>
            <a:r>
              <a:rPr lang="en-US" altLang="he-IL"/>
              <a:t> that characterize each parameter and environment condition.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r>
              <a:rPr lang="en-US" altLang="he-IL"/>
              <a:t>5. Every category should be partitioned into distinct </a:t>
            </a:r>
            <a:r>
              <a:rPr lang="en-US" altLang="he-IL">
                <a:solidFill>
                  <a:schemeClr val="accent2"/>
                </a:solidFill>
                <a:latin typeface="Arial Backslanted" pitchFamily="42" charset="0"/>
              </a:rPr>
              <a:t>choices</a:t>
            </a:r>
            <a:r>
              <a:rPr lang="en-US" altLang="he-IL">
                <a:latin typeface="Arial Backslanted" pitchFamily="42" charset="0"/>
              </a:rPr>
              <a:t> </a:t>
            </a:r>
            <a:r>
              <a:rPr lang="en-US" altLang="he-IL"/>
              <a:t>.</a:t>
            </a:r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endParaRPr lang="en-US" altLang="he-IL"/>
          </a:p>
          <a:p>
            <a:pPr>
              <a:buFontTx/>
              <a:buNone/>
            </a:pPr>
            <a:endParaRPr lang="en-US" altLang="he-IL"/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886200" y="4648200"/>
          <a:ext cx="5032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203112" progId="Equation.3">
                  <p:embed/>
                </p:oleObj>
              </mc:Choice>
              <mc:Fallback>
                <p:oleObj name="Equation" r:id="rId2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648200"/>
                        <a:ext cx="50323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1752600" y="5334000"/>
            <a:ext cx="495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formal test specification</a:t>
            </a:r>
            <a:endParaRPr lang="en-US" altLang="en-US" b="0">
              <a:solidFill>
                <a:srgbClr val="3333CC"/>
              </a:solidFill>
              <a:latin typeface="Arial Backslanted" pitchFamily="4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0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599" y="304800"/>
            <a:ext cx="8084127" cy="9144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4000" b="1" u="sng" dirty="0"/>
              <a:t>A strategy for test case generation (</a:t>
            </a:r>
            <a:r>
              <a:rPr lang="en-US" altLang="en-US" sz="4000" b="1" u="sng" dirty="0" err="1"/>
              <a:t>cont</a:t>
            </a:r>
            <a:r>
              <a:rPr lang="en-US" altLang="en-US" sz="4000" b="1" u="sng" dirty="0"/>
              <a:t>)</a:t>
            </a:r>
            <a:endParaRPr lang="en-US" altLang="he-IL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534400" cy="41148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>
                <a:ea typeface="굴림" panose="020B0600000101010101" pitchFamily="50" charset="-127"/>
              </a:rPr>
              <a:t>6.      </a:t>
            </a: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r>
              <a:rPr lang="ko-KR" altLang="he-IL">
                <a:latin typeface="Arial Backslanted" pitchFamily="42" charset="0"/>
                <a:ea typeface="굴림" panose="020B0600000101010101" pitchFamily="50" charset="-127"/>
              </a:rPr>
              <a:t>            </a:t>
            </a: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>
              <a:ea typeface="굴림" panose="020B0600000101010101" pitchFamily="50" charset="-127"/>
            </a:endParaRPr>
          </a:p>
          <a:p>
            <a:pPr>
              <a:buFontTx/>
              <a:buNone/>
            </a:pPr>
            <a:endParaRPr lang="ko-KR" altLang="he-IL" sz="2800">
              <a:ea typeface="굴림" panose="020B0600000101010101" pitchFamily="50" charset="-127"/>
            </a:endParaRP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1676400" y="2743200"/>
          <a:ext cx="5032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203112" progId="Equation.3">
                  <p:embed/>
                </p:oleObj>
              </mc:Choice>
              <mc:Fallback>
                <p:oleObj name="Equation" r:id="rId2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743200"/>
                        <a:ext cx="50323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1676400" y="4694238"/>
          <a:ext cx="5032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39" imgH="203112" progId="Equation.3">
                  <p:embed/>
                </p:oleObj>
              </mc:Choice>
              <mc:Fallback>
                <p:oleObj name="Equation" r:id="rId4" imgW="13963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694238"/>
                        <a:ext cx="5032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609600" y="1981200"/>
            <a:ext cx="7391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test</a:t>
            </a:r>
            <a:r>
              <a:rPr lang="en-US" altLang="he-IL" b="0">
                <a:solidFill>
                  <a:srgbClr val="3333CC"/>
                </a:solidFill>
                <a:latin typeface="Arial Backslanted" pitchFamily="42" charset="0"/>
              </a:rPr>
              <a:t>   </a:t>
            </a: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frames  -   </a:t>
            </a: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set of choices, one from           </a:t>
            </a:r>
          </a:p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each category.</a:t>
            </a:r>
            <a:endParaRPr lang="en-US" altLang="he-IL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685800" y="3429000"/>
            <a:ext cx="7543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test  cases   -    </a:t>
            </a: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test frame with specific </a:t>
            </a:r>
          </a:p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values for each choices.</a:t>
            </a:r>
            <a:endParaRPr lang="en-US" altLang="en-US" sz="32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762000" y="5486400"/>
            <a:ext cx="800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he-IL" sz="3200" b="0">
                <a:solidFill>
                  <a:srgbClr val="3333CC"/>
                </a:solidFill>
                <a:latin typeface="Arial Backslanted" pitchFamily="42" charset="0"/>
              </a:rPr>
              <a:t>test  scripts   -    </a:t>
            </a:r>
            <a:r>
              <a:rPr lang="en-US" altLang="he-IL" sz="3200" b="0">
                <a:solidFill>
                  <a:srgbClr val="000000"/>
                </a:solidFill>
                <a:latin typeface="Times New Roman" panose="02020603050405020304" pitchFamily="18" charset="0"/>
              </a:rPr>
              <a:t>sequence of test cases.</a:t>
            </a:r>
            <a:endParaRPr lang="en-US" altLang="en-US" b="0">
              <a:solidFill>
                <a:srgbClr val="000000"/>
              </a:solidFill>
              <a:latin typeface="Arial Backslanted" pitchFamily="42" charset="0"/>
            </a:endParaRPr>
          </a:p>
        </p:txBody>
      </p:sp>
      <p:sp>
        <p:nvSpPr>
          <p:cNvPr id="29710" name="AutoShape 14"/>
          <p:cNvSpPr>
            <a:spLocks noChangeArrowheads="1"/>
          </p:cNvSpPr>
          <p:nvPr/>
        </p:nvSpPr>
        <p:spPr bwMode="auto">
          <a:xfrm flipV="1">
            <a:off x="7543800" y="1524000"/>
            <a:ext cx="914400" cy="457200"/>
          </a:xfrm>
          <a:prstGeom prst="wedgeEllipseCallout">
            <a:avLst>
              <a:gd name="adj1" fmla="val -60421"/>
              <a:gd name="adj2" fmla="val -1871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ko-KR" altLang="en-US">
                <a:solidFill>
                  <a:srgbClr val="000000"/>
                </a:solidFill>
                <a:ea typeface="굴림" panose="020B0600000101010101" pitchFamily="50" charset="-127"/>
              </a:rPr>
              <a:t>?</a:t>
            </a:r>
            <a:endParaRPr lang="ko-KR" altLang="en-US" b="0">
              <a:solidFill>
                <a:srgbClr val="000000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79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autoUpdateAnimBg="0"/>
      <p:bldP spid="29705" grpId="0" autoUpdateAnimBg="0"/>
      <p:bldP spid="29706" grpId="0" autoUpdateAnimBg="0"/>
      <p:bldP spid="29710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7772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he-IL" sz="4000" b="1" u="sng"/>
              <a:t>Example</a:t>
            </a:r>
            <a:endParaRPr lang="en-US" altLang="he-IL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79248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he-IL" sz="2400" b="1"/>
              <a:t>Command:</a:t>
            </a:r>
            <a:r>
              <a:rPr lang="en-US" altLang="he-IL" sz="2400"/>
              <a:t>    find</a:t>
            </a:r>
          </a:p>
          <a:p>
            <a:pPr>
              <a:buFontTx/>
              <a:buNone/>
            </a:pPr>
            <a:endParaRPr lang="en-US" altLang="he-IL" sz="2400"/>
          </a:p>
          <a:p>
            <a:pPr>
              <a:buFontTx/>
              <a:buNone/>
            </a:pPr>
            <a:r>
              <a:rPr lang="en-US" altLang="he-IL" sz="2400" b="1"/>
              <a:t>     Syntax:     </a:t>
            </a:r>
            <a:r>
              <a:rPr lang="en-US" altLang="he-IL" sz="2400"/>
              <a:t>find &lt;pattern&gt;  &lt;file&gt;</a:t>
            </a:r>
          </a:p>
          <a:p>
            <a:pPr>
              <a:buFontTx/>
              <a:buNone/>
            </a:pPr>
            <a:endParaRPr lang="en-US" altLang="he-IL" sz="2400"/>
          </a:p>
          <a:p>
            <a:pPr>
              <a:buFontTx/>
              <a:buNone/>
            </a:pPr>
            <a:r>
              <a:rPr lang="en-US" altLang="he-IL" sz="2400" b="1"/>
              <a:t> Function:</a:t>
            </a:r>
            <a:r>
              <a:rPr lang="en-US" altLang="he-IL" sz="2800" b="1"/>
              <a:t>      </a:t>
            </a:r>
            <a:r>
              <a:rPr lang="en-US" altLang="he-IL" sz="1800"/>
              <a:t>The find command is used to locate one or  </a:t>
            </a:r>
          </a:p>
          <a:p>
            <a:pPr>
              <a:buFontTx/>
              <a:buNone/>
            </a:pPr>
            <a:r>
              <a:rPr lang="en-US" altLang="he-IL" sz="1800"/>
              <a:t>    more instance of a given pattern in a text file. All lines in the file that contain the pattern are written to standard output. A line containing the pattern is written only once, regardless of the number of times the pattern occurs in it.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/>
              <a:t>    The pattern is any sequence of characters whose length does not exceed the maximum length of a line in the file .To include a blank in the pattern, the entire pattern must be enclosed in quotes (“).To include quotation mark in the pattern ,two quotes in a row (“ “) must be used.</a:t>
            </a:r>
            <a:endParaRPr lang="en-US" altLang="he-IL" sz="2400"/>
          </a:p>
          <a:p>
            <a:pPr>
              <a:buFontTx/>
              <a:buNone/>
            </a:pPr>
            <a:endParaRPr lang="en-US" altLang="he-IL" sz="2400" b="1"/>
          </a:p>
        </p:txBody>
      </p:sp>
    </p:spTree>
    <p:extLst>
      <p:ext uri="{BB962C8B-B14F-4D97-AF65-F5344CB8AC3E}">
        <p14:creationId xmlns:p14="http://schemas.microsoft.com/office/powerpoint/2010/main" val="716466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7772400" cy="4876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he-IL" sz="2400" b="1" dirty="0"/>
              <a:t>Example:</a:t>
            </a:r>
          </a:p>
          <a:p>
            <a:pPr>
              <a:buFontTx/>
              <a:buNone/>
            </a:pPr>
            <a:r>
              <a:rPr lang="en-US" altLang="he-IL" sz="2400" b="1" dirty="0"/>
              <a:t> </a:t>
            </a:r>
            <a:r>
              <a:rPr lang="en-US" altLang="he-IL" sz="2400" dirty="0"/>
              <a:t>find john </a:t>
            </a:r>
            <a:r>
              <a:rPr lang="en-US" altLang="he-IL" sz="2400" dirty="0" err="1"/>
              <a:t>myfile</a:t>
            </a:r>
            <a:r>
              <a:rPr lang="en-US" altLang="he-IL" sz="2400" b="1" dirty="0"/>
              <a:t>      </a:t>
            </a:r>
          </a:p>
          <a:p>
            <a:pPr>
              <a:buFontTx/>
              <a:buNone/>
            </a:pPr>
            <a:r>
              <a:rPr lang="en-US" altLang="he-IL" sz="2400" b="1" dirty="0"/>
              <a:t>        </a:t>
            </a:r>
            <a:r>
              <a:rPr lang="en-US" altLang="he-IL" sz="2400" dirty="0"/>
              <a:t>display lines in the 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 </a:t>
            </a:r>
            <a:r>
              <a:rPr lang="en-US" altLang="he-IL" sz="2400" b="1" dirty="0" err="1"/>
              <a:t>myfile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which contain</a:t>
            </a:r>
            <a:r>
              <a:rPr lang="en-US" altLang="he-IL" sz="2400" b="1" dirty="0"/>
              <a:t> john </a:t>
            </a:r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r>
              <a:rPr lang="en-US" altLang="he-IL" sz="2400" dirty="0"/>
              <a:t> find “john smith” </a:t>
            </a:r>
            <a:r>
              <a:rPr lang="en-US" altLang="he-IL" sz="2400" dirty="0" err="1"/>
              <a:t>myfile</a:t>
            </a:r>
            <a:endParaRPr lang="en-US" altLang="he-IL" sz="2400" dirty="0"/>
          </a:p>
          <a:p>
            <a:pPr>
              <a:buFontTx/>
              <a:buNone/>
            </a:pPr>
            <a:r>
              <a:rPr lang="en-US" altLang="he-IL" sz="2400" dirty="0"/>
              <a:t>      display lines in the 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 </a:t>
            </a:r>
            <a:r>
              <a:rPr lang="en-US" altLang="he-IL" sz="2400" b="1" dirty="0" err="1"/>
              <a:t>myfile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which contain</a:t>
            </a:r>
            <a:r>
              <a:rPr lang="en-US" altLang="he-IL" sz="2400" b="1" dirty="0"/>
              <a:t> john smith </a:t>
            </a:r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r>
              <a:rPr lang="en-US" altLang="he-IL" sz="2400" dirty="0"/>
              <a:t>find “john”” smith” </a:t>
            </a:r>
            <a:r>
              <a:rPr lang="en-US" altLang="he-IL" sz="2400" dirty="0" err="1"/>
              <a:t>myfile</a:t>
            </a:r>
            <a:endParaRPr lang="en-US" altLang="he-IL" sz="2400" dirty="0"/>
          </a:p>
          <a:p>
            <a:pPr>
              <a:buFontTx/>
              <a:buNone/>
            </a:pPr>
            <a:r>
              <a:rPr lang="en-US" altLang="he-IL" sz="2400" dirty="0"/>
              <a:t>     display lines in the 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 </a:t>
            </a:r>
            <a:r>
              <a:rPr lang="en-US" altLang="he-IL" sz="2400" b="1" dirty="0" err="1"/>
              <a:t>myfile</a:t>
            </a:r>
            <a:r>
              <a:rPr lang="en-US" altLang="he-IL" sz="2400" b="1" dirty="0"/>
              <a:t> </a:t>
            </a:r>
            <a:r>
              <a:rPr lang="en-US" altLang="he-IL" sz="2400" dirty="0"/>
              <a:t>which contain</a:t>
            </a:r>
            <a:r>
              <a:rPr lang="en-US" altLang="he-IL" sz="2400" b="1" dirty="0"/>
              <a:t> john” smith </a:t>
            </a:r>
          </a:p>
          <a:p>
            <a:pPr>
              <a:buFontTx/>
              <a:buNone/>
            </a:pPr>
            <a:endParaRPr lang="en-US" altLang="en-US" sz="2400" dirty="0"/>
          </a:p>
          <a:p>
            <a:pPr>
              <a:buFontTx/>
              <a:buNone/>
            </a:pPr>
            <a:endParaRPr lang="en-US" altLang="he-IL" sz="2400" b="1" dirty="0"/>
          </a:p>
          <a:p>
            <a:pPr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225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772400" cy="76200"/>
          </a:xfrm>
        </p:spPr>
        <p:txBody>
          <a:bodyPr>
            <a:normAutofit fontScale="90000"/>
          </a:bodyPr>
          <a:lstStyle/>
          <a:p>
            <a:r>
              <a:rPr lang="en-US" altLang="ko-KR">
                <a:ea typeface="굴림" panose="020B0600000101010101" pitchFamily="50" charset="-127"/>
              </a:rPr>
              <a:t>Categories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817563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 u="sng" dirty="0"/>
              <a:t>Parameters:</a:t>
            </a:r>
          </a:p>
          <a:p>
            <a:pPr>
              <a:buFontTx/>
              <a:buNone/>
            </a:pPr>
            <a:r>
              <a:rPr lang="en-US" altLang="he-IL" sz="2000" b="1" dirty="0"/>
              <a:t>   </a:t>
            </a:r>
            <a:r>
              <a:rPr lang="en-US" altLang="he-IL" sz="1800" b="1" dirty="0"/>
              <a:t>Pattern size:</a:t>
            </a:r>
          </a:p>
          <a:p>
            <a:pPr>
              <a:buFontTx/>
              <a:buNone/>
            </a:pPr>
            <a:r>
              <a:rPr lang="en-US" altLang="he-IL" sz="1800" b="1" dirty="0"/>
              <a:t>           </a:t>
            </a:r>
            <a:r>
              <a:rPr lang="en-US" altLang="he-IL" sz="1800" dirty="0"/>
              <a:t>empty</a:t>
            </a:r>
          </a:p>
          <a:p>
            <a:pPr>
              <a:buFontTx/>
              <a:buNone/>
            </a:pPr>
            <a:r>
              <a:rPr lang="en-US" altLang="he-IL" sz="1800" dirty="0"/>
              <a:t>           single character</a:t>
            </a:r>
          </a:p>
          <a:p>
            <a:pPr>
              <a:buFontTx/>
              <a:buNone/>
            </a:pPr>
            <a:r>
              <a:rPr lang="en-US" altLang="he-IL" sz="1800" dirty="0"/>
              <a:t>           many character</a:t>
            </a:r>
          </a:p>
          <a:p>
            <a:pPr>
              <a:buFontTx/>
              <a:buNone/>
            </a:pPr>
            <a:r>
              <a:rPr lang="en-US" altLang="he-IL" sz="1800" dirty="0"/>
              <a:t>           </a:t>
            </a:r>
            <a:r>
              <a:rPr lang="en-US" altLang="he-IL" sz="1800" i="1" dirty="0"/>
              <a:t>longer than any line in the file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dirty="0"/>
              <a:t>   </a:t>
            </a:r>
            <a:r>
              <a:rPr lang="en-US" altLang="he-IL" sz="1800" b="1" dirty="0"/>
              <a:t>Quoting:</a:t>
            </a:r>
          </a:p>
          <a:p>
            <a:pPr>
              <a:buFontTx/>
              <a:buNone/>
            </a:pPr>
            <a:r>
              <a:rPr lang="en-US" altLang="he-IL" sz="1800" b="1" dirty="0"/>
              <a:t>   </a:t>
            </a:r>
            <a:r>
              <a:rPr lang="en-US" altLang="he-IL" sz="1800" dirty="0"/>
              <a:t>       pattern is quoted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not quoted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improperly quoted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b="1" dirty="0"/>
              <a:t>   Embedded blanks: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blank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blank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blanks </a:t>
            </a:r>
          </a:p>
          <a:p>
            <a:pPr>
              <a:buFontTx/>
              <a:buNone/>
            </a:pPr>
            <a:r>
              <a:rPr lang="en-US" altLang="he-IL" sz="1800" dirty="0"/>
              <a:t>    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15364" name="Rectangle 3"/>
          <p:cNvSpPr txBox="1">
            <a:spLocks noChangeArrowheads="1"/>
          </p:cNvSpPr>
          <p:nvPr/>
        </p:nvSpPr>
        <p:spPr bwMode="auto">
          <a:xfrm>
            <a:off x="3924300" y="844550"/>
            <a:ext cx="4322763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>
              <a:spcBef>
                <a:spcPct val="20000"/>
              </a:spcBef>
            </a:pPr>
            <a:r>
              <a:rPr lang="ko-KR" altLang="he-IL" sz="1600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   </a:t>
            </a:r>
            <a:r>
              <a:rPr lang="en-US" altLang="he-IL" sz="1600">
                <a:solidFill>
                  <a:srgbClr val="000000"/>
                </a:solidFill>
                <a:latin typeface="Times New Roman" panose="02020603050405020304" pitchFamily="18" charset="0"/>
              </a:rPr>
              <a:t>Embedded quotes: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 no embedded quotes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one embedded quotes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several embedded quotes</a:t>
            </a:r>
          </a:p>
          <a:p>
            <a:pPr>
              <a:spcBef>
                <a:spcPct val="20000"/>
              </a:spcBef>
            </a:pPr>
            <a:endParaRPr lang="en-US" altLang="he-IL" sz="16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he-IL" sz="1600">
                <a:solidFill>
                  <a:srgbClr val="000000"/>
                </a:solidFill>
                <a:latin typeface="Times New Roman" panose="02020603050405020304" pitchFamily="18" charset="0"/>
              </a:rPr>
              <a:t>File name</a:t>
            </a: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:    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good file name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       no file with this name</a:t>
            </a:r>
          </a:p>
          <a:p>
            <a:pPr>
              <a:spcBef>
                <a:spcPct val="20000"/>
              </a:spcBef>
            </a:pPr>
            <a:r>
              <a:rPr lang="en-US" altLang="he-IL" sz="1600" b="0">
                <a:solidFill>
                  <a:srgbClr val="000000"/>
                </a:solidFill>
                <a:latin typeface="Times New Roman" panose="02020603050405020304" pitchFamily="18" charset="0"/>
              </a:rPr>
              <a:t>	omitted</a:t>
            </a:r>
          </a:p>
          <a:p>
            <a:pPr>
              <a:spcBef>
                <a:spcPct val="20000"/>
              </a:spcBef>
            </a:pPr>
            <a:r>
              <a:rPr lang="en-US" altLang="he-IL" sz="180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endParaRPr lang="en-US" altLang="he-IL" sz="18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he-IL" sz="1800" u="sng">
                <a:solidFill>
                  <a:srgbClr val="000000"/>
                </a:solidFill>
                <a:latin typeface="Times New Roman" panose="02020603050405020304" pitchFamily="18" charset="0"/>
              </a:rPr>
              <a:t>Environments:</a:t>
            </a:r>
          </a:p>
          <a:p>
            <a:pPr>
              <a:spcBef>
                <a:spcPct val="20000"/>
              </a:spcBef>
            </a:pPr>
            <a:r>
              <a:rPr lang="en-US" altLang="he-IL" sz="1800">
                <a:solidFill>
                  <a:srgbClr val="000000"/>
                </a:solidFill>
                <a:latin typeface="Times New Roman" panose="02020603050405020304" pitchFamily="18" charset="0"/>
              </a:rPr>
              <a:t>   Number of occurrence of pattern in file: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 none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exactly one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more than one</a:t>
            </a:r>
          </a:p>
          <a:p>
            <a:pPr>
              <a:spcBef>
                <a:spcPct val="20000"/>
              </a:spcBef>
            </a:pPr>
            <a:endParaRPr lang="en-US" altLang="he-IL" sz="18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20000"/>
              </a:spcBef>
            </a:pPr>
            <a:r>
              <a:rPr lang="en-US" altLang="he-IL" sz="1800">
                <a:solidFill>
                  <a:srgbClr val="000000"/>
                </a:solidFill>
                <a:latin typeface="Times New Roman" panose="02020603050405020304" pitchFamily="18" charset="0"/>
              </a:rPr>
              <a:t>  Pattern occurrences on target line: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one</a:t>
            </a:r>
          </a:p>
          <a:p>
            <a:pPr>
              <a:spcBef>
                <a:spcPct val="20000"/>
              </a:spcBef>
            </a:pPr>
            <a:r>
              <a:rPr lang="en-US" altLang="he-IL" sz="1800" b="0">
                <a:solidFill>
                  <a:srgbClr val="000000"/>
                </a:solidFill>
                <a:latin typeface="Times New Roman" panose="02020603050405020304" pitchFamily="18" charset="0"/>
              </a:rPr>
              <a:t>      more than one</a:t>
            </a:r>
            <a:endParaRPr lang="en-US" altLang="he-IL" sz="2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5724525" y="1916113"/>
            <a:ext cx="316865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1944 (=4*3*3*3*3*3*2)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420" y="190269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23087" y="365298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951" y="50800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78094" y="137160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78094" y="27828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78094" y="46196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87913" y="625069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7020" y="339435"/>
            <a:ext cx="8839200" cy="320675"/>
          </a:xfrm>
        </p:spPr>
        <p:txBody>
          <a:bodyPr>
            <a:normAutofit fontScale="90000"/>
          </a:bodyPr>
          <a:lstStyle/>
          <a:p>
            <a:r>
              <a:rPr lang="en-US" altLang="ko-KR" sz="4000" dirty="0">
                <a:ea typeface="굴림" panose="020B0600000101010101" pitchFamily="50" charset="-127"/>
              </a:rPr>
              <a:t>Adding Constraints between Categories</a:t>
            </a:r>
            <a:br>
              <a:rPr lang="en-US" altLang="ko-KR" sz="4000" dirty="0">
                <a:ea typeface="굴림" panose="020B0600000101010101" pitchFamily="50" charset="-127"/>
              </a:rPr>
            </a:br>
            <a:r>
              <a:rPr lang="en-US" altLang="ko-KR" sz="4000" dirty="0">
                <a:ea typeface="굴림" panose="020B0600000101010101" pitchFamily="50" charset="-127"/>
              </a:rPr>
              <a:t>to Reduce #of TC’S</a:t>
            </a:r>
            <a:endParaRPr lang="ko-KR" altLang="en-US" sz="4000" dirty="0">
              <a:ea typeface="굴림" panose="020B0600000101010101" pitchFamily="50" charset="-127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30288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 dirty="0"/>
              <a:t>Parameters:</a:t>
            </a:r>
          </a:p>
          <a:p>
            <a:pPr>
              <a:buFontTx/>
              <a:buNone/>
            </a:pPr>
            <a:r>
              <a:rPr lang="en-US" altLang="he-IL" sz="2000" b="1" dirty="0"/>
              <a:t>   </a:t>
            </a:r>
            <a:r>
              <a:rPr lang="en-US" altLang="he-IL" sz="1800" b="1" dirty="0"/>
              <a:t>Pattern size:</a:t>
            </a:r>
          </a:p>
          <a:p>
            <a:pPr>
              <a:buFontTx/>
              <a:buNone/>
            </a:pPr>
            <a:r>
              <a:rPr lang="en-US" altLang="he-IL" sz="1800" b="1" dirty="0"/>
              <a:t>           </a:t>
            </a:r>
            <a:r>
              <a:rPr lang="en-US" altLang="he-IL" sz="1800" dirty="0"/>
              <a:t>empty                                              [ </a:t>
            </a:r>
            <a:r>
              <a:rPr lang="en-US" altLang="he-IL" sz="1800" dirty="0">
                <a:solidFill>
                  <a:srgbClr val="FF0000"/>
                </a:solidFill>
              </a:rPr>
              <a:t>property</a:t>
            </a:r>
            <a:r>
              <a:rPr lang="en-US" altLang="he-IL" sz="1800" dirty="0"/>
              <a:t> Empty ]</a:t>
            </a:r>
          </a:p>
          <a:p>
            <a:pPr>
              <a:buFontTx/>
              <a:buNone/>
            </a:pPr>
            <a:r>
              <a:rPr lang="en-US" altLang="he-IL" sz="1800" dirty="0"/>
              <a:t>           single character                               [ property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    many character                                [ property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   longer than any line in the file         [ property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dirty="0"/>
              <a:t>   </a:t>
            </a:r>
            <a:r>
              <a:rPr lang="en-US" altLang="he-IL" sz="1800" b="1" dirty="0"/>
              <a:t>Quoting:</a:t>
            </a:r>
          </a:p>
          <a:p>
            <a:pPr>
              <a:buNone/>
            </a:pPr>
            <a:r>
              <a:rPr lang="en-US" altLang="he-IL" sz="1800" b="1" dirty="0"/>
              <a:t>  </a:t>
            </a:r>
            <a:r>
              <a:rPr lang="en-US" altLang="he-IL" sz="1800" dirty="0"/>
              <a:t>       pattern is quoted                               [ </a:t>
            </a:r>
            <a:r>
              <a:rPr lang="en-US" altLang="he-IL" sz="1800" dirty="0">
                <a:solidFill>
                  <a:srgbClr val="FF0000"/>
                </a:solidFill>
              </a:rPr>
              <a:t>if</a:t>
            </a:r>
            <a:r>
              <a:rPr lang="en-US" altLang="he-IL" sz="1800" dirty="0"/>
              <a:t>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Quoted ] 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not quoted 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  pattern is improperly quoted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b="1" dirty="0"/>
              <a:t>   Embedded blanks: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blank  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blank 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and Quoted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blanks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and Quoted ]</a:t>
            </a:r>
          </a:p>
          <a:p>
            <a:pPr>
              <a:buFontTx/>
              <a:buNone/>
            </a:pPr>
            <a:r>
              <a:rPr lang="en-US" altLang="he-IL" sz="1800" dirty="0"/>
              <a:t>    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</p:spTree>
    <p:extLst>
      <p:ext uri="{BB962C8B-B14F-4D97-AF65-F5344CB8AC3E}">
        <p14:creationId xmlns:p14="http://schemas.microsoft.com/office/powerpoint/2010/main" val="508067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848600" cy="6400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ko-KR" altLang="he-IL" sz="1800" b="1" dirty="0">
                <a:ea typeface="굴림" panose="020B0600000101010101" pitchFamily="50" charset="-127"/>
              </a:rPr>
              <a:t>   </a:t>
            </a:r>
            <a:r>
              <a:rPr lang="en-US" altLang="he-IL" sz="1800" b="1" dirty="0"/>
              <a:t>Embedded quotes: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quotes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quotes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quotes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endParaRPr lang="en-US" altLang="he-IL" sz="1800" dirty="0"/>
          </a:p>
          <a:p>
            <a:pPr>
              <a:buFontTx/>
              <a:buNone/>
            </a:pPr>
            <a:r>
              <a:rPr lang="en-US" altLang="he-IL" sz="1800" b="1" dirty="0"/>
              <a:t>File name</a:t>
            </a:r>
            <a:r>
              <a:rPr lang="en-US" altLang="he-IL" sz="1800" dirty="0"/>
              <a:t>:     </a:t>
            </a:r>
          </a:p>
          <a:p>
            <a:pPr>
              <a:buFontTx/>
              <a:buNone/>
            </a:pPr>
            <a:r>
              <a:rPr lang="en-US" altLang="he-IL" sz="1800" dirty="0"/>
              <a:t>       good file name</a:t>
            </a:r>
          </a:p>
          <a:p>
            <a:pPr>
              <a:buFontTx/>
              <a:buNone/>
            </a:pPr>
            <a:r>
              <a:rPr lang="en-US" altLang="he-IL" sz="1800" dirty="0"/>
              <a:t>       no file with this name</a:t>
            </a:r>
          </a:p>
          <a:p>
            <a:pPr>
              <a:buFontTx/>
              <a:buNone/>
            </a:pPr>
            <a:r>
              <a:rPr lang="en-US" altLang="he-IL" sz="1800" dirty="0"/>
              <a:t>	omitted</a:t>
            </a:r>
          </a:p>
          <a:p>
            <a:pPr>
              <a:buFontTx/>
              <a:buNone/>
            </a:pPr>
            <a:r>
              <a:rPr lang="en-US" altLang="he-IL" sz="2000" b="1" dirty="0"/>
              <a:t>      </a:t>
            </a: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Environments:</a:t>
            </a:r>
          </a:p>
          <a:p>
            <a:pPr>
              <a:buFontTx/>
              <a:buNone/>
            </a:pPr>
            <a:r>
              <a:rPr lang="en-US" altLang="he-IL" sz="2000" b="1"/>
              <a:t>   Number of occurrence of pattern in file:</a:t>
            </a:r>
          </a:p>
          <a:p>
            <a:pPr>
              <a:buFontTx/>
              <a:buNone/>
            </a:pPr>
            <a:r>
              <a:rPr lang="en-US" altLang="he-IL" sz="2000" dirty="0"/>
              <a:t>       none          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2000" dirty="0"/>
              <a:t>      exactly one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 ]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  Pattern occurrences on target line:</a:t>
            </a:r>
          </a:p>
          <a:p>
            <a:pPr>
              <a:buFontTx/>
              <a:buNone/>
            </a:pPr>
            <a:r>
              <a:rPr lang="en-US" altLang="he-IL" sz="2000" dirty="0"/>
              <a:t>      one                                              [ if Match 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 [ if Match ]</a:t>
            </a:r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678</a:t>
            </a:r>
          </a:p>
        </p:txBody>
      </p:sp>
    </p:spTree>
    <p:extLst>
      <p:ext uri="{BB962C8B-B14F-4D97-AF65-F5344CB8AC3E}">
        <p14:creationId xmlns:p14="http://schemas.microsoft.com/office/powerpoint/2010/main" val="146450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/>
              <a:t>Parameters:</a:t>
            </a:r>
          </a:p>
          <a:p>
            <a:pPr>
              <a:buFontTx/>
              <a:buNone/>
            </a:pPr>
            <a:r>
              <a:rPr lang="en-US" altLang="he-IL" sz="2000" b="1"/>
              <a:t>   </a:t>
            </a:r>
            <a:r>
              <a:rPr lang="en-US" altLang="he-IL" sz="1800" b="1"/>
              <a:t>Pattern size:</a:t>
            </a:r>
          </a:p>
          <a:p>
            <a:pPr>
              <a:buFontTx/>
              <a:buNone/>
            </a:pPr>
            <a:r>
              <a:rPr lang="en-US" altLang="he-IL" sz="1800" b="1"/>
              <a:t>           </a:t>
            </a:r>
            <a:r>
              <a:rPr lang="en-US" altLang="he-IL" sz="1800"/>
              <a:t>empty                                              [ property Empty ]</a:t>
            </a:r>
          </a:p>
          <a:p>
            <a:pPr>
              <a:buFontTx/>
              <a:buNone/>
            </a:pPr>
            <a:r>
              <a:rPr lang="en-US" altLang="he-IL" sz="1800"/>
              <a:t>           single character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 many character 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longer than any line in the file         [</a:t>
            </a:r>
            <a:r>
              <a:rPr lang="en-US" altLang="he-IL" sz="1800">
                <a:solidFill>
                  <a:srgbClr val="FF0000"/>
                </a:solidFill>
              </a:rPr>
              <a:t> 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/>
              <a:t>   </a:t>
            </a:r>
            <a:r>
              <a:rPr lang="en-US" altLang="he-IL" sz="1800" b="1"/>
              <a:t>Quoting:</a:t>
            </a:r>
          </a:p>
          <a:p>
            <a:pPr>
              <a:buFontTx/>
              <a:buNone/>
            </a:pPr>
            <a:r>
              <a:rPr lang="en-US" altLang="he-IL" sz="1800" b="1"/>
              <a:t>   </a:t>
            </a:r>
            <a:r>
              <a:rPr lang="en-US" altLang="he-IL" sz="1800"/>
              <a:t>       pattern is quoted                             [ property quoted ]</a:t>
            </a:r>
          </a:p>
          <a:p>
            <a:pPr>
              <a:buFontTx/>
              <a:buNone/>
            </a:pPr>
            <a:r>
              <a:rPr lang="en-US" altLang="he-IL" sz="1800"/>
              <a:t>         pattern is not quoted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  pattern is improperly quoted           [ </a:t>
            </a:r>
            <a:r>
              <a:rPr lang="en-US" altLang="he-IL" sz="1800">
                <a:solidFill>
                  <a:srgbClr val="FF0000"/>
                </a:solidFill>
              </a:rPr>
              <a:t>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 b="1"/>
              <a:t>   Embedded blanks:</a:t>
            </a:r>
          </a:p>
          <a:p>
            <a:pPr>
              <a:buFontTx/>
              <a:buNone/>
            </a:pPr>
            <a:r>
              <a:rPr lang="en-US" altLang="he-IL" sz="1800"/>
              <a:t>        no embedded blank 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one embedded blank       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   several embedded blanks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</a:t>
            </a:r>
            <a:endParaRPr lang="en-US" altLang="he-IL" sz="2000" b="1"/>
          </a:p>
          <a:p>
            <a:pPr>
              <a:buFontTx/>
              <a:buNone/>
            </a:pPr>
            <a:endParaRPr lang="en-US" altLang="he-IL" b="1"/>
          </a:p>
        </p:txBody>
      </p:sp>
    </p:spTree>
    <p:extLst>
      <p:ext uri="{BB962C8B-B14F-4D97-AF65-F5344CB8AC3E}">
        <p14:creationId xmlns:p14="http://schemas.microsoft.com/office/powerpoint/2010/main" val="1432941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848600" cy="64008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 sz="1800" b="1" dirty="0">
                <a:ea typeface="굴림" panose="020B0600000101010101" pitchFamily="50" charset="-127"/>
              </a:rPr>
              <a:t>   </a:t>
            </a:r>
            <a:r>
              <a:rPr lang="en-US" altLang="he-IL" sz="1800" b="1" dirty="0"/>
              <a:t>Embedded quotes: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quotes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quotes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quotes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b="1" dirty="0"/>
              <a:t>File name</a:t>
            </a:r>
            <a:r>
              <a:rPr lang="en-US" altLang="he-IL" sz="1800" dirty="0"/>
              <a:t>:     </a:t>
            </a:r>
          </a:p>
          <a:p>
            <a:pPr>
              <a:buFontTx/>
              <a:buNone/>
            </a:pPr>
            <a:r>
              <a:rPr lang="en-US" altLang="he-IL" sz="1800" dirty="0"/>
              <a:t>       good file name</a:t>
            </a:r>
          </a:p>
          <a:p>
            <a:pPr>
              <a:buFontTx/>
              <a:buNone/>
            </a:pPr>
            <a:r>
              <a:rPr lang="en-US" altLang="he-IL" sz="1800" dirty="0"/>
              <a:t>       no file with this name                      [</a:t>
            </a:r>
            <a:r>
              <a:rPr lang="en-US" altLang="he-IL" sz="1800" dirty="0">
                <a:solidFill>
                  <a:srgbClr val="FF0000"/>
                </a:solidFill>
              </a:rPr>
              <a:t> error </a:t>
            </a:r>
            <a:r>
              <a:rPr lang="en-US" altLang="he-IL" sz="1800" dirty="0"/>
              <a:t>]</a:t>
            </a:r>
          </a:p>
          <a:p>
            <a:pPr>
              <a:buFontTx/>
              <a:buNone/>
            </a:pPr>
            <a:r>
              <a:rPr lang="en-US" altLang="he-IL" sz="1800" dirty="0"/>
              <a:t>       omitted</a:t>
            </a:r>
            <a:r>
              <a:rPr lang="en-US" altLang="he-IL" sz="2000" b="1" dirty="0"/>
              <a:t>     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Environments:</a:t>
            </a:r>
          </a:p>
          <a:p>
            <a:pPr>
              <a:buFontTx/>
              <a:buNone/>
            </a:pPr>
            <a:r>
              <a:rPr lang="en-US" altLang="he-IL" sz="2000" b="1" dirty="0"/>
              <a:t>   Number of occurrence of pattern in file:</a:t>
            </a:r>
          </a:p>
          <a:p>
            <a:pPr>
              <a:buFontTx/>
              <a:buNone/>
            </a:pPr>
            <a:r>
              <a:rPr lang="en-US" altLang="he-IL" sz="2000" dirty="0"/>
              <a:t>       none          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</a:t>
            </a:r>
          </a:p>
          <a:p>
            <a:pPr>
              <a:buFontTx/>
              <a:buNone/>
            </a:pPr>
            <a:r>
              <a:rPr lang="en-US" altLang="he-IL" sz="1800" dirty="0"/>
              <a:t>       </a:t>
            </a:r>
            <a:r>
              <a:rPr lang="en-US" altLang="he-IL" sz="2000" dirty="0"/>
              <a:t>exactly one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 ]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  Pattern occurrences on target line:</a:t>
            </a:r>
          </a:p>
          <a:p>
            <a:pPr>
              <a:buFontTx/>
              <a:buNone/>
            </a:pPr>
            <a:r>
              <a:rPr lang="en-US" altLang="he-IL" sz="2000" dirty="0"/>
              <a:t>      one                                              [ if Match 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 [ if Match ]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125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 dirty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ko-KR" b="0" dirty="0">
                <a:solidFill>
                  <a:srgbClr val="000000"/>
                </a:solidFill>
              </a:rPr>
              <a:t>125</a:t>
            </a:r>
            <a:endParaRPr lang="en-US" altLang="he-IL" b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07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 autoUpdateAnimBg="0"/>
      <p:bldP spid="25605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White Box Testing (1/2)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Moonzoo Kim </a:t>
            </a: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63F-210B-426B-8655-095B3862437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r>
              <a:rPr lang="en-US" altLang="ko-KR">
                <a:solidFill>
                  <a:prstClr val="black">
                    <a:tint val="75000"/>
                  </a:prstClr>
                </a:solidFill>
              </a:rPr>
              <a:t>/11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3"/>
          </p:nvPr>
        </p:nvSpPr>
        <p:spPr>
          <a:xfrm>
            <a:off x="285720" y="1214422"/>
            <a:ext cx="8858280" cy="5214974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White box testing concerns program code itself</a:t>
            </a:r>
          </a:p>
          <a:p>
            <a:r>
              <a:rPr lang="en-US" altLang="ko-KR" dirty="0"/>
              <a:t>Many different viewpoints on “program code”</a:t>
            </a:r>
          </a:p>
          <a:p>
            <a:pPr marL="457200" lvl="1" indent="0">
              <a:buNone/>
            </a:pPr>
            <a:r>
              <a:rPr lang="en-US" altLang="ko-KR" dirty="0"/>
              <a:t>1) program code as a graph (i.e., structural coverage)</a:t>
            </a:r>
          </a:p>
          <a:p>
            <a:pPr marL="457200" lvl="1" indent="0">
              <a:buNone/>
            </a:pPr>
            <a:r>
              <a:rPr lang="en-US" altLang="ko-KR" dirty="0"/>
              <a:t>2) program code as a set of logic formulas (i.e., logical coverage)</a:t>
            </a:r>
          </a:p>
          <a:p>
            <a:pPr marL="457200" lvl="1" indent="0">
              <a:buNone/>
            </a:pPr>
            <a:r>
              <a:rPr lang="en-US" altLang="ko-KR"/>
              <a:t>3) program </a:t>
            </a:r>
            <a:r>
              <a:rPr lang="en-US" altLang="ko-KR" dirty="0"/>
              <a:t>code as a set of execution paths (i.e., behavioral/dynamic coverage)</a:t>
            </a:r>
          </a:p>
          <a:p>
            <a:r>
              <a:rPr lang="en-US" altLang="ko-KR" dirty="0"/>
              <a:t>Advantages:  </a:t>
            </a:r>
          </a:p>
          <a:p>
            <a:pPr lvl="1"/>
            <a:r>
              <a:rPr lang="en-US" altLang="ko-KR" dirty="0"/>
              <a:t>More effective than </a:t>
            </a:r>
            <a:r>
              <a:rPr lang="en-US" altLang="ko-KR" dirty="0" err="1"/>
              <a:t>blackbox</a:t>
            </a:r>
            <a:r>
              <a:rPr lang="en-US" altLang="ko-KR" dirty="0"/>
              <a:t> testing in general</a:t>
            </a:r>
          </a:p>
          <a:p>
            <a:pPr lvl="1"/>
            <a:r>
              <a:rPr lang="en-US" altLang="ko-KR" dirty="0"/>
              <a:t>Can measure the testing progress quantitatively based on coverage achieved</a:t>
            </a:r>
          </a:p>
          <a:p>
            <a:r>
              <a:rPr lang="en-US" altLang="ko-KR" dirty="0"/>
              <a:t>Should be used with </a:t>
            </a:r>
            <a:r>
              <a:rPr lang="en-US" altLang="ko-KR" dirty="0" err="1"/>
              <a:t>blackbox</a:t>
            </a:r>
            <a:r>
              <a:rPr lang="en-US" altLang="ko-KR" dirty="0"/>
              <a:t> testing together for maximal bug detection capability</a:t>
            </a:r>
          </a:p>
          <a:p>
            <a:pPr lvl="1"/>
            <a:r>
              <a:rPr lang="en-US" altLang="ko-KR" dirty="0" err="1"/>
              <a:t>Blackbox</a:t>
            </a:r>
            <a:r>
              <a:rPr lang="en-US" altLang="ko-KR" dirty="0"/>
              <a:t> testing and </a:t>
            </a:r>
            <a:r>
              <a:rPr lang="en-US" altLang="ko-KR" dirty="0" err="1"/>
              <a:t>whitebox</a:t>
            </a:r>
            <a:r>
              <a:rPr lang="en-US" altLang="ko-KR" dirty="0"/>
              <a:t> testing often explore different segments of target program space  </a:t>
            </a:r>
          </a:p>
        </p:txBody>
      </p:sp>
    </p:spTree>
    <p:extLst>
      <p:ext uri="{BB962C8B-B14F-4D97-AF65-F5344CB8AC3E}">
        <p14:creationId xmlns:p14="http://schemas.microsoft.com/office/powerpoint/2010/main" val="2881369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White Box Testing (2/2)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1426308"/>
            <a:ext cx="9144000" cy="4114800"/>
          </a:xfrm>
        </p:spPr>
        <p:txBody>
          <a:bodyPr/>
          <a:lstStyle/>
          <a:p>
            <a:r>
              <a:rPr lang="en-US" altLang="ko-KR" dirty="0">
                <a:solidFill>
                  <a:srgbClr val="1F497D">
                    <a:lumMod val="75000"/>
                  </a:srgbClr>
                </a:solidFill>
              </a:rPr>
              <a:t>Coverage is a </a:t>
            </a:r>
            <a:r>
              <a:rPr lang="en-US" altLang="ko-KR" dirty="0">
                <a:solidFill>
                  <a:srgbClr val="F79646">
                    <a:lumMod val="75000"/>
                  </a:srgbClr>
                </a:solidFill>
              </a:rPr>
              <a:t>good predictor/indicator of testing effectiveness </a:t>
            </a:r>
          </a:p>
          <a:p>
            <a:pPr lvl="1"/>
            <a:r>
              <a:rPr lang="en-US" altLang="ko-KR" dirty="0"/>
              <a:t>Utilizing correlation between structural coverage and fault detection ability</a:t>
            </a:r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>
            <a:off x="3118776" y="5858304"/>
            <a:ext cx="297553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V="1">
            <a:off x="3126251" y="3786735"/>
            <a:ext cx="0" cy="20715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16385" y="3851411"/>
            <a:ext cx="899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Fault </a:t>
            </a:r>
          </a:p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finding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16177" y="5860045"/>
            <a:ext cx="118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3314435" y="3915829"/>
            <a:ext cx="1292109" cy="1368152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4728939" y="4768888"/>
            <a:ext cx="195327" cy="204516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800" b="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49104" y="4347877"/>
            <a:ext cx="117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metric B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5128" y="5139965"/>
            <a:ext cx="117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metric C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8991" y="3699805"/>
            <a:ext cx="117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coverage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ko-KR" sz="1800" b="0" dirty="0">
                <a:solidFill>
                  <a:prstClr val="black"/>
                </a:solidFill>
                <a:latin typeface="Calibri" pitchFamily="34" charset="0"/>
              </a:rPr>
              <a:t>metric A</a:t>
            </a:r>
            <a:endParaRPr lang="ko-KR" altLang="en-US" sz="1800" b="0" dirty="0">
              <a:solidFill>
                <a:prstClr val="black"/>
              </a:solidFill>
              <a:latin typeface="Calibri" pitchFamily="34" charset="0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 flipH="1">
            <a:off x="3115977" y="4871146"/>
            <a:ext cx="1612962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stCxn id="10" idx="4"/>
          </p:cNvCxnSpPr>
          <p:nvPr/>
        </p:nvCxnSpPr>
        <p:spPr>
          <a:xfrm flipH="1">
            <a:off x="4826602" y="4973404"/>
            <a:ext cx="1" cy="88490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자유형 15"/>
          <p:cNvSpPr/>
          <p:nvPr/>
        </p:nvSpPr>
        <p:spPr>
          <a:xfrm>
            <a:off x="3296505" y="4822519"/>
            <a:ext cx="1668858" cy="593335"/>
          </a:xfrm>
          <a:custGeom>
            <a:avLst/>
            <a:gdLst>
              <a:gd name="connsiteX0" fmla="*/ 0 w 1921267"/>
              <a:gd name="connsiteY0" fmla="*/ 1222624 h 1222624"/>
              <a:gd name="connsiteX1" fmla="*/ 750013 w 1921267"/>
              <a:gd name="connsiteY1" fmla="*/ 308224 h 1222624"/>
              <a:gd name="connsiteX2" fmla="*/ 1921267 w 1921267"/>
              <a:gd name="connsiteY2" fmla="*/ 0 h 1222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267" h="1222624">
                <a:moveTo>
                  <a:pt x="0" y="1222624"/>
                </a:moveTo>
                <a:cubicBezTo>
                  <a:pt x="214901" y="867309"/>
                  <a:pt x="429802" y="511995"/>
                  <a:pt x="750013" y="308224"/>
                </a:cubicBezTo>
                <a:cubicBezTo>
                  <a:pt x="1070224" y="104453"/>
                  <a:pt x="1724346" y="49658"/>
                  <a:pt x="1921267" y="0"/>
                </a:cubicBezTo>
              </a:path>
            </a:pathLst>
          </a:custGeom>
          <a:noFill/>
          <a:ln w="3810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800" b="0">
              <a:solidFill>
                <a:prstClr val="white"/>
              </a:solidFill>
            </a:endParaRPr>
          </a:p>
        </p:txBody>
      </p:sp>
      <p:sp>
        <p:nvSpPr>
          <p:cNvPr id="17" name="자유형 16"/>
          <p:cNvSpPr/>
          <p:nvPr/>
        </p:nvSpPr>
        <p:spPr>
          <a:xfrm flipV="1">
            <a:off x="3340091" y="5355989"/>
            <a:ext cx="1972638" cy="266413"/>
          </a:xfrm>
          <a:custGeom>
            <a:avLst/>
            <a:gdLst>
              <a:gd name="connsiteX0" fmla="*/ 0 w 1972638"/>
              <a:gd name="connsiteY0" fmla="*/ 185680 h 309651"/>
              <a:gd name="connsiteX1" fmla="*/ 308225 w 1972638"/>
              <a:gd name="connsiteY1" fmla="*/ 745 h 309651"/>
              <a:gd name="connsiteX2" fmla="*/ 636998 w 1972638"/>
              <a:gd name="connsiteY2" fmla="*/ 247325 h 309651"/>
              <a:gd name="connsiteX3" fmla="*/ 945223 w 1972638"/>
              <a:gd name="connsiteY3" fmla="*/ 745 h 309651"/>
              <a:gd name="connsiteX4" fmla="*/ 1345915 w 1972638"/>
              <a:gd name="connsiteY4" fmla="*/ 308970 h 309651"/>
              <a:gd name="connsiteX5" fmla="*/ 1972638 w 1972638"/>
              <a:gd name="connsiteY5" fmla="*/ 82938 h 3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72638" h="309651">
                <a:moveTo>
                  <a:pt x="0" y="185680"/>
                </a:moveTo>
                <a:cubicBezTo>
                  <a:pt x="101029" y="88075"/>
                  <a:pt x="202059" y="-9529"/>
                  <a:pt x="308225" y="745"/>
                </a:cubicBezTo>
                <a:cubicBezTo>
                  <a:pt x="414391" y="11019"/>
                  <a:pt x="530832" y="247325"/>
                  <a:pt x="636998" y="247325"/>
                </a:cubicBezTo>
                <a:cubicBezTo>
                  <a:pt x="743164" y="247325"/>
                  <a:pt x="827070" y="-9529"/>
                  <a:pt x="945223" y="745"/>
                </a:cubicBezTo>
                <a:cubicBezTo>
                  <a:pt x="1063376" y="11019"/>
                  <a:pt x="1174679" y="295271"/>
                  <a:pt x="1345915" y="308970"/>
                </a:cubicBezTo>
                <a:cubicBezTo>
                  <a:pt x="1517151" y="322669"/>
                  <a:pt x="1854485" y="125747"/>
                  <a:pt x="1972638" y="82938"/>
                </a:cubicBezTo>
              </a:path>
            </a:pathLst>
          </a:custGeom>
          <a:noFill/>
          <a:ln w="3810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800" b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52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 animBg="1"/>
      <p:bldP spid="11" grpId="0"/>
      <p:bldP spid="12" grpId="0"/>
      <p:bldP spid="13" grpId="0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3221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Bug Observability/Detection Model:  </a:t>
            </a:r>
            <a:br>
              <a:rPr lang="en-US" altLang="ko-KR" dirty="0"/>
            </a:br>
            <a:r>
              <a:rPr lang="en-US" altLang="ko-KR" b="1" dirty="0"/>
              <a:t>R</a:t>
            </a:r>
            <a:r>
              <a:rPr lang="en-US" altLang="ko-KR" dirty="0"/>
              <a:t>eachability, </a:t>
            </a:r>
            <a:r>
              <a:rPr lang="en-US" altLang="ko-KR" b="1" dirty="0"/>
              <a:t>I</a:t>
            </a:r>
            <a:r>
              <a:rPr lang="en-US" altLang="ko-KR" dirty="0"/>
              <a:t>nfection, </a:t>
            </a:r>
            <a:r>
              <a:rPr lang="en-US" altLang="ko-KR" b="1" dirty="0"/>
              <a:t>P</a:t>
            </a:r>
            <a:r>
              <a:rPr lang="en-US" altLang="ko-KR" dirty="0"/>
              <a:t>ropagation, and </a:t>
            </a:r>
            <a:r>
              <a:rPr lang="en-US" altLang="ko-KR" b="1" dirty="0"/>
              <a:t>R</a:t>
            </a:r>
            <a:r>
              <a:rPr lang="en-US" altLang="ko-KR" dirty="0"/>
              <a:t>evelation (RIPR)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388" y="1970871"/>
            <a:ext cx="340518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dirty="0"/>
              <a:t>Terminology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Fault</a:t>
            </a:r>
            <a:r>
              <a:rPr lang="en-US" altLang="ko-KR" sz="2000" dirty="0"/>
              <a:t>: static defect in a program text (</a:t>
            </a:r>
            <a:r>
              <a:rPr lang="en-US" altLang="ko-KR" sz="2000" dirty="0" err="1"/>
              <a:t>a.k.a</a:t>
            </a:r>
            <a:r>
              <a:rPr lang="en-US" altLang="ko-KR" sz="2000" dirty="0"/>
              <a:t> a bug)</a:t>
            </a:r>
          </a:p>
          <a:p>
            <a:pPr lvl="1"/>
            <a:r>
              <a:rPr lang="en-US" altLang="ko-KR" sz="2000" dirty="0">
                <a:solidFill>
                  <a:srgbClr val="FF0000"/>
                </a:solidFill>
              </a:rPr>
              <a:t>Error</a:t>
            </a:r>
            <a:r>
              <a:rPr lang="en-US" altLang="ko-KR" sz="2000" dirty="0"/>
              <a:t>: dynamic (intermediate) behavior that deviates from its (internal) intended goal</a:t>
            </a:r>
          </a:p>
          <a:p>
            <a:pPr lvl="2"/>
            <a:r>
              <a:rPr lang="en-US" altLang="ko-KR" sz="1600" dirty="0"/>
              <a:t>A fault causes an error (i.e. error is a symptom of fault)</a:t>
            </a:r>
          </a:p>
          <a:p>
            <a:pPr lvl="1"/>
            <a:r>
              <a:rPr lang="en-US" altLang="ko-KR" sz="2000" dirty="0" err="1">
                <a:solidFill>
                  <a:srgbClr val="FF0000"/>
                </a:solidFill>
              </a:rPr>
              <a:t>Failiure</a:t>
            </a:r>
            <a:r>
              <a:rPr lang="en-US" altLang="ko-KR" sz="2000" dirty="0"/>
              <a:t>: dynamic behavior which violates a ultimate goal of a target program</a:t>
            </a:r>
          </a:p>
          <a:p>
            <a:pPr lvl="2"/>
            <a:r>
              <a:rPr lang="en-US" altLang="ko-KR" sz="1600" dirty="0"/>
              <a:t>Not every error leads to failure due to error masking or fault tolerance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3490268" y="1933575"/>
            <a:ext cx="5653732" cy="4701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Wingdings 2" panose="05020102010507070707" pitchFamily="18" charset="2"/>
              <a:buChar char="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spcBef>
                <a:spcPct val="20000"/>
              </a:spcBef>
              <a:buFont typeface="Wingdings 2" pitchFamily="18" charset="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Graph coverage</a:t>
            </a:r>
          </a:p>
          <a:p>
            <a:pPr marL="514350" marR="0" lvl="1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 requirement satisfaction ==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Reachability</a:t>
            </a:r>
          </a:p>
          <a:p>
            <a:pPr marL="857250" marR="0" lvl="2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the fault in the code has to be reached  </a:t>
            </a:r>
          </a:p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Logic coverage</a:t>
            </a:r>
          </a:p>
          <a:p>
            <a:pPr marL="514350" marR="0" lvl="1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 requirement satisfaction </a:t>
            </a:r>
          </a:p>
          <a:p>
            <a:pPr marL="342900" marR="0" lvl="1" indent="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==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Reachability +Infection</a:t>
            </a:r>
          </a:p>
          <a:p>
            <a:pPr marL="857250" marR="0" lvl="2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the fault has to put the program into an error state. </a:t>
            </a:r>
          </a:p>
          <a:p>
            <a:pPr marL="1200150" marR="0" lvl="3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Note that a program is in an error state does not mean that it will always produce the failure  </a:t>
            </a:r>
          </a:p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Mutation coverage </a:t>
            </a:r>
          </a:p>
          <a:p>
            <a:pPr marL="514350" marR="0" lvl="1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Test requirement satisfaction </a:t>
            </a:r>
          </a:p>
          <a:p>
            <a:pPr marL="342900" marR="0" lvl="1" indent="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   ==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Reachability +Infection + Propagation</a:t>
            </a:r>
          </a:p>
          <a:p>
            <a:pPr marL="857250" marR="0" lvl="2" indent="-171450" algn="l" defTabSz="685800" rtl="0" eaLnBrk="0" fontAlgn="base" latinLnBrk="1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the program needs to exhibit incorrect outputs  </a:t>
            </a:r>
          </a:p>
          <a:p>
            <a:pPr marL="171450" marR="0" lvl="0" indent="-171450" algn="l" defTabSz="685800" rtl="0" eaLnBrk="0" fontAlgn="base" latinLnBrk="1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Char char="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Furthermore, test oracle plays critical role to reveal failure of a target program (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Revelation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4566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F65DCB50-B0DF-D440-DBF4-A74DDA73CF38}"/>
              </a:ext>
            </a:extLst>
          </p:cNvPr>
          <p:cNvSpPr/>
          <p:nvPr/>
        </p:nvSpPr>
        <p:spPr>
          <a:xfrm>
            <a:off x="3293604" y="634612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3E224384-08CD-903E-BE40-D43A19ACD3B1}"/>
              </a:ext>
            </a:extLst>
          </p:cNvPr>
          <p:cNvSpPr/>
          <p:nvPr/>
        </p:nvSpPr>
        <p:spPr>
          <a:xfrm>
            <a:off x="2493567" y="634612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AFD90E-7FED-411E-8DC2-C655CB9C1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89681" y="6492899"/>
            <a:ext cx="900090" cy="36512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34C515-6F76-4834-BC94-A4C2B94A0A22}" type="slidenum">
              <a:rPr kumimoji="0" lang="en-US" altLang="ko-KR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BC17380-A8B7-1737-2C57-0A1F3C901FDF}"/>
              </a:ext>
            </a:extLst>
          </p:cNvPr>
          <p:cNvCxnSpPr>
            <a:cxnSpLocks/>
          </p:cNvCxnSpPr>
          <p:nvPr/>
        </p:nvCxnSpPr>
        <p:spPr>
          <a:xfrm>
            <a:off x="1671400" y="3238788"/>
            <a:ext cx="862399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AD5AF6-9A68-1010-525D-F183FE790CAC}"/>
              </a:ext>
            </a:extLst>
          </p:cNvPr>
          <p:cNvSpPr txBox="1"/>
          <p:nvPr/>
        </p:nvSpPr>
        <p:spPr>
          <a:xfrm>
            <a:off x="2280391" y="24322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t100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9BD44C1C-64E5-A826-CB68-C17C27257932}"/>
              </a:ext>
            </a:extLst>
          </p:cNvPr>
          <p:cNvSpPr/>
          <p:nvPr/>
        </p:nvSpPr>
        <p:spPr>
          <a:xfrm>
            <a:off x="286166" y="649151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946826A1-400D-DFE9-D7E0-564073ABF835}"/>
              </a:ext>
            </a:extLst>
          </p:cNvPr>
          <p:cNvSpPr/>
          <p:nvPr/>
        </p:nvSpPr>
        <p:spPr>
          <a:xfrm>
            <a:off x="926303" y="656131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DA1F77-0532-DB80-1BF9-43FCDCAE92F5}"/>
              </a:ext>
            </a:extLst>
          </p:cNvPr>
          <p:cNvSpPr txBox="1"/>
          <p:nvPr/>
        </p:nvSpPr>
        <p:spPr>
          <a:xfrm>
            <a:off x="125160" y="283814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13FB0B-1901-E53D-22E0-FF8AA38EA4C5}"/>
              </a:ext>
            </a:extLst>
          </p:cNvPr>
          <p:cNvSpPr txBox="1"/>
          <p:nvPr/>
        </p:nvSpPr>
        <p:spPr>
          <a:xfrm>
            <a:off x="825879" y="299065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33A6DE-C692-6C19-906C-F26D9AD0538E}"/>
              </a:ext>
            </a:extLst>
          </p:cNvPr>
          <p:cNvSpPr txBox="1"/>
          <p:nvPr/>
        </p:nvSpPr>
        <p:spPr>
          <a:xfrm>
            <a:off x="2998178" y="24206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t101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275BE30-A0A0-DC92-AA11-53BBF3921F09}"/>
              </a:ext>
            </a:extLst>
          </p:cNvPr>
          <p:cNvSpPr/>
          <p:nvPr/>
        </p:nvSpPr>
        <p:spPr>
          <a:xfrm>
            <a:off x="2365217" y="835289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010110B-29EF-916B-24D8-AA4739C4992F}"/>
              </a:ext>
            </a:extLst>
          </p:cNvPr>
          <p:cNvSpPr/>
          <p:nvPr/>
        </p:nvSpPr>
        <p:spPr>
          <a:xfrm>
            <a:off x="3083004" y="834128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39E8210E-370A-E5E1-6B84-9DBF3B69F6B4}"/>
              </a:ext>
            </a:extLst>
          </p:cNvPr>
          <p:cNvSpPr/>
          <p:nvPr/>
        </p:nvSpPr>
        <p:spPr>
          <a:xfrm>
            <a:off x="5886743" y="620652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자유형: 도형 56">
            <a:extLst>
              <a:ext uri="{FF2B5EF4-FFF2-40B4-BE49-F238E27FC236}">
                <a16:creationId xmlns:a16="http://schemas.microsoft.com/office/drawing/2014/main" id="{8C0D4547-B738-37B9-4182-8C1CDCD0CC7B}"/>
              </a:ext>
            </a:extLst>
          </p:cNvPr>
          <p:cNvSpPr/>
          <p:nvPr/>
        </p:nvSpPr>
        <p:spPr>
          <a:xfrm>
            <a:off x="5093686" y="620652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A00F95-BA1B-C0B7-72EA-22F34DB9EA39}"/>
              </a:ext>
            </a:extLst>
          </p:cNvPr>
          <p:cNvSpPr txBox="1"/>
          <p:nvPr/>
        </p:nvSpPr>
        <p:spPr>
          <a:xfrm>
            <a:off x="4880510" y="22926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t200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EB465F-6067-3825-1D20-55845DD58AAB}"/>
              </a:ext>
            </a:extLst>
          </p:cNvPr>
          <p:cNvSpPr txBox="1"/>
          <p:nvPr/>
        </p:nvSpPr>
        <p:spPr>
          <a:xfrm>
            <a:off x="5591317" y="228104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t201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9FA81AE-6F50-C57B-06CE-D79DB495CF1E}"/>
              </a:ext>
            </a:extLst>
          </p:cNvPr>
          <p:cNvSpPr/>
          <p:nvPr/>
        </p:nvSpPr>
        <p:spPr>
          <a:xfrm>
            <a:off x="4965336" y="821329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2D54ADA-CD26-00DD-522C-CF01B0604D92}"/>
              </a:ext>
            </a:extLst>
          </p:cNvPr>
          <p:cNvSpPr/>
          <p:nvPr/>
        </p:nvSpPr>
        <p:spPr>
          <a:xfrm>
            <a:off x="5676143" y="820168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F2F52876-F6C7-670F-BF27-A03554AF7DCB}"/>
              </a:ext>
            </a:extLst>
          </p:cNvPr>
          <p:cNvSpPr/>
          <p:nvPr/>
        </p:nvSpPr>
        <p:spPr>
          <a:xfrm>
            <a:off x="4965336" y="2265057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6184C25-4738-6047-FE35-00FA434A8B0F}"/>
              </a:ext>
            </a:extLst>
          </p:cNvPr>
          <p:cNvSpPr/>
          <p:nvPr/>
        </p:nvSpPr>
        <p:spPr>
          <a:xfrm>
            <a:off x="5676143" y="2263896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5EC2A97-30E6-07D6-8BDD-844B2D31CA5F}"/>
              </a:ext>
            </a:extLst>
          </p:cNvPr>
          <p:cNvCxnSpPr>
            <a:cxnSpLocks/>
          </p:cNvCxnSpPr>
          <p:nvPr/>
        </p:nvCxnSpPr>
        <p:spPr>
          <a:xfrm>
            <a:off x="4343884" y="3238788"/>
            <a:ext cx="543606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BE7EE095-D0E0-3D18-F994-79C1A866941F}"/>
              </a:ext>
            </a:extLst>
          </p:cNvPr>
          <p:cNvSpPr/>
          <p:nvPr/>
        </p:nvSpPr>
        <p:spPr>
          <a:xfrm>
            <a:off x="7682157" y="626472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CC5E3A-BB8D-C2EA-6D1B-6457E04E90C8}"/>
              </a:ext>
            </a:extLst>
          </p:cNvPr>
          <p:cNvSpPr txBox="1"/>
          <p:nvPr/>
        </p:nvSpPr>
        <p:spPr>
          <a:xfrm>
            <a:off x="7322401" y="235085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t10000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5528290-E5AD-64A1-DF98-C46E5EC0AAC0}"/>
              </a:ext>
            </a:extLst>
          </p:cNvPr>
          <p:cNvSpPr/>
          <p:nvPr/>
        </p:nvSpPr>
        <p:spPr>
          <a:xfrm>
            <a:off x="7553807" y="827149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56EA6F8C-B296-D6DB-DD42-4D3A9C806E75}"/>
              </a:ext>
            </a:extLst>
          </p:cNvPr>
          <p:cNvSpPr/>
          <p:nvPr/>
        </p:nvSpPr>
        <p:spPr>
          <a:xfrm>
            <a:off x="7553807" y="2270877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DC20537-2826-2522-9246-FCFD34084323}"/>
              </a:ext>
            </a:extLst>
          </p:cNvPr>
          <p:cNvCxnSpPr>
            <a:cxnSpLocks/>
          </p:cNvCxnSpPr>
          <p:nvPr/>
        </p:nvCxnSpPr>
        <p:spPr>
          <a:xfrm>
            <a:off x="7002155" y="3244608"/>
            <a:ext cx="543606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2DBFAA3-714C-02F5-5D7D-C916AD4AB279}"/>
              </a:ext>
            </a:extLst>
          </p:cNvPr>
          <p:cNvSpPr/>
          <p:nvPr/>
        </p:nvSpPr>
        <p:spPr>
          <a:xfrm>
            <a:off x="7566507" y="4639724"/>
            <a:ext cx="527973" cy="837619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Failure occured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4787D802-7466-85E7-F843-C2F29AA84E6A}"/>
              </a:ext>
            </a:extLst>
          </p:cNvPr>
          <p:cNvSpPr/>
          <p:nvPr/>
        </p:nvSpPr>
        <p:spPr>
          <a:xfrm>
            <a:off x="3874469" y="633450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BE7D11B-4B71-2C55-6ED5-99F57F0B5FED}"/>
              </a:ext>
            </a:extLst>
          </p:cNvPr>
          <p:cNvSpPr txBox="1"/>
          <p:nvPr/>
        </p:nvSpPr>
        <p:spPr>
          <a:xfrm>
            <a:off x="3661293" y="24206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t102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FAFBDC02-1B95-ED7B-608B-A52830E31865}"/>
              </a:ext>
            </a:extLst>
          </p:cNvPr>
          <p:cNvSpPr/>
          <p:nvPr/>
        </p:nvSpPr>
        <p:spPr>
          <a:xfrm>
            <a:off x="3746119" y="834127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C410337F-60E5-88CB-1237-A43325CFB612}"/>
              </a:ext>
            </a:extLst>
          </p:cNvPr>
          <p:cNvSpPr/>
          <p:nvPr/>
        </p:nvSpPr>
        <p:spPr>
          <a:xfrm>
            <a:off x="1450683" y="654970"/>
            <a:ext cx="251286" cy="5577142"/>
          </a:xfrm>
          <a:custGeom>
            <a:avLst/>
            <a:gdLst>
              <a:gd name="connsiteX0" fmla="*/ 69802 w 251286"/>
              <a:gd name="connsiteY0" fmla="*/ 0 h 5577142"/>
              <a:gd name="connsiteX1" fmla="*/ 55841 w 251286"/>
              <a:gd name="connsiteY1" fmla="*/ 202424 h 5577142"/>
              <a:gd name="connsiteX2" fmla="*/ 48861 w 251286"/>
              <a:gd name="connsiteY2" fmla="*/ 244305 h 5577142"/>
              <a:gd name="connsiteX3" fmla="*/ 27921 w 251286"/>
              <a:gd name="connsiteY3" fmla="*/ 328067 h 5577142"/>
              <a:gd name="connsiteX4" fmla="*/ 20941 w 251286"/>
              <a:gd name="connsiteY4" fmla="*/ 418809 h 5577142"/>
              <a:gd name="connsiteX5" fmla="*/ 0 w 251286"/>
              <a:gd name="connsiteY5" fmla="*/ 558412 h 5577142"/>
              <a:gd name="connsiteX6" fmla="*/ 6980 w 251286"/>
              <a:gd name="connsiteY6" fmla="*/ 760836 h 5577142"/>
              <a:gd name="connsiteX7" fmla="*/ 20941 w 251286"/>
              <a:gd name="connsiteY7" fmla="*/ 893459 h 5577142"/>
              <a:gd name="connsiteX8" fmla="*/ 48861 w 251286"/>
              <a:gd name="connsiteY8" fmla="*/ 984201 h 5577142"/>
              <a:gd name="connsiteX9" fmla="*/ 62822 w 251286"/>
              <a:gd name="connsiteY9" fmla="*/ 1047022 h 5577142"/>
              <a:gd name="connsiteX10" fmla="*/ 76782 w 251286"/>
              <a:gd name="connsiteY10" fmla="*/ 1081923 h 5577142"/>
              <a:gd name="connsiteX11" fmla="*/ 90742 w 251286"/>
              <a:gd name="connsiteY11" fmla="*/ 1137764 h 5577142"/>
              <a:gd name="connsiteX12" fmla="*/ 118663 w 251286"/>
              <a:gd name="connsiteY12" fmla="*/ 1228506 h 5577142"/>
              <a:gd name="connsiteX13" fmla="*/ 132623 w 251286"/>
              <a:gd name="connsiteY13" fmla="*/ 1284348 h 5577142"/>
              <a:gd name="connsiteX14" fmla="*/ 153564 w 251286"/>
              <a:gd name="connsiteY14" fmla="*/ 1333209 h 5577142"/>
              <a:gd name="connsiteX15" fmla="*/ 195444 w 251286"/>
              <a:gd name="connsiteY15" fmla="*/ 1514693 h 5577142"/>
              <a:gd name="connsiteX16" fmla="*/ 202425 w 251286"/>
              <a:gd name="connsiteY16" fmla="*/ 1570534 h 5577142"/>
              <a:gd name="connsiteX17" fmla="*/ 209405 w 251286"/>
              <a:gd name="connsiteY17" fmla="*/ 1598454 h 5577142"/>
              <a:gd name="connsiteX18" fmla="*/ 202425 w 251286"/>
              <a:gd name="connsiteY18" fmla="*/ 1891621 h 5577142"/>
              <a:gd name="connsiteX19" fmla="*/ 174504 w 251286"/>
              <a:gd name="connsiteY19" fmla="*/ 2024244 h 5577142"/>
              <a:gd name="connsiteX20" fmla="*/ 160544 w 251286"/>
              <a:gd name="connsiteY20" fmla="*/ 2108006 h 5577142"/>
              <a:gd name="connsiteX21" fmla="*/ 146583 w 251286"/>
              <a:gd name="connsiteY21" fmla="*/ 2156867 h 5577142"/>
              <a:gd name="connsiteX22" fmla="*/ 111683 w 251286"/>
              <a:gd name="connsiteY22" fmla="*/ 2261569 h 5577142"/>
              <a:gd name="connsiteX23" fmla="*/ 90742 w 251286"/>
              <a:gd name="connsiteY23" fmla="*/ 2366271 h 5577142"/>
              <a:gd name="connsiteX24" fmla="*/ 76782 w 251286"/>
              <a:gd name="connsiteY24" fmla="*/ 2401172 h 5577142"/>
              <a:gd name="connsiteX25" fmla="*/ 69802 w 251286"/>
              <a:gd name="connsiteY25" fmla="*/ 2436073 h 5577142"/>
              <a:gd name="connsiteX26" fmla="*/ 55841 w 251286"/>
              <a:gd name="connsiteY26" fmla="*/ 2533795 h 5577142"/>
              <a:gd name="connsiteX27" fmla="*/ 55841 w 251286"/>
              <a:gd name="connsiteY27" fmla="*/ 3029386 h 5577142"/>
              <a:gd name="connsiteX28" fmla="*/ 76782 w 251286"/>
              <a:gd name="connsiteY28" fmla="*/ 3092207 h 5577142"/>
              <a:gd name="connsiteX29" fmla="*/ 90742 w 251286"/>
              <a:gd name="connsiteY29" fmla="*/ 3141068 h 5577142"/>
              <a:gd name="connsiteX30" fmla="*/ 104702 w 251286"/>
              <a:gd name="connsiteY30" fmla="*/ 3196909 h 5577142"/>
              <a:gd name="connsiteX31" fmla="*/ 146583 w 251286"/>
              <a:gd name="connsiteY31" fmla="*/ 3301612 h 5577142"/>
              <a:gd name="connsiteX32" fmla="*/ 160544 w 251286"/>
              <a:gd name="connsiteY32" fmla="*/ 3371413 h 5577142"/>
              <a:gd name="connsiteX33" fmla="*/ 188464 w 251286"/>
              <a:gd name="connsiteY33" fmla="*/ 3448195 h 5577142"/>
              <a:gd name="connsiteX34" fmla="*/ 202425 w 251286"/>
              <a:gd name="connsiteY34" fmla="*/ 3497056 h 5577142"/>
              <a:gd name="connsiteX35" fmla="*/ 230345 w 251286"/>
              <a:gd name="connsiteY35" fmla="*/ 3594778 h 5577142"/>
              <a:gd name="connsiteX36" fmla="*/ 237325 w 251286"/>
              <a:gd name="connsiteY36" fmla="*/ 3643639 h 5577142"/>
              <a:gd name="connsiteX37" fmla="*/ 251286 w 251286"/>
              <a:gd name="connsiteY37" fmla="*/ 3769282 h 5577142"/>
              <a:gd name="connsiteX38" fmla="*/ 244306 w 251286"/>
              <a:gd name="connsiteY38" fmla="*/ 4076409 h 5577142"/>
              <a:gd name="connsiteX39" fmla="*/ 237325 w 251286"/>
              <a:gd name="connsiteY39" fmla="*/ 4111309 h 5577142"/>
              <a:gd name="connsiteX40" fmla="*/ 223365 w 251286"/>
              <a:gd name="connsiteY40" fmla="*/ 4209032 h 5577142"/>
              <a:gd name="connsiteX41" fmla="*/ 216385 w 251286"/>
              <a:gd name="connsiteY41" fmla="*/ 4243932 h 5577142"/>
              <a:gd name="connsiteX42" fmla="*/ 202425 w 251286"/>
              <a:gd name="connsiteY42" fmla="*/ 4299774 h 5577142"/>
              <a:gd name="connsiteX43" fmla="*/ 195444 w 251286"/>
              <a:gd name="connsiteY43" fmla="*/ 4355615 h 5577142"/>
              <a:gd name="connsiteX44" fmla="*/ 181484 w 251286"/>
              <a:gd name="connsiteY44" fmla="*/ 4404476 h 5577142"/>
              <a:gd name="connsiteX45" fmla="*/ 167524 w 251286"/>
              <a:gd name="connsiteY45" fmla="*/ 4474277 h 5577142"/>
              <a:gd name="connsiteX46" fmla="*/ 153564 w 251286"/>
              <a:gd name="connsiteY46" fmla="*/ 4578980 h 5577142"/>
              <a:gd name="connsiteX47" fmla="*/ 132623 w 251286"/>
              <a:gd name="connsiteY47" fmla="*/ 4739523 h 5577142"/>
              <a:gd name="connsiteX48" fmla="*/ 125643 w 251286"/>
              <a:gd name="connsiteY48" fmla="*/ 5095511 h 5577142"/>
              <a:gd name="connsiteX49" fmla="*/ 118663 w 251286"/>
              <a:gd name="connsiteY49" fmla="*/ 5151352 h 5577142"/>
              <a:gd name="connsiteX50" fmla="*/ 111683 w 251286"/>
              <a:gd name="connsiteY50" fmla="*/ 5242094 h 5577142"/>
              <a:gd name="connsiteX51" fmla="*/ 104702 w 251286"/>
              <a:gd name="connsiteY51" fmla="*/ 5423578 h 5577142"/>
              <a:gd name="connsiteX52" fmla="*/ 97722 w 251286"/>
              <a:gd name="connsiteY52" fmla="*/ 5493380 h 5577142"/>
              <a:gd name="connsiteX53" fmla="*/ 90742 w 251286"/>
              <a:gd name="connsiteY53" fmla="*/ 5528280 h 5577142"/>
              <a:gd name="connsiteX54" fmla="*/ 83762 w 251286"/>
              <a:gd name="connsiteY54" fmla="*/ 5577142 h 5577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51286" h="5577142">
                <a:moveTo>
                  <a:pt x="69802" y="0"/>
                </a:moveTo>
                <a:cubicBezTo>
                  <a:pt x="65511" y="81539"/>
                  <a:pt x="65158" y="127891"/>
                  <a:pt x="55841" y="202424"/>
                </a:cubicBezTo>
                <a:cubicBezTo>
                  <a:pt x="54085" y="216468"/>
                  <a:pt x="51013" y="230317"/>
                  <a:pt x="48861" y="244305"/>
                </a:cubicBezTo>
                <a:cubicBezTo>
                  <a:pt x="39015" y="308305"/>
                  <a:pt x="48824" y="275807"/>
                  <a:pt x="27921" y="328067"/>
                </a:cubicBezTo>
                <a:cubicBezTo>
                  <a:pt x="25594" y="358314"/>
                  <a:pt x="24592" y="388693"/>
                  <a:pt x="20941" y="418809"/>
                </a:cubicBezTo>
                <a:cubicBezTo>
                  <a:pt x="15279" y="465522"/>
                  <a:pt x="0" y="558412"/>
                  <a:pt x="0" y="558412"/>
                </a:cubicBezTo>
                <a:cubicBezTo>
                  <a:pt x="2327" y="625887"/>
                  <a:pt x="3690" y="693401"/>
                  <a:pt x="6980" y="760836"/>
                </a:cubicBezTo>
                <a:cubicBezTo>
                  <a:pt x="8099" y="783782"/>
                  <a:pt x="14243" y="862202"/>
                  <a:pt x="20941" y="893459"/>
                </a:cubicBezTo>
                <a:cubicBezTo>
                  <a:pt x="34220" y="955431"/>
                  <a:pt x="33648" y="927153"/>
                  <a:pt x="48861" y="984201"/>
                </a:cubicBezTo>
                <a:cubicBezTo>
                  <a:pt x="54388" y="1004928"/>
                  <a:pt x="56929" y="1026396"/>
                  <a:pt x="62822" y="1047022"/>
                </a:cubicBezTo>
                <a:cubicBezTo>
                  <a:pt x="66264" y="1059070"/>
                  <a:pt x="73097" y="1069947"/>
                  <a:pt x="76782" y="1081923"/>
                </a:cubicBezTo>
                <a:cubicBezTo>
                  <a:pt x="82424" y="1100261"/>
                  <a:pt x="85471" y="1119316"/>
                  <a:pt x="90742" y="1137764"/>
                </a:cubicBezTo>
                <a:cubicBezTo>
                  <a:pt x="133050" y="1285845"/>
                  <a:pt x="74194" y="1061747"/>
                  <a:pt x="118663" y="1228506"/>
                </a:cubicBezTo>
                <a:cubicBezTo>
                  <a:pt x="123607" y="1247045"/>
                  <a:pt x="126556" y="1266146"/>
                  <a:pt x="132623" y="1284348"/>
                </a:cubicBezTo>
                <a:cubicBezTo>
                  <a:pt x="138226" y="1301158"/>
                  <a:pt x="146584" y="1316922"/>
                  <a:pt x="153564" y="1333209"/>
                </a:cubicBezTo>
                <a:cubicBezTo>
                  <a:pt x="184973" y="1482407"/>
                  <a:pt x="169073" y="1422393"/>
                  <a:pt x="195444" y="1514693"/>
                </a:cubicBezTo>
                <a:cubicBezTo>
                  <a:pt x="197771" y="1533307"/>
                  <a:pt x="199341" y="1552031"/>
                  <a:pt x="202425" y="1570534"/>
                </a:cubicBezTo>
                <a:cubicBezTo>
                  <a:pt x="204002" y="1579997"/>
                  <a:pt x="209405" y="1588861"/>
                  <a:pt x="209405" y="1598454"/>
                </a:cubicBezTo>
                <a:cubicBezTo>
                  <a:pt x="209405" y="1696204"/>
                  <a:pt x="207847" y="1794021"/>
                  <a:pt x="202425" y="1891621"/>
                </a:cubicBezTo>
                <a:cubicBezTo>
                  <a:pt x="198736" y="1958026"/>
                  <a:pt x="188427" y="1968552"/>
                  <a:pt x="174504" y="2024244"/>
                </a:cubicBezTo>
                <a:cubicBezTo>
                  <a:pt x="157752" y="2091254"/>
                  <a:pt x="178279" y="2025245"/>
                  <a:pt x="160544" y="2108006"/>
                </a:cubicBezTo>
                <a:cubicBezTo>
                  <a:pt x="156995" y="2124569"/>
                  <a:pt x="150948" y="2140500"/>
                  <a:pt x="146583" y="2156867"/>
                </a:cubicBezTo>
                <a:cubicBezTo>
                  <a:pt x="125102" y="2237421"/>
                  <a:pt x="143158" y="2188125"/>
                  <a:pt x="111683" y="2261569"/>
                </a:cubicBezTo>
                <a:cubicBezTo>
                  <a:pt x="105068" y="2307872"/>
                  <a:pt x="105101" y="2319602"/>
                  <a:pt x="90742" y="2366271"/>
                </a:cubicBezTo>
                <a:cubicBezTo>
                  <a:pt x="87057" y="2378247"/>
                  <a:pt x="80382" y="2389171"/>
                  <a:pt x="76782" y="2401172"/>
                </a:cubicBezTo>
                <a:cubicBezTo>
                  <a:pt x="73373" y="2412536"/>
                  <a:pt x="71924" y="2424400"/>
                  <a:pt x="69802" y="2436073"/>
                </a:cubicBezTo>
                <a:cubicBezTo>
                  <a:pt x="61752" y="2480350"/>
                  <a:pt x="61909" y="2485260"/>
                  <a:pt x="55841" y="2533795"/>
                </a:cubicBezTo>
                <a:cubicBezTo>
                  <a:pt x="45575" y="2728855"/>
                  <a:pt x="39607" y="2781818"/>
                  <a:pt x="55841" y="3029386"/>
                </a:cubicBezTo>
                <a:cubicBezTo>
                  <a:pt x="57285" y="3051412"/>
                  <a:pt x="70198" y="3071139"/>
                  <a:pt x="76782" y="3092207"/>
                </a:cubicBezTo>
                <a:cubicBezTo>
                  <a:pt x="81834" y="3108375"/>
                  <a:pt x="86378" y="3124701"/>
                  <a:pt x="90742" y="3141068"/>
                </a:cubicBezTo>
                <a:cubicBezTo>
                  <a:pt x="95686" y="3159607"/>
                  <a:pt x="98979" y="3178596"/>
                  <a:pt x="104702" y="3196909"/>
                </a:cubicBezTo>
                <a:cubicBezTo>
                  <a:pt x="115147" y="3230334"/>
                  <a:pt x="132713" y="3269248"/>
                  <a:pt x="146583" y="3301612"/>
                </a:cubicBezTo>
                <a:cubicBezTo>
                  <a:pt x="151237" y="3324879"/>
                  <a:pt x="154025" y="3348598"/>
                  <a:pt x="160544" y="3371413"/>
                </a:cubicBezTo>
                <a:cubicBezTo>
                  <a:pt x="168026" y="3397599"/>
                  <a:pt x="179852" y="3422359"/>
                  <a:pt x="188464" y="3448195"/>
                </a:cubicBezTo>
                <a:cubicBezTo>
                  <a:pt x="193821" y="3464265"/>
                  <a:pt x="197443" y="3480866"/>
                  <a:pt x="202425" y="3497056"/>
                </a:cubicBezTo>
                <a:cubicBezTo>
                  <a:pt x="217630" y="3546471"/>
                  <a:pt x="219104" y="3538571"/>
                  <a:pt x="230345" y="3594778"/>
                </a:cubicBezTo>
                <a:cubicBezTo>
                  <a:pt x="233572" y="3610911"/>
                  <a:pt x="235365" y="3627304"/>
                  <a:pt x="237325" y="3643639"/>
                </a:cubicBezTo>
                <a:cubicBezTo>
                  <a:pt x="242346" y="3685478"/>
                  <a:pt x="251286" y="3769282"/>
                  <a:pt x="251286" y="3769282"/>
                </a:cubicBezTo>
                <a:cubicBezTo>
                  <a:pt x="248959" y="3871658"/>
                  <a:pt x="248482" y="3974092"/>
                  <a:pt x="244306" y="4076409"/>
                </a:cubicBezTo>
                <a:cubicBezTo>
                  <a:pt x="243822" y="4088263"/>
                  <a:pt x="239129" y="4099583"/>
                  <a:pt x="237325" y="4111309"/>
                </a:cubicBezTo>
                <a:cubicBezTo>
                  <a:pt x="222149" y="4209947"/>
                  <a:pt x="238288" y="4126955"/>
                  <a:pt x="223365" y="4209032"/>
                </a:cubicBezTo>
                <a:cubicBezTo>
                  <a:pt x="221243" y="4220704"/>
                  <a:pt x="219053" y="4232372"/>
                  <a:pt x="216385" y="4243932"/>
                </a:cubicBezTo>
                <a:cubicBezTo>
                  <a:pt x="212071" y="4262628"/>
                  <a:pt x="205961" y="4280916"/>
                  <a:pt x="202425" y="4299774"/>
                </a:cubicBezTo>
                <a:cubicBezTo>
                  <a:pt x="198968" y="4318211"/>
                  <a:pt x="199123" y="4337221"/>
                  <a:pt x="195444" y="4355615"/>
                </a:cubicBezTo>
                <a:cubicBezTo>
                  <a:pt x="192122" y="4372225"/>
                  <a:pt x="185364" y="4387988"/>
                  <a:pt x="181484" y="4404476"/>
                </a:cubicBezTo>
                <a:cubicBezTo>
                  <a:pt x="176049" y="4427573"/>
                  <a:pt x="171425" y="4450872"/>
                  <a:pt x="167524" y="4474277"/>
                </a:cubicBezTo>
                <a:cubicBezTo>
                  <a:pt x="145598" y="4605838"/>
                  <a:pt x="179201" y="4399523"/>
                  <a:pt x="153564" y="4578980"/>
                </a:cubicBezTo>
                <a:cubicBezTo>
                  <a:pt x="130831" y="4738108"/>
                  <a:pt x="146294" y="4589142"/>
                  <a:pt x="132623" y="4739523"/>
                </a:cubicBezTo>
                <a:cubicBezTo>
                  <a:pt x="130296" y="4858186"/>
                  <a:pt x="129664" y="4976894"/>
                  <a:pt x="125643" y="5095511"/>
                </a:cubicBezTo>
                <a:cubicBezTo>
                  <a:pt x="125007" y="5114259"/>
                  <a:pt x="120441" y="5132678"/>
                  <a:pt x="118663" y="5151352"/>
                </a:cubicBezTo>
                <a:cubicBezTo>
                  <a:pt x="115787" y="5181552"/>
                  <a:pt x="113237" y="5211797"/>
                  <a:pt x="111683" y="5242094"/>
                </a:cubicBezTo>
                <a:cubicBezTo>
                  <a:pt x="108582" y="5302554"/>
                  <a:pt x="108060" y="5363132"/>
                  <a:pt x="104702" y="5423578"/>
                </a:cubicBezTo>
                <a:cubicBezTo>
                  <a:pt x="103405" y="5446925"/>
                  <a:pt x="100812" y="5470202"/>
                  <a:pt x="97722" y="5493380"/>
                </a:cubicBezTo>
                <a:cubicBezTo>
                  <a:pt x="96154" y="5505140"/>
                  <a:pt x="92692" y="5516578"/>
                  <a:pt x="90742" y="5528280"/>
                </a:cubicBezTo>
                <a:cubicBezTo>
                  <a:pt x="88037" y="5544509"/>
                  <a:pt x="86089" y="5560855"/>
                  <a:pt x="83762" y="557714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A817F5B-AFCD-1177-8F36-C53ACC19B756}"/>
              </a:ext>
            </a:extLst>
          </p:cNvPr>
          <p:cNvSpPr txBox="1"/>
          <p:nvPr/>
        </p:nvSpPr>
        <p:spPr>
          <a:xfrm>
            <a:off x="1289677" y="289633"/>
            <a:ext cx="41229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7BA17C07-00DF-18FA-8D23-C43E84F2F789}"/>
              </a:ext>
            </a:extLst>
          </p:cNvPr>
          <p:cNvCxnSpPr>
            <a:cxnSpLocks/>
            <a:stCxn id="77" idx="3"/>
            <a:endCxn id="72" idx="3"/>
          </p:cNvCxnSpPr>
          <p:nvPr/>
        </p:nvCxnSpPr>
        <p:spPr>
          <a:xfrm flipH="1" flipV="1">
            <a:off x="8081780" y="2689687"/>
            <a:ext cx="12700" cy="2368847"/>
          </a:xfrm>
          <a:prstGeom prst="bentConnector3">
            <a:avLst>
              <a:gd name="adj1" fmla="val -1800000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B0B23FF2-B647-866F-74AB-B6429273F196}"/>
              </a:ext>
            </a:extLst>
          </p:cNvPr>
          <p:cNvCxnSpPr>
            <a:cxnSpLocks/>
          </p:cNvCxnSpPr>
          <p:nvPr/>
        </p:nvCxnSpPr>
        <p:spPr>
          <a:xfrm flipV="1">
            <a:off x="8081780" y="1054005"/>
            <a:ext cx="12700" cy="1443728"/>
          </a:xfrm>
          <a:prstGeom prst="bentConnector3">
            <a:avLst>
              <a:gd name="adj1" fmla="val 1800000"/>
            </a:avLst>
          </a:prstGeom>
          <a:ln w="254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EF51BDD0-703B-A7C2-EE42-C15C1AAD633E}"/>
              </a:ext>
            </a:extLst>
          </p:cNvPr>
          <p:cNvSpPr/>
          <p:nvPr/>
        </p:nvSpPr>
        <p:spPr>
          <a:xfrm>
            <a:off x="6495534" y="619490"/>
            <a:ext cx="211444" cy="5591102"/>
          </a:xfrm>
          <a:custGeom>
            <a:avLst/>
            <a:gdLst>
              <a:gd name="connsiteX0" fmla="*/ 78821 w 211444"/>
              <a:gd name="connsiteY0" fmla="*/ 0 h 5591102"/>
              <a:gd name="connsiteX1" fmla="*/ 92781 w 211444"/>
              <a:gd name="connsiteY1" fmla="*/ 34900 h 5591102"/>
              <a:gd name="connsiteX2" fmla="*/ 99761 w 211444"/>
              <a:gd name="connsiteY2" fmla="*/ 55841 h 5591102"/>
              <a:gd name="connsiteX3" fmla="*/ 113721 w 211444"/>
              <a:gd name="connsiteY3" fmla="*/ 83762 h 5591102"/>
              <a:gd name="connsiteX4" fmla="*/ 120702 w 211444"/>
              <a:gd name="connsiteY4" fmla="*/ 104702 h 5591102"/>
              <a:gd name="connsiteX5" fmla="*/ 148622 w 211444"/>
              <a:gd name="connsiteY5" fmla="*/ 160543 h 5591102"/>
              <a:gd name="connsiteX6" fmla="*/ 162582 w 211444"/>
              <a:gd name="connsiteY6" fmla="*/ 188464 h 5591102"/>
              <a:gd name="connsiteX7" fmla="*/ 176543 w 211444"/>
              <a:gd name="connsiteY7" fmla="*/ 258265 h 5591102"/>
              <a:gd name="connsiteX8" fmla="*/ 183523 w 211444"/>
              <a:gd name="connsiteY8" fmla="*/ 286186 h 5591102"/>
              <a:gd name="connsiteX9" fmla="*/ 190503 w 211444"/>
              <a:gd name="connsiteY9" fmla="*/ 369948 h 5591102"/>
              <a:gd name="connsiteX10" fmla="*/ 176543 w 211444"/>
              <a:gd name="connsiteY10" fmla="*/ 544452 h 5591102"/>
              <a:gd name="connsiteX11" fmla="*/ 162582 w 211444"/>
              <a:gd name="connsiteY11" fmla="*/ 593313 h 5591102"/>
              <a:gd name="connsiteX12" fmla="*/ 148622 w 211444"/>
              <a:gd name="connsiteY12" fmla="*/ 684055 h 5591102"/>
              <a:gd name="connsiteX13" fmla="*/ 134662 w 211444"/>
              <a:gd name="connsiteY13" fmla="*/ 711975 h 5591102"/>
              <a:gd name="connsiteX14" fmla="*/ 113721 w 211444"/>
              <a:gd name="connsiteY14" fmla="*/ 802717 h 5591102"/>
              <a:gd name="connsiteX15" fmla="*/ 106741 w 211444"/>
              <a:gd name="connsiteY15" fmla="*/ 844598 h 5591102"/>
              <a:gd name="connsiteX16" fmla="*/ 78821 w 211444"/>
              <a:gd name="connsiteY16" fmla="*/ 921380 h 5591102"/>
              <a:gd name="connsiteX17" fmla="*/ 71840 w 211444"/>
              <a:gd name="connsiteY17" fmla="*/ 970241 h 5591102"/>
              <a:gd name="connsiteX18" fmla="*/ 57880 w 211444"/>
              <a:gd name="connsiteY18" fmla="*/ 998162 h 5591102"/>
              <a:gd name="connsiteX19" fmla="*/ 50900 w 211444"/>
              <a:gd name="connsiteY19" fmla="*/ 1054003 h 5591102"/>
              <a:gd name="connsiteX20" fmla="*/ 36940 w 211444"/>
              <a:gd name="connsiteY20" fmla="*/ 1137765 h 5591102"/>
              <a:gd name="connsiteX21" fmla="*/ 22979 w 211444"/>
              <a:gd name="connsiteY21" fmla="*/ 1193606 h 5591102"/>
              <a:gd name="connsiteX22" fmla="*/ 15999 w 211444"/>
              <a:gd name="connsiteY22" fmla="*/ 1242467 h 5591102"/>
              <a:gd name="connsiteX23" fmla="*/ 9019 w 211444"/>
              <a:gd name="connsiteY23" fmla="*/ 1284348 h 5591102"/>
              <a:gd name="connsiteX24" fmla="*/ 9019 w 211444"/>
              <a:gd name="connsiteY24" fmla="*/ 1738058 h 5591102"/>
              <a:gd name="connsiteX25" fmla="*/ 22979 w 211444"/>
              <a:gd name="connsiteY25" fmla="*/ 1863700 h 5591102"/>
              <a:gd name="connsiteX26" fmla="*/ 29960 w 211444"/>
              <a:gd name="connsiteY26" fmla="*/ 1912562 h 5591102"/>
              <a:gd name="connsiteX27" fmla="*/ 43920 w 211444"/>
              <a:gd name="connsiteY27" fmla="*/ 1954442 h 5591102"/>
              <a:gd name="connsiteX28" fmla="*/ 71840 w 211444"/>
              <a:gd name="connsiteY28" fmla="*/ 2094045 h 5591102"/>
              <a:gd name="connsiteX29" fmla="*/ 92781 w 211444"/>
              <a:gd name="connsiteY29" fmla="*/ 2156867 h 5591102"/>
              <a:gd name="connsiteX30" fmla="*/ 127682 w 211444"/>
              <a:gd name="connsiteY30" fmla="*/ 2268549 h 5591102"/>
              <a:gd name="connsiteX31" fmla="*/ 155602 w 211444"/>
              <a:gd name="connsiteY31" fmla="*/ 2380232 h 5591102"/>
              <a:gd name="connsiteX32" fmla="*/ 162582 w 211444"/>
              <a:gd name="connsiteY32" fmla="*/ 2436073 h 5591102"/>
              <a:gd name="connsiteX33" fmla="*/ 183523 w 211444"/>
              <a:gd name="connsiteY33" fmla="*/ 2512855 h 5591102"/>
              <a:gd name="connsiteX34" fmla="*/ 190503 w 211444"/>
              <a:gd name="connsiteY34" fmla="*/ 2575676 h 5591102"/>
              <a:gd name="connsiteX35" fmla="*/ 204463 w 211444"/>
              <a:gd name="connsiteY35" fmla="*/ 2631517 h 5591102"/>
              <a:gd name="connsiteX36" fmla="*/ 211444 w 211444"/>
              <a:gd name="connsiteY36" fmla="*/ 2743200 h 5591102"/>
              <a:gd name="connsiteX37" fmla="*/ 204463 w 211444"/>
              <a:gd name="connsiteY37" fmla="*/ 3029386 h 5591102"/>
              <a:gd name="connsiteX38" fmla="*/ 197483 w 211444"/>
              <a:gd name="connsiteY38" fmla="*/ 3064287 h 5591102"/>
              <a:gd name="connsiteX39" fmla="*/ 183523 w 211444"/>
              <a:gd name="connsiteY39" fmla="*/ 3217850 h 5591102"/>
              <a:gd name="connsiteX40" fmla="*/ 169563 w 211444"/>
              <a:gd name="connsiteY40" fmla="*/ 3273691 h 5591102"/>
              <a:gd name="connsiteX41" fmla="*/ 155602 w 211444"/>
              <a:gd name="connsiteY41" fmla="*/ 3364433 h 5591102"/>
              <a:gd name="connsiteX42" fmla="*/ 141642 w 211444"/>
              <a:gd name="connsiteY42" fmla="*/ 3399334 h 5591102"/>
              <a:gd name="connsiteX43" fmla="*/ 134662 w 211444"/>
              <a:gd name="connsiteY43" fmla="*/ 3455175 h 5591102"/>
              <a:gd name="connsiteX44" fmla="*/ 127682 w 211444"/>
              <a:gd name="connsiteY44" fmla="*/ 3497056 h 5591102"/>
              <a:gd name="connsiteX45" fmla="*/ 120702 w 211444"/>
              <a:gd name="connsiteY45" fmla="*/ 3573838 h 5591102"/>
              <a:gd name="connsiteX46" fmla="*/ 113721 w 211444"/>
              <a:gd name="connsiteY46" fmla="*/ 3622699 h 5591102"/>
              <a:gd name="connsiteX47" fmla="*/ 106741 w 211444"/>
              <a:gd name="connsiteY47" fmla="*/ 3685520 h 5591102"/>
              <a:gd name="connsiteX48" fmla="*/ 113721 w 211444"/>
              <a:gd name="connsiteY48" fmla="*/ 3943786 h 5591102"/>
              <a:gd name="connsiteX49" fmla="*/ 120702 w 211444"/>
              <a:gd name="connsiteY49" fmla="*/ 4020568 h 5591102"/>
              <a:gd name="connsiteX50" fmla="*/ 127682 w 211444"/>
              <a:gd name="connsiteY50" fmla="*/ 4111310 h 5591102"/>
              <a:gd name="connsiteX51" fmla="*/ 134662 w 211444"/>
              <a:gd name="connsiteY51" fmla="*/ 4160171 h 5591102"/>
              <a:gd name="connsiteX52" fmla="*/ 148622 w 211444"/>
              <a:gd name="connsiteY52" fmla="*/ 4271853 h 5591102"/>
              <a:gd name="connsiteX53" fmla="*/ 162582 w 211444"/>
              <a:gd name="connsiteY53" fmla="*/ 4544079 h 5591102"/>
              <a:gd name="connsiteX54" fmla="*/ 155602 w 211444"/>
              <a:gd name="connsiteY54" fmla="*/ 5130412 h 5591102"/>
              <a:gd name="connsiteX55" fmla="*/ 155602 w 211444"/>
              <a:gd name="connsiteY55" fmla="*/ 5591102 h 559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11444" h="5591102">
                <a:moveTo>
                  <a:pt x="78821" y="0"/>
                </a:moveTo>
                <a:cubicBezTo>
                  <a:pt x="83474" y="11633"/>
                  <a:pt x="88382" y="23168"/>
                  <a:pt x="92781" y="34900"/>
                </a:cubicBezTo>
                <a:cubicBezTo>
                  <a:pt x="95364" y="41789"/>
                  <a:pt x="96863" y="49078"/>
                  <a:pt x="99761" y="55841"/>
                </a:cubicBezTo>
                <a:cubicBezTo>
                  <a:pt x="103860" y="65405"/>
                  <a:pt x="109622" y="74198"/>
                  <a:pt x="113721" y="83762"/>
                </a:cubicBezTo>
                <a:cubicBezTo>
                  <a:pt x="116619" y="90525"/>
                  <a:pt x="117657" y="98004"/>
                  <a:pt x="120702" y="104702"/>
                </a:cubicBezTo>
                <a:cubicBezTo>
                  <a:pt x="129314" y="123647"/>
                  <a:pt x="139315" y="141929"/>
                  <a:pt x="148622" y="160543"/>
                </a:cubicBezTo>
                <a:lnTo>
                  <a:pt x="162582" y="188464"/>
                </a:lnTo>
                <a:cubicBezTo>
                  <a:pt x="167236" y="211731"/>
                  <a:pt x="171571" y="235064"/>
                  <a:pt x="176543" y="258265"/>
                </a:cubicBezTo>
                <a:cubicBezTo>
                  <a:pt x="178553" y="267645"/>
                  <a:pt x="182333" y="276667"/>
                  <a:pt x="183523" y="286186"/>
                </a:cubicBezTo>
                <a:cubicBezTo>
                  <a:pt x="186998" y="313987"/>
                  <a:pt x="188176" y="342027"/>
                  <a:pt x="190503" y="369948"/>
                </a:cubicBezTo>
                <a:cubicBezTo>
                  <a:pt x="186561" y="440910"/>
                  <a:pt x="187905" y="481958"/>
                  <a:pt x="176543" y="544452"/>
                </a:cubicBezTo>
                <a:cubicBezTo>
                  <a:pt x="173037" y="563737"/>
                  <a:pt x="168564" y="575369"/>
                  <a:pt x="162582" y="593313"/>
                </a:cubicBezTo>
                <a:cubicBezTo>
                  <a:pt x="160872" y="606995"/>
                  <a:pt x="155017" y="664869"/>
                  <a:pt x="148622" y="684055"/>
                </a:cubicBezTo>
                <a:cubicBezTo>
                  <a:pt x="145332" y="693926"/>
                  <a:pt x="139315" y="702668"/>
                  <a:pt x="134662" y="711975"/>
                </a:cubicBezTo>
                <a:cubicBezTo>
                  <a:pt x="118459" y="825396"/>
                  <a:pt x="139273" y="700513"/>
                  <a:pt x="113721" y="802717"/>
                </a:cubicBezTo>
                <a:cubicBezTo>
                  <a:pt x="110288" y="816447"/>
                  <a:pt x="110174" y="830868"/>
                  <a:pt x="106741" y="844598"/>
                </a:cubicBezTo>
                <a:cubicBezTo>
                  <a:pt x="100767" y="868494"/>
                  <a:pt x="88072" y="898251"/>
                  <a:pt x="78821" y="921380"/>
                </a:cubicBezTo>
                <a:cubicBezTo>
                  <a:pt x="76494" y="937667"/>
                  <a:pt x="76169" y="954368"/>
                  <a:pt x="71840" y="970241"/>
                </a:cubicBezTo>
                <a:cubicBezTo>
                  <a:pt x="69102" y="980280"/>
                  <a:pt x="60404" y="988067"/>
                  <a:pt x="57880" y="998162"/>
                </a:cubicBezTo>
                <a:cubicBezTo>
                  <a:pt x="53330" y="1016360"/>
                  <a:pt x="53683" y="1035452"/>
                  <a:pt x="50900" y="1054003"/>
                </a:cubicBezTo>
                <a:cubicBezTo>
                  <a:pt x="46701" y="1081996"/>
                  <a:pt x="43806" y="1110304"/>
                  <a:pt x="36940" y="1137765"/>
                </a:cubicBezTo>
                <a:cubicBezTo>
                  <a:pt x="32286" y="1156379"/>
                  <a:pt x="26742" y="1174792"/>
                  <a:pt x="22979" y="1193606"/>
                </a:cubicBezTo>
                <a:cubicBezTo>
                  <a:pt x="19752" y="1209739"/>
                  <a:pt x="18501" y="1226206"/>
                  <a:pt x="15999" y="1242467"/>
                </a:cubicBezTo>
                <a:cubicBezTo>
                  <a:pt x="13847" y="1256455"/>
                  <a:pt x="11346" y="1270388"/>
                  <a:pt x="9019" y="1284348"/>
                </a:cubicBezTo>
                <a:cubicBezTo>
                  <a:pt x="-2100" y="1484498"/>
                  <a:pt x="-3881" y="1458555"/>
                  <a:pt x="9019" y="1738058"/>
                </a:cubicBezTo>
                <a:cubicBezTo>
                  <a:pt x="10962" y="1780152"/>
                  <a:pt x="17019" y="1821985"/>
                  <a:pt x="22979" y="1863700"/>
                </a:cubicBezTo>
                <a:cubicBezTo>
                  <a:pt x="25306" y="1879987"/>
                  <a:pt x="26260" y="1896531"/>
                  <a:pt x="29960" y="1912562"/>
                </a:cubicBezTo>
                <a:cubicBezTo>
                  <a:pt x="33269" y="1926900"/>
                  <a:pt x="40550" y="1940118"/>
                  <a:pt x="43920" y="1954442"/>
                </a:cubicBezTo>
                <a:cubicBezTo>
                  <a:pt x="63025" y="2035641"/>
                  <a:pt x="51158" y="2019591"/>
                  <a:pt x="71840" y="2094045"/>
                </a:cubicBezTo>
                <a:cubicBezTo>
                  <a:pt x="77748" y="2115313"/>
                  <a:pt x="87163" y="2135520"/>
                  <a:pt x="92781" y="2156867"/>
                </a:cubicBezTo>
                <a:cubicBezTo>
                  <a:pt x="121150" y="2264669"/>
                  <a:pt x="88665" y="2190516"/>
                  <a:pt x="127682" y="2268549"/>
                </a:cubicBezTo>
                <a:cubicBezTo>
                  <a:pt x="146000" y="2433418"/>
                  <a:pt x="118473" y="2240994"/>
                  <a:pt x="155602" y="2380232"/>
                </a:cubicBezTo>
                <a:cubicBezTo>
                  <a:pt x="160435" y="2398357"/>
                  <a:pt x="158718" y="2417717"/>
                  <a:pt x="162582" y="2436073"/>
                </a:cubicBezTo>
                <a:cubicBezTo>
                  <a:pt x="168047" y="2462033"/>
                  <a:pt x="176543" y="2487261"/>
                  <a:pt x="183523" y="2512855"/>
                </a:cubicBezTo>
                <a:cubicBezTo>
                  <a:pt x="185850" y="2533795"/>
                  <a:pt x="186842" y="2554927"/>
                  <a:pt x="190503" y="2575676"/>
                </a:cubicBezTo>
                <a:cubicBezTo>
                  <a:pt x="193837" y="2594571"/>
                  <a:pt x="202083" y="2612479"/>
                  <a:pt x="204463" y="2631517"/>
                </a:cubicBezTo>
                <a:cubicBezTo>
                  <a:pt x="209090" y="2668529"/>
                  <a:pt x="209117" y="2705972"/>
                  <a:pt x="211444" y="2743200"/>
                </a:cubicBezTo>
                <a:cubicBezTo>
                  <a:pt x="209117" y="2838595"/>
                  <a:pt x="208608" y="2934052"/>
                  <a:pt x="204463" y="3029386"/>
                </a:cubicBezTo>
                <a:cubicBezTo>
                  <a:pt x="203948" y="3041239"/>
                  <a:pt x="198663" y="3052482"/>
                  <a:pt x="197483" y="3064287"/>
                </a:cubicBezTo>
                <a:cubicBezTo>
                  <a:pt x="191477" y="3124350"/>
                  <a:pt x="194477" y="3163080"/>
                  <a:pt x="183523" y="3217850"/>
                </a:cubicBezTo>
                <a:cubicBezTo>
                  <a:pt x="179760" y="3236664"/>
                  <a:pt x="173326" y="3254877"/>
                  <a:pt x="169563" y="3273691"/>
                </a:cubicBezTo>
                <a:cubicBezTo>
                  <a:pt x="166814" y="3287434"/>
                  <a:pt x="159924" y="3348586"/>
                  <a:pt x="155602" y="3364433"/>
                </a:cubicBezTo>
                <a:cubicBezTo>
                  <a:pt x="152305" y="3376521"/>
                  <a:pt x="146295" y="3387700"/>
                  <a:pt x="141642" y="3399334"/>
                </a:cubicBezTo>
                <a:cubicBezTo>
                  <a:pt x="139315" y="3417948"/>
                  <a:pt x="137315" y="3436605"/>
                  <a:pt x="134662" y="3455175"/>
                </a:cubicBezTo>
                <a:cubicBezTo>
                  <a:pt x="132661" y="3469186"/>
                  <a:pt x="129336" y="3483000"/>
                  <a:pt x="127682" y="3497056"/>
                </a:cubicBezTo>
                <a:cubicBezTo>
                  <a:pt x="124679" y="3522580"/>
                  <a:pt x="123540" y="3548296"/>
                  <a:pt x="120702" y="3573838"/>
                </a:cubicBezTo>
                <a:cubicBezTo>
                  <a:pt x="118885" y="3590190"/>
                  <a:pt x="115762" y="3606374"/>
                  <a:pt x="113721" y="3622699"/>
                </a:cubicBezTo>
                <a:cubicBezTo>
                  <a:pt x="111108" y="3643605"/>
                  <a:pt x="109068" y="3664580"/>
                  <a:pt x="106741" y="3685520"/>
                </a:cubicBezTo>
                <a:cubicBezTo>
                  <a:pt x="109068" y="3771609"/>
                  <a:pt x="110136" y="3857741"/>
                  <a:pt x="113721" y="3943786"/>
                </a:cubicBezTo>
                <a:cubicBezTo>
                  <a:pt x="114791" y="3969463"/>
                  <a:pt x="118568" y="3994957"/>
                  <a:pt x="120702" y="4020568"/>
                </a:cubicBezTo>
                <a:cubicBezTo>
                  <a:pt x="123221" y="4050800"/>
                  <a:pt x="124663" y="4081124"/>
                  <a:pt x="127682" y="4111310"/>
                </a:cubicBezTo>
                <a:cubicBezTo>
                  <a:pt x="129319" y="4127681"/>
                  <a:pt x="132621" y="4143846"/>
                  <a:pt x="134662" y="4160171"/>
                </a:cubicBezTo>
                <a:cubicBezTo>
                  <a:pt x="152256" y="4300923"/>
                  <a:pt x="131793" y="4154049"/>
                  <a:pt x="148622" y="4271853"/>
                </a:cubicBezTo>
                <a:cubicBezTo>
                  <a:pt x="150619" y="4307804"/>
                  <a:pt x="162582" y="4517154"/>
                  <a:pt x="162582" y="4544079"/>
                </a:cubicBezTo>
                <a:cubicBezTo>
                  <a:pt x="162582" y="4739537"/>
                  <a:pt x="156905" y="4934958"/>
                  <a:pt x="155602" y="5130412"/>
                </a:cubicBezTo>
                <a:cubicBezTo>
                  <a:pt x="154578" y="5283972"/>
                  <a:pt x="155602" y="5437539"/>
                  <a:pt x="155602" y="5591102"/>
                </a:cubicBezTo>
              </a:path>
            </a:pathLst>
          </a:custGeom>
          <a:noFill/>
          <a:ln w="50800">
            <a:solidFill>
              <a:schemeClr val="tx1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34524A1-CF36-668B-3068-B544F41AE981}"/>
              </a:ext>
            </a:extLst>
          </p:cNvPr>
          <p:cNvSpPr txBox="1"/>
          <p:nvPr/>
        </p:nvSpPr>
        <p:spPr>
          <a:xfrm>
            <a:off x="6282358" y="22810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t202</a:t>
            </a:r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DC9383F0-D8C4-1CF9-0312-361A12F119C5}"/>
              </a:ext>
            </a:extLst>
          </p:cNvPr>
          <p:cNvSpPr/>
          <p:nvPr/>
        </p:nvSpPr>
        <p:spPr>
          <a:xfrm>
            <a:off x="6367184" y="820167"/>
            <a:ext cx="527973" cy="8376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Fault executed</a:t>
            </a:r>
            <a:endParaRPr lang="ko-KR" altLang="en-US" sz="140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EAF313C-D32C-56D7-FCB6-464CBC8F1037}"/>
              </a:ext>
            </a:extLst>
          </p:cNvPr>
          <p:cNvSpPr/>
          <p:nvPr/>
        </p:nvSpPr>
        <p:spPr>
          <a:xfrm>
            <a:off x="6367184" y="2263895"/>
            <a:ext cx="527973" cy="837619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/>
              <a:t>Error occurred</a:t>
            </a:r>
            <a:endParaRPr lang="ko-KR" altLang="en-US" sz="1400"/>
          </a:p>
        </p:txBody>
      </p:sp>
      <p:pic>
        <p:nvPicPr>
          <p:cNvPr id="5122" name="Picture 2" descr="Silhouette Of A Man Thinking - Thinking Man Clipart, HD Png Download -  kindpng">
            <a:extLst>
              <a:ext uri="{FF2B5EF4-FFF2-40B4-BE49-F238E27FC236}">
                <a16:creationId xmlns:a16="http://schemas.microsoft.com/office/drawing/2014/main" id="{E8AC1E5D-C308-7971-FDF0-0499971A2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1541" y="4153788"/>
            <a:ext cx="702464" cy="114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133249-8EC1-932E-F1B6-F6997BC3A07E}"/>
              </a:ext>
            </a:extLst>
          </p:cNvPr>
          <p:cNvSpPr txBox="1"/>
          <p:nvPr/>
        </p:nvSpPr>
        <p:spPr>
          <a:xfrm>
            <a:off x="2446181" y="1863078"/>
            <a:ext cx="1488934" cy="40011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Reachability</a:t>
            </a:r>
            <a:endParaRPr lang="ko-KR" altLang="en-US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A6BB1-BA21-81BF-8577-8FBC9B1FEDB5}"/>
              </a:ext>
            </a:extLst>
          </p:cNvPr>
          <p:cNvSpPr txBox="1"/>
          <p:nvPr/>
        </p:nvSpPr>
        <p:spPr>
          <a:xfrm>
            <a:off x="5255371" y="3238788"/>
            <a:ext cx="1488934" cy="707886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Reachability</a:t>
            </a:r>
          </a:p>
          <a:p>
            <a:r>
              <a:rPr lang="en-US" altLang="ko-KR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Infection</a:t>
            </a:r>
            <a:endParaRPr lang="ko-KR" altLang="en-US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A6752-E2CC-9537-1BD4-3E66487BDEE2}"/>
              </a:ext>
            </a:extLst>
          </p:cNvPr>
          <p:cNvSpPr txBox="1"/>
          <p:nvPr/>
        </p:nvSpPr>
        <p:spPr>
          <a:xfrm>
            <a:off x="7088454" y="5546901"/>
            <a:ext cx="1757148" cy="1323439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Reachability</a:t>
            </a:r>
          </a:p>
          <a:p>
            <a:r>
              <a:rPr lang="en-US" altLang="ko-KR">
                <a:solidFill>
                  <a:srgbClr val="FFC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Infection </a:t>
            </a:r>
            <a:br>
              <a:rPr lang="en-US" altLang="ko-KR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Propergation</a:t>
            </a:r>
            <a:br>
              <a:rPr lang="en-US" altLang="ko-KR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(+Revelation)</a:t>
            </a:r>
            <a:endParaRPr lang="ko-KR" altLang="en-US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748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696A5-EB33-351D-ADCD-6CA3101A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A981E7-CBEF-034E-0F91-DCA8F7FB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615F1-BE20-4A0F-43F6-352C55EE3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34C515-6F76-4834-BC94-A4C2B94A0A22}" type="slidenum">
              <a:rPr kumimoji="0" lang="en-US" altLang="ko-KR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itchFamily="34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949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CD27B9F-CD58-4237-910F-E66EB3D5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08" y="249724"/>
            <a:ext cx="7333913" cy="687276"/>
          </a:xfrm>
          <a:effectLst>
            <a:outerShdw blurRad="88900" dist="38100" dir="2700000" algn="t" rotWithShape="0">
              <a:prstClr val="black">
                <a:alpha val="8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ko-KR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관점의 테스트 방법</a:t>
            </a:r>
            <a:r>
              <a:rPr lang="en-US" altLang="ko-KR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Black Box Test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F6A132-A7EA-4DAA-B889-AA9F9570B156}"/>
              </a:ext>
            </a:extLst>
          </p:cNvPr>
          <p:cNvGraphicFramePr>
            <a:graphicFrameLocks noGrp="1"/>
          </p:cNvGraphicFramePr>
          <p:nvPr/>
        </p:nvGraphicFramePr>
        <p:xfrm>
          <a:off x="561921" y="1346731"/>
          <a:ext cx="4761011" cy="4092531"/>
        </p:xfrm>
        <a:graphic>
          <a:graphicData uri="http://schemas.openxmlformats.org/drawingml/2006/table">
            <a:tbl>
              <a:tblPr/>
              <a:tblGrid>
                <a:gridCol w="1256662">
                  <a:extLst>
                    <a:ext uri="{9D8B030D-6E8A-4147-A177-3AD203B41FA5}">
                      <a16:colId xmlns:a16="http://schemas.microsoft.com/office/drawing/2014/main" val="4114172826"/>
                    </a:ext>
                  </a:extLst>
                </a:gridCol>
                <a:gridCol w="3504349">
                  <a:extLst>
                    <a:ext uri="{9D8B030D-6E8A-4147-A177-3AD203B41FA5}">
                      <a16:colId xmlns:a16="http://schemas.microsoft.com/office/drawing/2014/main" val="2255389895"/>
                    </a:ext>
                  </a:extLst>
                </a:gridCol>
              </a:tblGrid>
              <a:tr h="2395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기법</a:t>
                      </a:r>
                      <a:endParaRPr lang="ko-KR" altLang="en-US" sz="12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설명</a:t>
                      </a:r>
                      <a:endParaRPr lang="ko-KR" altLang="en-US" sz="120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135244"/>
                  </a:ext>
                </a:extLst>
              </a:tr>
              <a:tr h="7336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동등 분할 기법</a:t>
                      </a:r>
                      <a:b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Equivalence</a:t>
                      </a:r>
                      <a:br>
                        <a:rPr 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Partitioning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프로그램의 입력 도메인을 테스트 케이스가 산출될 수 있는 데이터 클래스로 분류하는 방법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312755"/>
                  </a:ext>
                </a:extLst>
              </a:tr>
              <a:tr h="7336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경계값분석기법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Boundary</a:t>
                      </a:r>
                      <a:b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Value Analysis)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 조건의 중간 값보다 경계 값에서 에러가 발생 될 확률이 높다는 점을 이용하여 테스트 케이스를 생성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789650"/>
                  </a:ext>
                </a:extLst>
              </a:tr>
              <a:tr h="59642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오류 예측 기법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(Error Guessing)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각 시험 기법들이 놓치기 쉬운 오류들을 감각 및 경험으로 찾아보는 방법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393917"/>
                  </a:ext>
                </a:extLst>
              </a:tr>
              <a:tr h="87081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원인 결과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그래프 기법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altLang="ko-KR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Cause Effect </a:t>
                      </a:r>
                      <a:b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Graph)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 데이터 간 관계가 출력에 미치는 영향을 그래프로 표현하여 오류를 발견하도록 함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957379"/>
                  </a:ext>
                </a:extLst>
              </a:tr>
              <a:tr h="4592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의사결정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테이블 테스팅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논리적 조건이나 상황에서 입력 조건과 결과를 참</a:t>
                      </a: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거짓으로 표현하여 조합을 만들고 테스트케이스를 작성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84203"/>
                  </a:ext>
                </a:extLst>
              </a:tr>
              <a:tr h="45922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상태전이</a:t>
                      </a:r>
                      <a:b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r>
                        <a:rPr lang="ko-KR" altLang="en-US" sz="120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테스팅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시스템에 반영되는 이전의 상태가 무엇인지</a:t>
                      </a: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상태간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전이</a:t>
                      </a:r>
                      <a:r>
                        <a:rPr lang="en-US" altLang="ko-KR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상태를 변화시키는 이벤트와 </a:t>
                      </a:r>
                      <a:r>
                        <a:rPr lang="ko-KR" altLang="en-US" sz="1200" dirty="0" err="1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입력값을</a:t>
                      </a:r>
                      <a:r>
                        <a:rPr lang="ko-KR" altLang="en-US" sz="12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파악</a:t>
                      </a:r>
                    </a:p>
                  </a:txBody>
                  <a:tcPr marL="67320" marR="67320" marT="22440" marB="2244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56123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293A0C1-F9FD-40BC-92BE-3525C1FA033C}"/>
              </a:ext>
            </a:extLst>
          </p:cNvPr>
          <p:cNvSpPr/>
          <p:nvPr/>
        </p:nvSpPr>
        <p:spPr>
          <a:xfrm>
            <a:off x="5739917" y="3551473"/>
            <a:ext cx="340408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lang="ko-KR" altLang="en-US" sz="1350" b="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도리의 </a:t>
            </a:r>
            <a:r>
              <a:rPr lang="ko-KR" altLang="en-US" sz="1350" b="0" i="1" dirty="0" err="1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디지털라이프</a:t>
            </a:r>
            <a:r>
              <a:rPr lang="ko-KR" altLang="en-US" sz="1350" b="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블로그에서 발췌</a:t>
            </a:r>
            <a:r>
              <a:rPr lang="ko-KR" altLang="en-US" sz="1350" b="0" i="1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http://blog.skby.net/%EB%B8%94%EB%9E%99%EB%B0%95%EC%8A%A4-%ED%85%8C%EC%8A%A4%ED%8A%B8-%ED%99%94%EC%9D%B4%ED%8A%B8%EB%B0%95%EC%8A%A4-%ED%85%8C%EC%8A%A4%ED%8A%B8/</a:t>
            </a:r>
            <a:endParaRPr lang="en-US" altLang="ko-KR" sz="1350" b="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defTabSz="685800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sz="1350" b="0" i="1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516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772400" cy="56388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he-IL" sz="2000" b="1"/>
              <a:t>Parameters:</a:t>
            </a:r>
          </a:p>
          <a:p>
            <a:pPr>
              <a:buFontTx/>
              <a:buNone/>
            </a:pPr>
            <a:r>
              <a:rPr lang="en-US" altLang="he-IL" sz="2000" b="1"/>
              <a:t>   </a:t>
            </a:r>
            <a:r>
              <a:rPr lang="en-US" altLang="he-IL" sz="1800" b="1"/>
              <a:t>Pattern size:</a:t>
            </a:r>
          </a:p>
          <a:p>
            <a:pPr>
              <a:buFontTx/>
              <a:buNone/>
            </a:pPr>
            <a:r>
              <a:rPr lang="en-US" altLang="he-IL" sz="1800" b="1"/>
              <a:t>           </a:t>
            </a:r>
            <a:r>
              <a:rPr lang="en-US" altLang="he-IL" sz="1800"/>
              <a:t>empty                                              [ property Empty ]</a:t>
            </a:r>
          </a:p>
          <a:p>
            <a:pPr>
              <a:buFontTx/>
              <a:buNone/>
            </a:pPr>
            <a:r>
              <a:rPr lang="en-US" altLang="he-IL" sz="1800"/>
              <a:t>           single character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 many character                                [ property NonEmpty ]</a:t>
            </a:r>
          </a:p>
          <a:p>
            <a:pPr>
              <a:buFontTx/>
              <a:buNone/>
            </a:pPr>
            <a:r>
              <a:rPr lang="en-US" altLang="he-IL" sz="1800"/>
              <a:t>          longer than any line in the file         [</a:t>
            </a:r>
            <a:r>
              <a:rPr lang="en-US" altLang="he-IL" sz="1800">
                <a:solidFill>
                  <a:srgbClr val="FF0000"/>
                </a:solidFill>
              </a:rPr>
              <a:t> 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/>
              <a:t>   </a:t>
            </a:r>
            <a:r>
              <a:rPr lang="en-US" altLang="he-IL" sz="1800" b="1"/>
              <a:t>Quoting:</a:t>
            </a:r>
          </a:p>
          <a:p>
            <a:pPr>
              <a:buFontTx/>
              <a:buNone/>
            </a:pPr>
            <a:r>
              <a:rPr lang="en-US" altLang="he-IL" sz="1800" b="1"/>
              <a:t>   </a:t>
            </a:r>
            <a:r>
              <a:rPr lang="en-US" altLang="he-IL" sz="1800"/>
              <a:t>       pattern is quoted                             [ property quoted ]</a:t>
            </a:r>
          </a:p>
          <a:p>
            <a:pPr>
              <a:buFontTx/>
              <a:buNone/>
            </a:pPr>
            <a:r>
              <a:rPr lang="en-US" altLang="he-IL" sz="1800"/>
              <a:t>         pattern is not quoted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  pattern is improperly quoted           [ </a:t>
            </a:r>
            <a:r>
              <a:rPr lang="en-US" altLang="he-IL" sz="1800">
                <a:solidFill>
                  <a:srgbClr val="FF0000"/>
                </a:solidFill>
              </a:rPr>
              <a:t>error</a:t>
            </a:r>
            <a:r>
              <a:rPr lang="en-US" altLang="he-IL" sz="1800"/>
              <a:t> ]</a:t>
            </a:r>
          </a:p>
          <a:p>
            <a:pPr>
              <a:buFontTx/>
              <a:buNone/>
            </a:pPr>
            <a:endParaRPr lang="en-US" altLang="he-IL" sz="1800"/>
          </a:p>
          <a:p>
            <a:pPr>
              <a:buFontTx/>
              <a:buNone/>
            </a:pPr>
            <a:r>
              <a:rPr lang="en-US" altLang="he-IL" sz="1800" b="1"/>
              <a:t>   Embedded blanks:</a:t>
            </a:r>
          </a:p>
          <a:p>
            <a:pPr>
              <a:buFontTx/>
              <a:buNone/>
            </a:pPr>
            <a:r>
              <a:rPr lang="en-US" altLang="he-IL" sz="1800"/>
              <a:t>        no embedded blank                         [ if NonEmpty ]</a:t>
            </a:r>
          </a:p>
          <a:p>
            <a:pPr>
              <a:buFontTx/>
              <a:buNone/>
            </a:pPr>
            <a:r>
              <a:rPr lang="en-US" altLang="he-IL" sz="1800"/>
              <a:t>       one embedded blank       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   several embedded blanks                 [ if NonEmpty and Quoted ]</a:t>
            </a:r>
          </a:p>
          <a:p>
            <a:pPr>
              <a:buFontTx/>
              <a:buNone/>
            </a:pPr>
            <a:r>
              <a:rPr lang="en-US" altLang="he-IL" sz="1800"/>
              <a:t>    </a:t>
            </a:r>
            <a:endParaRPr lang="en-US" altLang="he-IL" sz="2000" b="1"/>
          </a:p>
          <a:p>
            <a:pPr>
              <a:buFontTx/>
              <a:buNone/>
            </a:pPr>
            <a:endParaRPr lang="en-US" altLang="he-IL" b="1"/>
          </a:p>
        </p:txBody>
      </p:sp>
    </p:spTree>
    <p:extLst>
      <p:ext uri="{BB962C8B-B14F-4D97-AF65-F5344CB8AC3E}">
        <p14:creationId xmlns:p14="http://schemas.microsoft.com/office/powerpoint/2010/main" val="2104580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"/>
            <a:ext cx="7848600" cy="6400800"/>
          </a:xfrm>
        </p:spPr>
        <p:txBody>
          <a:bodyPr/>
          <a:lstStyle/>
          <a:p>
            <a:pPr>
              <a:buFontTx/>
              <a:buNone/>
            </a:pPr>
            <a:r>
              <a:rPr lang="ko-KR" altLang="he-IL" sz="1800" b="1" dirty="0">
                <a:ea typeface="굴림" panose="020B0600000101010101" pitchFamily="50" charset="-127"/>
              </a:rPr>
              <a:t>   </a:t>
            </a:r>
            <a:r>
              <a:rPr lang="en-US" altLang="he-IL" sz="1800" b="1" dirty="0"/>
              <a:t>Embedded quotes:</a:t>
            </a:r>
          </a:p>
          <a:p>
            <a:pPr>
              <a:buFontTx/>
              <a:buNone/>
            </a:pPr>
            <a:r>
              <a:rPr lang="en-US" altLang="he-IL" sz="1800" dirty="0"/>
              <a:t>        no embedded quotes 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one embedded quotes      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dirty="0"/>
              <a:t>       several embedded quotes                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</a:t>
            </a:r>
          </a:p>
          <a:p>
            <a:pPr>
              <a:buFontTx/>
              <a:buNone/>
            </a:pPr>
            <a:r>
              <a:rPr lang="en-US" altLang="he-IL" sz="1800" b="1" dirty="0"/>
              <a:t>File name</a:t>
            </a:r>
            <a:r>
              <a:rPr lang="en-US" altLang="he-IL" sz="1800" dirty="0"/>
              <a:t>:     </a:t>
            </a:r>
          </a:p>
          <a:p>
            <a:pPr>
              <a:buFontTx/>
              <a:buNone/>
            </a:pPr>
            <a:r>
              <a:rPr lang="en-US" altLang="he-IL" sz="1800" dirty="0"/>
              <a:t>       good file name</a:t>
            </a:r>
          </a:p>
          <a:p>
            <a:pPr>
              <a:buFontTx/>
              <a:buNone/>
            </a:pPr>
            <a:r>
              <a:rPr lang="en-US" altLang="he-IL" sz="1800" dirty="0"/>
              <a:t>       no file with this name                      [</a:t>
            </a:r>
            <a:r>
              <a:rPr lang="en-US" altLang="he-IL" sz="1800" dirty="0">
                <a:solidFill>
                  <a:srgbClr val="FF0000"/>
                </a:solidFill>
              </a:rPr>
              <a:t> error </a:t>
            </a:r>
            <a:r>
              <a:rPr lang="en-US" altLang="he-IL" sz="1800" dirty="0"/>
              <a:t>]</a:t>
            </a:r>
          </a:p>
          <a:p>
            <a:pPr>
              <a:buFontTx/>
              <a:buNone/>
            </a:pPr>
            <a:r>
              <a:rPr lang="en-US" altLang="he-IL" sz="1800" dirty="0"/>
              <a:t>       omitted</a:t>
            </a:r>
            <a:r>
              <a:rPr lang="en-US" altLang="he-IL" sz="2000" b="1" dirty="0"/>
              <a:t>     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Environments:</a:t>
            </a:r>
          </a:p>
          <a:p>
            <a:pPr>
              <a:buFontTx/>
              <a:buNone/>
            </a:pPr>
            <a:r>
              <a:rPr lang="en-US" altLang="he-IL" sz="2000" b="1" dirty="0"/>
              <a:t>   Number of occurrence of pattern in file:</a:t>
            </a:r>
          </a:p>
          <a:p>
            <a:pPr>
              <a:buFontTx/>
              <a:buNone/>
            </a:pPr>
            <a:r>
              <a:rPr lang="en-US" altLang="he-IL" sz="2000" dirty="0"/>
              <a:t>       none          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</a:t>
            </a:r>
          </a:p>
          <a:p>
            <a:pPr>
              <a:buFontTx/>
              <a:buNone/>
            </a:pPr>
            <a:r>
              <a:rPr lang="en-US" altLang="he-IL" sz="1800" dirty="0"/>
              <a:t>       </a:t>
            </a:r>
            <a:r>
              <a:rPr lang="en-US" altLang="he-IL" sz="2000" dirty="0"/>
              <a:t>exactly one     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</a:t>
            </a:r>
            <a:r>
              <a:rPr lang="en-US" altLang="he-IL" sz="1800" dirty="0"/>
              <a:t>[ if </a:t>
            </a:r>
            <a:r>
              <a:rPr lang="en-US" altLang="he-IL" sz="1800" dirty="0" err="1"/>
              <a:t>NonEmpty</a:t>
            </a:r>
            <a:r>
              <a:rPr lang="en-US" altLang="he-IL" sz="1800" dirty="0"/>
              <a:t> ] [ property Match ]</a:t>
            </a:r>
          </a:p>
          <a:p>
            <a:pPr>
              <a:buFontTx/>
              <a:buNone/>
            </a:pPr>
            <a:endParaRPr lang="en-US" altLang="he-IL" sz="2000" dirty="0"/>
          </a:p>
          <a:p>
            <a:pPr>
              <a:buFontTx/>
              <a:buNone/>
            </a:pPr>
            <a:r>
              <a:rPr lang="en-US" altLang="he-IL" sz="2000" b="1" dirty="0"/>
              <a:t>  Pattern occurrences on target line:</a:t>
            </a:r>
          </a:p>
          <a:p>
            <a:pPr>
              <a:buFontTx/>
              <a:buNone/>
            </a:pPr>
            <a:r>
              <a:rPr lang="en-US" altLang="he-IL" sz="2000" dirty="0"/>
              <a:t>      one                                              [ if Match ]</a:t>
            </a:r>
          </a:p>
          <a:p>
            <a:pPr>
              <a:buFontTx/>
              <a:buNone/>
            </a:pPr>
            <a:r>
              <a:rPr lang="en-US" altLang="he-IL" sz="2000" dirty="0"/>
              <a:t>      more than one                             [ if Match ]</a:t>
            </a:r>
            <a:endParaRPr lang="en-US" altLang="he-IL" sz="2000" b="1" dirty="0"/>
          </a:p>
          <a:p>
            <a:pPr>
              <a:buFontTx/>
              <a:buNone/>
            </a:pPr>
            <a:endParaRPr lang="en-US" altLang="he-IL" sz="2000" b="1" dirty="0"/>
          </a:p>
          <a:p>
            <a:pPr>
              <a:buFontTx/>
              <a:buNone/>
            </a:pPr>
            <a:endParaRPr lang="en-US" altLang="he-IL" b="1" dirty="0"/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>
                <a:solidFill>
                  <a:srgbClr val="000000"/>
                </a:solidFill>
              </a:rPr>
              <a:t>125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5943600" y="2819400"/>
            <a:ext cx="28956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pPr algn="ctr"/>
            <a:r>
              <a:rPr lang="en-US" altLang="he-IL" b="0" dirty="0">
                <a:solidFill>
                  <a:srgbClr val="000000"/>
                </a:solidFill>
              </a:rPr>
              <a:t>Total Tests frames:</a:t>
            </a:r>
          </a:p>
          <a:p>
            <a:pPr algn="ctr"/>
            <a:r>
              <a:rPr lang="en-US" altLang="he-IL" b="0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5943600" y="12192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r>
              <a:rPr lang="ko-KR" altLang="he-IL" sz="1800" b="0">
                <a:solidFill>
                  <a:srgbClr val="000000"/>
                </a:solidFill>
                <a:ea typeface="굴림" panose="020B0600000101010101" pitchFamily="50" charset="-127"/>
              </a:rPr>
              <a:t>[ </a:t>
            </a:r>
            <a:r>
              <a:rPr lang="en-US" altLang="he-IL" sz="1800" b="0">
                <a:solidFill>
                  <a:srgbClr val="3333CC"/>
                </a:solidFill>
              </a:rPr>
              <a:t>single </a:t>
            </a:r>
            <a:r>
              <a:rPr lang="en-US" altLang="he-IL" sz="1800" b="0">
                <a:solidFill>
                  <a:srgbClr val="000000"/>
                </a:solidFill>
              </a:rPr>
              <a:t>]</a:t>
            </a:r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5943600" y="3976688"/>
            <a:ext cx="1524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r>
              <a:rPr lang="ko-KR" altLang="he-IL" sz="1800" b="0">
                <a:solidFill>
                  <a:srgbClr val="000000"/>
                </a:solidFill>
                <a:ea typeface="굴림" panose="020B0600000101010101" pitchFamily="50" charset="-127"/>
              </a:rPr>
              <a:t>[ </a:t>
            </a:r>
            <a:r>
              <a:rPr lang="en-US" altLang="he-IL" sz="1800" b="0">
                <a:solidFill>
                  <a:srgbClr val="3333CC"/>
                </a:solidFill>
              </a:rPr>
              <a:t>single </a:t>
            </a:r>
            <a:r>
              <a:rPr lang="en-US" altLang="he-IL" sz="1800" b="0">
                <a:solidFill>
                  <a:srgbClr val="000000"/>
                </a:solidFill>
              </a:rPr>
              <a:t>]</a:t>
            </a:r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5867400" y="6172200"/>
            <a:ext cx="152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 (Hebrew)" pitchFamily="26" charset="-79"/>
                <a:cs typeface="Times New Roman (Hebrew)" pitchFamily="26" charset="-79"/>
              </a:defRPr>
            </a:lvl9pPr>
          </a:lstStyle>
          <a:p>
            <a:r>
              <a:rPr lang="ko-KR" altLang="he-IL" sz="1800" b="0">
                <a:solidFill>
                  <a:srgbClr val="000000"/>
                </a:solidFill>
                <a:ea typeface="굴림" panose="020B0600000101010101" pitchFamily="50" charset="-127"/>
              </a:rPr>
              <a:t>[ </a:t>
            </a:r>
            <a:r>
              <a:rPr lang="en-US" altLang="he-IL" sz="1800" b="0">
                <a:solidFill>
                  <a:srgbClr val="3333CC"/>
                </a:solidFill>
              </a:rPr>
              <a:t>single </a:t>
            </a:r>
            <a:r>
              <a:rPr lang="en-US" altLang="he-IL" sz="1800" b="0">
                <a:solidFill>
                  <a:srgbClr val="000000"/>
                </a:solidFill>
              </a:rPr>
              <a:t>]</a:t>
            </a:r>
            <a:endParaRPr lang="en-US" altLang="en-US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37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 autoUpdateAnimBg="0"/>
      <p:bldP spid="25605" grpId="0" animBg="1" autoUpdateAnimBg="0"/>
      <p:bldP spid="25606" grpId="0" autoUpdateAnimBg="0"/>
      <p:bldP spid="25607" grpId="0" autoUpdateAnimBg="0"/>
      <p:bldP spid="25608" grpId="0" autoUpdateAnimBg="0"/>
    </p:bldLst>
  </p:timing>
</p:sld>
</file>

<file path=ppt/theme/theme1.xml><?xml version="1.0" encoding="utf-8"?>
<a:theme xmlns:a="http://schemas.openxmlformats.org/drawingml/2006/main" name="1_cs550">
  <a:themeElements>
    <a:clrScheme name="cs550 6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cs550">
      <a:majorFont>
        <a:latin typeface="Palatino"/>
        <a:ea typeface=""/>
        <a:cs typeface=""/>
      </a:majorFont>
      <a:minorFont>
        <a:latin typeface="Palatin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cs550 1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D80000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E9AA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2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362626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AEACAC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3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49411F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B1B0AB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4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550 5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003300"/>
        </a:accent1>
        <a:accent2>
          <a:srgbClr val="33CC33"/>
        </a:accent2>
        <a:accent3>
          <a:srgbClr val="B1C8AA"/>
        </a:accent3>
        <a:accent4>
          <a:srgbClr val="DADADA"/>
        </a:accent4>
        <a:accent5>
          <a:srgbClr val="AAADAA"/>
        </a:accent5>
        <a:accent6>
          <a:srgbClr val="2DB92D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6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7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8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2E2E46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ADADB0"/>
        </a:accent5>
        <a:accent6>
          <a:srgbClr val="5D8BBA"/>
        </a:accent6>
        <a:hlink>
          <a:srgbClr val="99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550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tx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ecture n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ch1</Template>
  <TotalTime>2562</TotalTime>
  <Pages>49</Pages>
  <Words>2891</Words>
  <Application>Microsoft Office PowerPoint</Application>
  <PresentationFormat>화면 슬라이드 쇼(4:3)</PresentationFormat>
  <Paragraphs>449</Paragraphs>
  <Slides>29</Slides>
  <Notes>6</Notes>
  <HiddenSlides>4</HiddenSlides>
  <MMClips>0</MMClips>
  <ScaleCrop>false</ScaleCrop>
  <HeadingPairs>
    <vt:vector size="8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8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53" baseType="lpstr">
      <vt:lpstr>Arial Backslanted</vt:lpstr>
      <vt:lpstr>HY헤드라인M</vt:lpstr>
      <vt:lpstr>Palatino</vt:lpstr>
      <vt:lpstr>굴림</vt:lpstr>
      <vt:lpstr>나눔스퀘어</vt:lpstr>
      <vt:lpstr>나눔스퀘어 Bold</vt:lpstr>
      <vt:lpstr>맑은 고딕</vt:lpstr>
      <vt:lpstr>Aharoni</vt:lpstr>
      <vt:lpstr>Arial</vt:lpstr>
      <vt:lpstr>Calibri</vt:lpstr>
      <vt:lpstr>Calibri Light</vt:lpstr>
      <vt:lpstr>Courier New</vt:lpstr>
      <vt:lpstr>Times New Roman</vt:lpstr>
      <vt:lpstr>Wingdings</vt:lpstr>
      <vt:lpstr>Wingdings 2</vt:lpstr>
      <vt:lpstr>1_cs550</vt:lpstr>
      <vt:lpstr>4_Office 테마</vt:lpstr>
      <vt:lpstr>Office 테마</vt:lpstr>
      <vt:lpstr>1_Office 테마</vt:lpstr>
      <vt:lpstr>Lecture note</vt:lpstr>
      <vt:lpstr>HDOfficeLightV0</vt:lpstr>
      <vt:lpstr>2_Office 테마</vt:lpstr>
      <vt:lpstr>3_Office 테마</vt:lpstr>
      <vt:lpstr>Equation</vt:lpstr>
      <vt:lpstr>SW Development and Testing Model  (a.k.a. V model) </vt:lpstr>
      <vt:lpstr>Foundation of Software Testing </vt:lpstr>
      <vt:lpstr>Black Box Testing</vt:lpstr>
      <vt:lpstr>PowerPoint 프레젠테이션</vt:lpstr>
      <vt:lpstr>Requirement based Blackbox Testing  VS Logic based Whitebox Testing</vt:lpstr>
      <vt:lpstr>Example of Blackbox Testing Technique:  The Category-Partition  Method for Specifying and  Generating Functional Tests  (Thomas J. Ostrand and Marc J.Balcer [ CACM,1988 ])</vt:lpstr>
      <vt:lpstr>Content:</vt:lpstr>
      <vt:lpstr>The goal of functional testing</vt:lpstr>
      <vt:lpstr>How to achieve this goal ?</vt:lpstr>
      <vt:lpstr>Functional test can be derived from 3 sources:                          </vt:lpstr>
      <vt:lpstr>Partition - The standard approach</vt:lpstr>
      <vt:lpstr>A strategy for test case generation</vt:lpstr>
      <vt:lpstr>A strategy for test case generation (cont)</vt:lpstr>
      <vt:lpstr>A strategy for test case generation (cont)</vt:lpstr>
      <vt:lpstr>Example</vt:lpstr>
      <vt:lpstr>PowerPoint 프레젠테이션</vt:lpstr>
      <vt:lpstr>Categories</vt:lpstr>
      <vt:lpstr>Adding Constraints between Categories to Reduce #of TC’S</vt:lpstr>
      <vt:lpstr>PowerPoint 프레젠테이션</vt:lpstr>
      <vt:lpstr>PowerPoint 프레젠테이션</vt:lpstr>
      <vt:lpstr>PowerPoint 프레젠테이션</vt:lpstr>
      <vt:lpstr>White Box Testing (1/2)</vt:lpstr>
      <vt:lpstr>White Box Testing (2/2)</vt:lpstr>
      <vt:lpstr>Bug Observability/Detection Model:   Reachability, Infection, Propagation, and Revelation (RIPR)</vt:lpstr>
      <vt:lpstr>PowerPoint 프레젠테이션</vt:lpstr>
      <vt:lpstr>PowerPoint 프레젠테이션</vt:lpstr>
      <vt:lpstr>사용자 관점의 테스트 방법, Black Box Test</vt:lpstr>
      <vt:lpstr>PowerPoint 프레젠테이션</vt:lpstr>
      <vt:lpstr>PowerPoint 프레젠테이션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Graph Coverage</dc:title>
  <dc:subject/>
  <dc:creator>Jeff Offutt</dc:creator>
  <cp:keywords/>
  <dc:description/>
  <cp:lastModifiedBy>moonzoo</cp:lastModifiedBy>
  <cp:revision>340</cp:revision>
  <cp:lastPrinted>2022-09-06T00:12:14Z</cp:lastPrinted>
  <dcterms:created xsi:type="dcterms:W3CDTF">1996-06-15T03:21:08Z</dcterms:created>
  <dcterms:modified xsi:type="dcterms:W3CDTF">2025-11-26T03:53:25Z</dcterms:modified>
</cp:coreProperties>
</file>