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1" r:id="rId1"/>
    <p:sldMasterId id="2147483711" r:id="rId2"/>
  </p:sldMasterIdLst>
  <p:notesMasterIdLst>
    <p:notesMasterId r:id="rId39"/>
  </p:notesMasterIdLst>
  <p:handoutMasterIdLst>
    <p:handoutMasterId r:id="rId40"/>
  </p:handoutMasterIdLst>
  <p:sldIdLst>
    <p:sldId id="424" r:id="rId3"/>
    <p:sldId id="455" r:id="rId4"/>
    <p:sldId id="457" r:id="rId5"/>
    <p:sldId id="458" r:id="rId6"/>
    <p:sldId id="459" r:id="rId7"/>
    <p:sldId id="460" r:id="rId8"/>
    <p:sldId id="478" r:id="rId9"/>
    <p:sldId id="461" r:id="rId10"/>
    <p:sldId id="462" r:id="rId11"/>
    <p:sldId id="494" r:id="rId12"/>
    <p:sldId id="484" r:id="rId13"/>
    <p:sldId id="464" r:id="rId14"/>
    <p:sldId id="465" r:id="rId15"/>
    <p:sldId id="479" r:id="rId16"/>
    <p:sldId id="485" r:id="rId17"/>
    <p:sldId id="480" r:id="rId18"/>
    <p:sldId id="486" r:id="rId19"/>
    <p:sldId id="487" r:id="rId20"/>
    <p:sldId id="488" r:id="rId21"/>
    <p:sldId id="489" r:id="rId22"/>
    <p:sldId id="467" r:id="rId23"/>
    <p:sldId id="468" r:id="rId24"/>
    <p:sldId id="469" r:id="rId25"/>
    <p:sldId id="470" r:id="rId26"/>
    <p:sldId id="491" r:id="rId27"/>
    <p:sldId id="481" r:id="rId28"/>
    <p:sldId id="482" r:id="rId29"/>
    <p:sldId id="472" r:id="rId30"/>
    <p:sldId id="474" r:id="rId31"/>
    <p:sldId id="473" r:id="rId32"/>
    <p:sldId id="493" r:id="rId33"/>
    <p:sldId id="495" r:id="rId34"/>
    <p:sldId id="477" r:id="rId35"/>
    <p:sldId id="483" r:id="rId36"/>
    <p:sldId id="496" r:id="rId37"/>
    <p:sldId id="471" r:id="rId38"/>
  </p:sldIdLst>
  <p:sldSz cx="9144000" cy="6096000"/>
  <p:notesSz cx="6807200" cy="9939338"/>
  <p:kinsoku lang="ko-KR" invalStChars="、。，．・：；？！゛゜ヽヾゝゞ々ー’”）〕］｝〉》」』】°‰′″℃￠％ぁぃぅぇぉっゃゅょゎァィゥェォッャュョヮヵヶ!%),.:;?]}｡｣､･ｧｨｩｪｫｬｭｮｯｰﾞﾟ" invalEndChars="‘“（〔［｛〈《「『【￥＄$([\{｢￡"/>
  <p:defaultTextStyle>
    <a:defPPr>
      <a:defRPr lang="en-US"/>
    </a:defPPr>
    <a:lvl1pPr algn="l" rtl="0" eaLnBrk="0" fontAlgn="base" hangingPunct="0">
      <a:lnSpc>
        <a:spcPct val="90000"/>
      </a:lnSpc>
      <a:spcBef>
        <a:spcPct val="0"/>
      </a:spcBef>
      <a:spcAft>
        <a:spcPct val="0"/>
      </a:spcAft>
      <a:defRPr b="1" kern="1200">
        <a:solidFill>
          <a:schemeClr val="tx1"/>
        </a:solidFill>
        <a:latin typeface="Helvetica" charset="0"/>
        <a:ea typeface="+mn-ea"/>
        <a:cs typeface="+mn-cs"/>
      </a:defRPr>
    </a:lvl1pPr>
    <a:lvl2pPr marL="457200" algn="l" rtl="0" eaLnBrk="0" fontAlgn="base" hangingPunct="0">
      <a:lnSpc>
        <a:spcPct val="90000"/>
      </a:lnSpc>
      <a:spcBef>
        <a:spcPct val="0"/>
      </a:spcBef>
      <a:spcAft>
        <a:spcPct val="0"/>
      </a:spcAft>
      <a:defRPr b="1" kern="1200">
        <a:solidFill>
          <a:schemeClr val="tx1"/>
        </a:solidFill>
        <a:latin typeface="Helvetica" charset="0"/>
        <a:ea typeface="+mn-ea"/>
        <a:cs typeface="+mn-cs"/>
      </a:defRPr>
    </a:lvl2pPr>
    <a:lvl3pPr marL="914400" algn="l" rtl="0" eaLnBrk="0" fontAlgn="base" hangingPunct="0">
      <a:lnSpc>
        <a:spcPct val="90000"/>
      </a:lnSpc>
      <a:spcBef>
        <a:spcPct val="0"/>
      </a:spcBef>
      <a:spcAft>
        <a:spcPct val="0"/>
      </a:spcAft>
      <a:defRPr b="1" kern="1200">
        <a:solidFill>
          <a:schemeClr val="tx1"/>
        </a:solidFill>
        <a:latin typeface="Helvetica" charset="0"/>
        <a:ea typeface="+mn-ea"/>
        <a:cs typeface="+mn-cs"/>
      </a:defRPr>
    </a:lvl3pPr>
    <a:lvl4pPr marL="1371600" algn="l" rtl="0" eaLnBrk="0" fontAlgn="base" hangingPunct="0">
      <a:lnSpc>
        <a:spcPct val="90000"/>
      </a:lnSpc>
      <a:spcBef>
        <a:spcPct val="0"/>
      </a:spcBef>
      <a:spcAft>
        <a:spcPct val="0"/>
      </a:spcAft>
      <a:defRPr b="1" kern="1200">
        <a:solidFill>
          <a:schemeClr val="tx1"/>
        </a:solidFill>
        <a:latin typeface="Helvetica" charset="0"/>
        <a:ea typeface="+mn-ea"/>
        <a:cs typeface="+mn-cs"/>
      </a:defRPr>
    </a:lvl4pPr>
    <a:lvl5pPr marL="1828800" algn="l" rtl="0" eaLnBrk="0" fontAlgn="base" hangingPunct="0">
      <a:lnSpc>
        <a:spcPct val="90000"/>
      </a:lnSpc>
      <a:spcBef>
        <a:spcPct val="0"/>
      </a:spcBef>
      <a:spcAft>
        <a:spcPct val="0"/>
      </a:spcAft>
      <a:defRPr b="1" kern="1200">
        <a:solidFill>
          <a:schemeClr val="tx1"/>
        </a:solidFill>
        <a:latin typeface="Helvetica" charset="0"/>
        <a:ea typeface="+mn-ea"/>
        <a:cs typeface="+mn-cs"/>
      </a:defRPr>
    </a:lvl5pPr>
    <a:lvl6pPr marL="2286000" algn="l" defTabSz="914400" rtl="0" eaLnBrk="1" latinLnBrk="1" hangingPunct="1">
      <a:defRPr b="1" kern="1200">
        <a:solidFill>
          <a:schemeClr val="tx1"/>
        </a:solidFill>
        <a:latin typeface="Helvetica" charset="0"/>
        <a:ea typeface="+mn-ea"/>
        <a:cs typeface="+mn-cs"/>
      </a:defRPr>
    </a:lvl6pPr>
    <a:lvl7pPr marL="2743200" algn="l" defTabSz="914400" rtl="0" eaLnBrk="1" latinLnBrk="1" hangingPunct="1">
      <a:defRPr b="1" kern="1200">
        <a:solidFill>
          <a:schemeClr val="tx1"/>
        </a:solidFill>
        <a:latin typeface="Helvetica" charset="0"/>
        <a:ea typeface="+mn-ea"/>
        <a:cs typeface="+mn-cs"/>
      </a:defRPr>
    </a:lvl7pPr>
    <a:lvl8pPr marL="3200400" algn="l" defTabSz="914400" rtl="0" eaLnBrk="1" latinLnBrk="1" hangingPunct="1">
      <a:defRPr b="1" kern="1200">
        <a:solidFill>
          <a:schemeClr val="tx1"/>
        </a:solidFill>
        <a:latin typeface="Helvetica" charset="0"/>
        <a:ea typeface="+mn-ea"/>
        <a:cs typeface="+mn-cs"/>
      </a:defRPr>
    </a:lvl8pPr>
    <a:lvl9pPr marL="3657600" algn="l" defTabSz="914400" rtl="0" eaLnBrk="1" latinLnBrk="1" hangingPunct="1">
      <a:defRPr b="1" kern="1200">
        <a:solidFill>
          <a:schemeClr val="tx1"/>
        </a:solidFill>
        <a:latin typeface="Helvetica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33"/>
    <a:srgbClr val="D1039B"/>
    <a:srgbClr val="AD278D"/>
    <a:srgbClr val="8C4881"/>
    <a:srgbClr val="FF6699"/>
    <a:srgbClr val="D7FA7E"/>
    <a:srgbClr val="FF0000"/>
    <a:srgbClr val="00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4535" autoAdjust="0"/>
    <p:restoredTop sz="86421" autoAdjust="0"/>
  </p:normalViewPr>
  <p:slideViewPr>
    <p:cSldViewPr snapToGrid="0">
      <p:cViewPr varScale="1">
        <p:scale>
          <a:sx n="80" d="100"/>
          <a:sy n="80" d="100"/>
        </p:scale>
        <p:origin x="90" y="3540"/>
      </p:cViewPr>
      <p:guideLst>
        <p:guide orient="horz" pos="1920"/>
        <p:guide pos="2880"/>
      </p:guideLst>
    </p:cSldViewPr>
  </p:slideViewPr>
  <p:outlineViewPr>
    <p:cViewPr>
      <p:scale>
        <a:sx n="33" d="100"/>
        <a:sy n="33" d="100"/>
      </p:scale>
      <p:origin x="6" y="33192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handoutMaster" Target="handoutMasters/handout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87826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42975" y="850900"/>
            <a:ext cx="4933950" cy="3289300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187977021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lnSpc>
        <a:spcPct val="90000"/>
      </a:lnSpc>
      <a:spcBef>
        <a:spcPct val="40000"/>
      </a:spcBef>
      <a:spcAft>
        <a:spcPct val="0"/>
      </a:spcAft>
      <a:defRPr sz="1200" kern="1200">
        <a:solidFill>
          <a:schemeClr val="tx1"/>
        </a:solidFill>
        <a:latin typeface="Helvetica" charset="0"/>
        <a:ea typeface="+mn-ea"/>
        <a:cs typeface="+mn-cs"/>
      </a:defRPr>
    </a:lvl1pPr>
    <a:lvl2pPr marL="457200" algn="l" rtl="0" eaLnBrk="0" fontAlgn="base" hangingPunct="0">
      <a:lnSpc>
        <a:spcPct val="90000"/>
      </a:lnSpc>
      <a:spcBef>
        <a:spcPct val="40000"/>
      </a:spcBef>
      <a:spcAft>
        <a:spcPct val="0"/>
      </a:spcAft>
      <a:defRPr sz="1200" kern="1200">
        <a:solidFill>
          <a:schemeClr val="tx1"/>
        </a:solidFill>
        <a:latin typeface="Helvetica" charset="0"/>
        <a:ea typeface="+mn-ea"/>
        <a:cs typeface="+mn-cs"/>
      </a:defRPr>
    </a:lvl2pPr>
    <a:lvl3pPr marL="914400" algn="l" rtl="0" eaLnBrk="0" fontAlgn="base" hangingPunct="0">
      <a:lnSpc>
        <a:spcPct val="90000"/>
      </a:lnSpc>
      <a:spcBef>
        <a:spcPct val="40000"/>
      </a:spcBef>
      <a:spcAft>
        <a:spcPct val="0"/>
      </a:spcAft>
      <a:defRPr sz="1200" kern="1200">
        <a:solidFill>
          <a:schemeClr val="tx1"/>
        </a:solidFill>
        <a:latin typeface="Helvetica" charset="0"/>
        <a:ea typeface="+mn-ea"/>
        <a:cs typeface="+mn-cs"/>
      </a:defRPr>
    </a:lvl3pPr>
    <a:lvl4pPr marL="1371600" algn="l" rtl="0" eaLnBrk="0" fontAlgn="base" hangingPunct="0">
      <a:lnSpc>
        <a:spcPct val="90000"/>
      </a:lnSpc>
      <a:spcBef>
        <a:spcPct val="40000"/>
      </a:spcBef>
      <a:spcAft>
        <a:spcPct val="0"/>
      </a:spcAft>
      <a:defRPr sz="1200" kern="1200">
        <a:solidFill>
          <a:schemeClr val="tx1"/>
        </a:solidFill>
        <a:latin typeface="Helvetica" charset="0"/>
        <a:ea typeface="+mn-ea"/>
        <a:cs typeface="+mn-cs"/>
      </a:defRPr>
    </a:lvl4pPr>
    <a:lvl5pPr marL="1828800" algn="l" rtl="0" eaLnBrk="0" fontAlgn="base" hangingPunct="0">
      <a:lnSpc>
        <a:spcPct val="90000"/>
      </a:lnSpc>
      <a:spcBef>
        <a:spcPct val="40000"/>
      </a:spcBef>
      <a:spcAft>
        <a:spcPct val="0"/>
      </a:spcAft>
      <a:defRPr sz="1200" kern="1200">
        <a:solidFill>
          <a:schemeClr val="tx1"/>
        </a:solidFill>
        <a:latin typeface="Helvetica" charset="0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819" name="Rectangle 11"/>
          <p:cNvSpPr>
            <a:spLocks noGrp="1" noChangeArrowheads="1"/>
          </p:cNvSpPr>
          <p:nvPr>
            <p:ph type="ctrTitle" sz="quarter"/>
          </p:nvPr>
        </p:nvSpPr>
        <p:spPr>
          <a:xfrm>
            <a:off x="685800" y="1543050"/>
            <a:ext cx="7772400" cy="170815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759820" name="Rectangle 1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1371600" y="3454400"/>
            <a:ext cx="6400800" cy="1557338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dt" sz="quarter" idx="10"/>
          </p:nvPr>
        </p:nvSpPr>
        <p:spPr bwMode="auto">
          <a:xfrm>
            <a:off x="457200" y="5554663"/>
            <a:ext cx="2133600" cy="422275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lnSpc>
                <a:spcPct val="100000"/>
              </a:lnSpc>
              <a:defRPr sz="1200" b="0">
                <a:latin typeface="Arial" charset="0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14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5556250"/>
            <a:ext cx="2895600" cy="423863"/>
          </a:xfrm>
        </p:spPr>
        <p:txBody>
          <a:bodyPr/>
          <a:lstStyle>
            <a:lvl1pPr algn="ctr" eaLnBrk="1" hangingPunct="1">
              <a:lnSpc>
                <a:spcPct val="100000"/>
              </a:lnSpc>
              <a:spcBef>
                <a:spcPct val="0"/>
              </a:spcBef>
              <a:defRPr sz="1200" b="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15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553200" y="5559425"/>
            <a:ext cx="2133600" cy="4238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B02EF666-C0CF-4981-A800-61ED51DE96F9}" type="slidenum">
              <a:rPr lang="ko-KR" altLang="en-US"/>
              <a:pPr>
                <a:defRPr/>
              </a:pPr>
              <a:t>‹#›</a:t>
            </a:fld>
            <a:endParaRPr lang="en-US" altLang="ko-K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5" name="Rectangle 1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C875E70-5D8F-49A8-ADA8-ABFCCCCAF9DD}" type="slidenum">
              <a:rPr lang="ko-KR" altLang="en-US"/>
              <a:pPr>
                <a:defRPr/>
              </a:pPr>
              <a:t>‹#›</a:t>
            </a:fld>
            <a:endParaRPr lang="en-US" altLang="ko-K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917950"/>
            <a:ext cx="7772400" cy="12096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584450"/>
            <a:ext cx="7772400" cy="1333500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5" name="Rectangle 1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89F1971-4904-4F71-B9EE-366BC9D2B1FE}" type="slidenum">
              <a:rPr lang="ko-KR" altLang="en-US"/>
              <a:pPr>
                <a:defRPr/>
              </a:pPr>
              <a:t>‹#›</a:t>
            </a:fld>
            <a:endParaRPr lang="en-US" altLang="ko-K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422400"/>
            <a:ext cx="4038600" cy="399891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422400"/>
            <a:ext cx="4038600" cy="399891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14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6" name="Rectangle 1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5182CBC-F620-43B6-B65E-153FE182EFBA}" type="slidenum">
              <a:rPr lang="ko-KR" altLang="en-US"/>
              <a:pPr>
                <a:defRPr/>
              </a:pPr>
              <a:t>‹#›</a:t>
            </a:fld>
            <a:endParaRPr lang="en-US" altLang="ko-K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365250"/>
            <a:ext cx="4040188" cy="5683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933575"/>
            <a:ext cx="4040188" cy="35115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365250"/>
            <a:ext cx="4041775" cy="5683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1933575"/>
            <a:ext cx="4041775" cy="35115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Rectangle 14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8" name="Rectangle 1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7611D9E-5ACD-41F1-8283-A1303C7DF058}" type="slidenum">
              <a:rPr lang="ko-KR" altLang="en-US"/>
              <a:pPr>
                <a:defRPr/>
              </a:pPr>
              <a:t>‹#›</a:t>
            </a:fld>
            <a:endParaRPr lang="en-US" altLang="ko-K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14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4" name="Rectangle 1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65C57A6-E66E-41A3-B57D-3DB89D4271E0}" type="slidenum">
              <a:rPr lang="ko-KR" altLang="en-US"/>
              <a:pPr>
                <a:defRPr/>
              </a:pPr>
              <a:t>‹#›</a:t>
            </a:fld>
            <a:endParaRPr lang="en-US" altLang="ko-K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4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3" name="Rectangle 1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341FFC2-3EAE-4B56-9D35-CB66D2F35785}" type="slidenum">
              <a:rPr lang="ko-KR" altLang="en-US"/>
              <a:pPr>
                <a:defRPr/>
              </a:pPr>
              <a:t>‹#›</a:t>
            </a:fld>
            <a:endParaRPr lang="en-US" altLang="ko-K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42888"/>
            <a:ext cx="3008313" cy="1033462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42888"/>
            <a:ext cx="5111750" cy="520223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276350"/>
            <a:ext cx="3008313" cy="41687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14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6" name="Rectangle 1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FCAC547-EA80-49CF-9119-3558BC48D62F}" type="slidenum">
              <a:rPr lang="ko-KR" altLang="en-US"/>
              <a:pPr>
                <a:defRPr/>
              </a:pPr>
              <a:t>‹#›</a:t>
            </a:fld>
            <a:endParaRPr lang="en-US" altLang="ko-K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267200"/>
            <a:ext cx="5486400" cy="5032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544513"/>
            <a:ext cx="5486400" cy="36576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770438"/>
            <a:ext cx="5486400" cy="7159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14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6" name="Rectangle 1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3B85185-F3D1-4B6B-BB50-3EFB72CDEBB8}" type="slidenum">
              <a:rPr lang="ko-KR" altLang="en-US"/>
              <a:pPr>
                <a:defRPr/>
              </a:pPr>
              <a:t>‹#›</a:t>
            </a:fld>
            <a:endParaRPr lang="en-US" altLang="ko-K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5" name="Rectangle 1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EA77B14-F71E-4AC5-9728-8CDDBA543948}" type="slidenum">
              <a:rPr lang="ko-KR" altLang="en-US"/>
              <a:pPr>
                <a:defRPr/>
              </a:pPr>
              <a:t>‹#›</a:t>
            </a:fld>
            <a:endParaRPr lang="en-US" altLang="ko-K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44475"/>
            <a:ext cx="2057400" cy="5176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44475"/>
            <a:ext cx="6019800" cy="5176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5" name="Rectangle 1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1A4E829-3A27-4514-993B-E18F83C38478}" type="slidenum">
              <a:rPr lang="ko-KR" altLang="en-US"/>
              <a:pPr>
                <a:defRPr/>
              </a:pPr>
              <a:t>‹#›</a:t>
            </a:fld>
            <a:endParaRPr lang="en-US" altLang="ko-KR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819" name="Rectangle 11"/>
          <p:cNvSpPr>
            <a:spLocks noGrp="1" noChangeArrowheads="1"/>
          </p:cNvSpPr>
          <p:nvPr>
            <p:ph type="ctrTitle" sz="quarter"/>
          </p:nvPr>
        </p:nvSpPr>
        <p:spPr>
          <a:xfrm>
            <a:off x="685800" y="1543050"/>
            <a:ext cx="7772400" cy="170815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759820" name="Rectangle 1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1371600" y="3454400"/>
            <a:ext cx="6400800" cy="1557338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dt" sz="quarter" idx="10"/>
          </p:nvPr>
        </p:nvSpPr>
        <p:spPr bwMode="auto">
          <a:xfrm>
            <a:off x="457200" y="5554663"/>
            <a:ext cx="2133600" cy="422275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lnSpc>
                <a:spcPct val="100000"/>
              </a:lnSpc>
              <a:defRPr sz="1200" b="0">
                <a:latin typeface="Arial" charset="0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>
              <a:solidFill>
                <a:srgbClr val="FFFFFF"/>
              </a:solidFill>
            </a:endParaRPr>
          </a:p>
        </p:txBody>
      </p:sp>
      <p:sp>
        <p:nvSpPr>
          <p:cNvPr id="5" name="Rectangle 14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5556250"/>
            <a:ext cx="2895600" cy="423863"/>
          </a:xfrm>
          <a:prstGeom prst="rect">
            <a:avLst/>
          </a:prstGeom>
        </p:spPr>
        <p:txBody>
          <a:bodyPr/>
          <a:lstStyle>
            <a:lvl1pPr algn="ctr" eaLnBrk="1" hangingPunct="1">
              <a:lnSpc>
                <a:spcPct val="100000"/>
              </a:lnSpc>
              <a:spcBef>
                <a:spcPct val="0"/>
              </a:spcBef>
              <a:defRPr sz="1200" b="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en-US" altLang="ko-KR">
              <a:solidFill>
                <a:srgbClr val="FFFFFF"/>
              </a:solidFill>
            </a:endParaRPr>
          </a:p>
        </p:txBody>
      </p:sp>
      <p:sp>
        <p:nvSpPr>
          <p:cNvPr id="6" name="Rectangle 15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553200" y="5559425"/>
            <a:ext cx="2133600" cy="4238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ECFDCF5D-4CC9-42C9-BFA1-D4C24C9F1208}" type="slidenum">
              <a:rPr lang="ko-KR" altLang="en-US">
                <a:solidFill>
                  <a:srgbClr val="FFFFFF"/>
                </a:solidFill>
              </a:rPr>
              <a:pPr>
                <a:defRPr/>
              </a:pPr>
              <a:t>‹#›</a:t>
            </a:fld>
            <a:endParaRPr lang="en-US" altLang="ko-KR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98508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1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E2C3DAF-6E70-4DB2-BC40-B9EAEB1933FE}" type="slidenum">
              <a:rPr lang="ko-KR" altLang="en-US">
                <a:solidFill>
                  <a:srgbClr val="003399"/>
                </a:solidFill>
              </a:rPr>
              <a:pPr>
                <a:defRPr/>
              </a:pPr>
              <a:t>‹#›</a:t>
            </a:fld>
            <a:endParaRPr lang="en-US" altLang="ko-KR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40731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917950"/>
            <a:ext cx="7772400" cy="12096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584450"/>
            <a:ext cx="7772400" cy="1333500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ftr" sz="quarter" idx="10"/>
          </p:nvPr>
        </p:nvSpPr>
        <p:spPr>
          <a:xfrm>
            <a:off x="933450" y="5759450"/>
            <a:ext cx="1500188" cy="249238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 dirty="0">
                <a:solidFill>
                  <a:srgbClr val="FFFFFF"/>
                </a:solidFill>
              </a:rPr>
              <a:t>CS350   </a:t>
            </a:r>
          </a:p>
        </p:txBody>
      </p:sp>
      <p:sp>
        <p:nvSpPr>
          <p:cNvPr id="5" name="Rectangle 1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B889FD8-CB70-4B4C-A0C9-06EF7D3EEA51}" type="slidenum">
              <a:rPr lang="ko-KR" altLang="en-US">
                <a:solidFill>
                  <a:srgbClr val="003399"/>
                </a:solidFill>
              </a:rPr>
              <a:pPr>
                <a:defRPr/>
              </a:pPr>
              <a:t>‹#›</a:t>
            </a:fld>
            <a:endParaRPr lang="en-US" altLang="ko-KR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7841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422400"/>
            <a:ext cx="4038600" cy="399891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422400"/>
            <a:ext cx="4038600" cy="399891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14"/>
          <p:cNvSpPr>
            <a:spLocks noGrp="1" noChangeArrowheads="1"/>
          </p:cNvSpPr>
          <p:nvPr>
            <p:ph type="ftr" sz="quarter" idx="10"/>
          </p:nvPr>
        </p:nvSpPr>
        <p:spPr>
          <a:xfrm>
            <a:off x="933450" y="5759450"/>
            <a:ext cx="1500188" cy="249238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 dirty="0">
                <a:solidFill>
                  <a:srgbClr val="FFFFFF"/>
                </a:solidFill>
              </a:rPr>
              <a:t>CS350   </a:t>
            </a:r>
          </a:p>
        </p:txBody>
      </p:sp>
      <p:sp>
        <p:nvSpPr>
          <p:cNvPr id="6" name="Rectangle 1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8D1352D-6D7B-431C-966B-63A333B1A931}" type="slidenum">
              <a:rPr lang="ko-KR" altLang="en-US">
                <a:solidFill>
                  <a:srgbClr val="003399"/>
                </a:solidFill>
              </a:rPr>
              <a:pPr>
                <a:defRPr/>
              </a:pPr>
              <a:t>‹#›</a:t>
            </a:fld>
            <a:endParaRPr lang="en-US" altLang="ko-KR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22757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365250"/>
            <a:ext cx="4040188" cy="5683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933575"/>
            <a:ext cx="4040188" cy="35115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365250"/>
            <a:ext cx="4041775" cy="5683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1933575"/>
            <a:ext cx="4041775" cy="35115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Rectangle 14"/>
          <p:cNvSpPr>
            <a:spLocks noGrp="1" noChangeArrowheads="1"/>
          </p:cNvSpPr>
          <p:nvPr>
            <p:ph type="ftr" sz="quarter" idx="10"/>
          </p:nvPr>
        </p:nvSpPr>
        <p:spPr>
          <a:xfrm>
            <a:off x="933450" y="5759450"/>
            <a:ext cx="1500188" cy="249238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 dirty="0">
                <a:solidFill>
                  <a:srgbClr val="FFFFFF"/>
                </a:solidFill>
              </a:rPr>
              <a:t>CS350   </a:t>
            </a:r>
          </a:p>
        </p:txBody>
      </p:sp>
      <p:sp>
        <p:nvSpPr>
          <p:cNvPr id="8" name="Rectangle 1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150BF06-94DE-4FD3-9319-DFF809C432D8}" type="slidenum">
              <a:rPr lang="ko-KR" altLang="en-US">
                <a:solidFill>
                  <a:srgbClr val="003399"/>
                </a:solidFill>
              </a:rPr>
              <a:pPr>
                <a:defRPr/>
              </a:pPr>
              <a:t>‹#›</a:t>
            </a:fld>
            <a:endParaRPr lang="en-US" altLang="ko-KR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999391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14"/>
          <p:cNvSpPr>
            <a:spLocks noGrp="1" noChangeArrowheads="1"/>
          </p:cNvSpPr>
          <p:nvPr>
            <p:ph type="ftr" sz="quarter" idx="10"/>
          </p:nvPr>
        </p:nvSpPr>
        <p:spPr>
          <a:xfrm>
            <a:off x="933450" y="5759450"/>
            <a:ext cx="1500188" cy="249238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 dirty="0">
                <a:solidFill>
                  <a:srgbClr val="FFFFFF"/>
                </a:solidFill>
              </a:rPr>
              <a:t>CS350   </a:t>
            </a:r>
          </a:p>
        </p:txBody>
      </p:sp>
      <p:sp>
        <p:nvSpPr>
          <p:cNvPr id="4" name="Rectangle 1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6BD083C-60A8-4DCF-9C5F-9B4209372156}" type="slidenum">
              <a:rPr lang="ko-KR" altLang="en-US">
                <a:solidFill>
                  <a:srgbClr val="003399"/>
                </a:solidFill>
              </a:rPr>
              <a:pPr>
                <a:defRPr/>
              </a:pPr>
              <a:t>‹#›</a:t>
            </a:fld>
            <a:endParaRPr lang="en-US" altLang="ko-KR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028105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4"/>
          <p:cNvSpPr>
            <a:spLocks noGrp="1" noChangeArrowheads="1"/>
          </p:cNvSpPr>
          <p:nvPr>
            <p:ph type="ftr" sz="quarter" idx="10"/>
          </p:nvPr>
        </p:nvSpPr>
        <p:spPr>
          <a:xfrm>
            <a:off x="933450" y="5759450"/>
            <a:ext cx="1500188" cy="249238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 dirty="0">
                <a:solidFill>
                  <a:srgbClr val="FFFFFF"/>
                </a:solidFill>
              </a:rPr>
              <a:t>CS350   </a:t>
            </a:r>
          </a:p>
        </p:txBody>
      </p:sp>
      <p:sp>
        <p:nvSpPr>
          <p:cNvPr id="3" name="Rectangle 1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B7F556-7318-4432-8F3E-B14BC8F6A0D5}" type="slidenum">
              <a:rPr lang="ko-KR" altLang="en-US">
                <a:solidFill>
                  <a:srgbClr val="003399"/>
                </a:solidFill>
              </a:rPr>
              <a:pPr>
                <a:defRPr/>
              </a:pPr>
              <a:t>‹#›</a:t>
            </a:fld>
            <a:endParaRPr lang="en-US" altLang="ko-KR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2143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42888"/>
            <a:ext cx="3008313" cy="1033462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42888"/>
            <a:ext cx="5111750" cy="520223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276350"/>
            <a:ext cx="3008313" cy="41687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14"/>
          <p:cNvSpPr>
            <a:spLocks noGrp="1" noChangeArrowheads="1"/>
          </p:cNvSpPr>
          <p:nvPr>
            <p:ph type="ftr" sz="quarter" idx="10"/>
          </p:nvPr>
        </p:nvSpPr>
        <p:spPr>
          <a:xfrm>
            <a:off x="933450" y="5759450"/>
            <a:ext cx="1500188" cy="249238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 dirty="0">
                <a:solidFill>
                  <a:srgbClr val="FFFFFF"/>
                </a:solidFill>
              </a:rPr>
              <a:t>CS350   </a:t>
            </a:r>
          </a:p>
        </p:txBody>
      </p:sp>
      <p:sp>
        <p:nvSpPr>
          <p:cNvPr id="6" name="Rectangle 1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4400FC0-C098-49F6-AFA5-8CC10D163CC1}" type="slidenum">
              <a:rPr lang="ko-KR" altLang="en-US">
                <a:solidFill>
                  <a:srgbClr val="003399"/>
                </a:solidFill>
              </a:rPr>
              <a:pPr>
                <a:defRPr/>
              </a:pPr>
              <a:t>‹#›</a:t>
            </a:fld>
            <a:endParaRPr lang="en-US" altLang="ko-KR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34504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267200"/>
            <a:ext cx="5486400" cy="5032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544513"/>
            <a:ext cx="5486400" cy="36576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770438"/>
            <a:ext cx="5486400" cy="7159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14"/>
          <p:cNvSpPr>
            <a:spLocks noGrp="1" noChangeArrowheads="1"/>
          </p:cNvSpPr>
          <p:nvPr>
            <p:ph type="ftr" sz="quarter" idx="10"/>
          </p:nvPr>
        </p:nvSpPr>
        <p:spPr>
          <a:xfrm>
            <a:off x="933450" y="5759450"/>
            <a:ext cx="1500188" cy="249238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 dirty="0">
                <a:solidFill>
                  <a:srgbClr val="FFFFFF"/>
                </a:solidFill>
              </a:rPr>
              <a:t>CS350   </a:t>
            </a:r>
          </a:p>
        </p:txBody>
      </p:sp>
      <p:sp>
        <p:nvSpPr>
          <p:cNvPr id="6" name="Rectangle 1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232CCF0-E6C4-416D-B3C3-9E4DCD7CA0C1}" type="slidenum">
              <a:rPr lang="ko-KR" altLang="en-US">
                <a:solidFill>
                  <a:srgbClr val="003399"/>
                </a:solidFill>
              </a:rPr>
              <a:pPr>
                <a:defRPr/>
              </a:pPr>
              <a:t>‹#›</a:t>
            </a:fld>
            <a:endParaRPr lang="en-US" altLang="ko-KR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54785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ftr" sz="quarter" idx="10"/>
          </p:nvPr>
        </p:nvSpPr>
        <p:spPr>
          <a:xfrm>
            <a:off x="933450" y="5759450"/>
            <a:ext cx="1500188" cy="249238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 dirty="0">
                <a:solidFill>
                  <a:srgbClr val="FFFFFF"/>
                </a:solidFill>
              </a:rPr>
              <a:t>CS350   </a:t>
            </a:r>
          </a:p>
        </p:txBody>
      </p:sp>
      <p:sp>
        <p:nvSpPr>
          <p:cNvPr id="5" name="Rectangle 1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AA4C87F-8FE8-4909-8571-C325EFDE4265}" type="slidenum">
              <a:rPr lang="ko-KR" altLang="en-US">
                <a:solidFill>
                  <a:srgbClr val="003399"/>
                </a:solidFill>
              </a:rPr>
              <a:pPr>
                <a:defRPr/>
              </a:pPr>
              <a:t>‹#›</a:t>
            </a:fld>
            <a:endParaRPr lang="en-US" altLang="ko-KR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103097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44475"/>
            <a:ext cx="2057400" cy="5176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44475"/>
            <a:ext cx="6019800" cy="5176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ftr" sz="quarter" idx="10"/>
          </p:nvPr>
        </p:nvSpPr>
        <p:spPr>
          <a:xfrm>
            <a:off x="933450" y="5759450"/>
            <a:ext cx="1500188" cy="249238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 dirty="0">
                <a:solidFill>
                  <a:srgbClr val="FFFFFF"/>
                </a:solidFill>
              </a:rPr>
              <a:t>CS350   </a:t>
            </a:r>
          </a:p>
        </p:txBody>
      </p:sp>
      <p:sp>
        <p:nvSpPr>
          <p:cNvPr id="5" name="Rectangle 1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0732575-64FB-46B0-8DDE-30DC15967AB9}" type="slidenum">
              <a:rPr lang="ko-KR" altLang="en-US">
                <a:solidFill>
                  <a:srgbClr val="003399"/>
                </a:solidFill>
              </a:rPr>
              <a:pPr>
                <a:defRPr/>
              </a:pPr>
              <a:t>‹#›</a:t>
            </a:fld>
            <a:endParaRPr lang="en-US" altLang="ko-KR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16800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795" name="Rectangle 11"/>
          <p:cNvSpPr>
            <a:spLocks noGrp="1" noRot="1" noChangeArrowheads="1"/>
          </p:cNvSpPr>
          <p:nvPr>
            <p:ph type="title"/>
          </p:nvPr>
        </p:nvSpPr>
        <p:spPr bwMode="auto">
          <a:xfrm>
            <a:off x="457200" y="244475"/>
            <a:ext cx="8229600" cy="10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758796" name="Rectangle 12"/>
          <p:cNvSpPr>
            <a:spLocks noGrp="1" noRot="1" noChangeArrowheads="1"/>
          </p:cNvSpPr>
          <p:nvPr>
            <p:ph type="body" idx="1"/>
          </p:nvPr>
        </p:nvSpPr>
        <p:spPr bwMode="auto">
          <a:xfrm>
            <a:off x="457200" y="1422400"/>
            <a:ext cx="8229600" cy="39989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58798" name="Rectangle 14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933450" y="5759450"/>
            <a:ext cx="1500188" cy="249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spcBef>
                <a:spcPct val="50000"/>
              </a:spcBef>
              <a:defRPr sz="1000">
                <a:solidFill>
                  <a:schemeClr val="bg1"/>
                </a:solidFill>
                <a:latin typeface="Avant Garde" charset="0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58799" name="Rectangle 1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239125" y="5554663"/>
            <a:ext cx="631825" cy="422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lnSpc>
                <a:spcPct val="100000"/>
              </a:lnSpc>
              <a:defRPr sz="1200" b="0">
                <a:solidFill>
                  <a:schemeClr val="bg1"/>
                </a:solidFill>
                <a:latin typeface="Arial" charset="0"/>
                <a:ea typeface="굴림" pitchFamily="50" charset="-127"/>
              </a:defRPr>
            </a:lvl1pPr>
          </a:lstStyle>
          <a:p>
            <a:pPr>
              <a:defRPr/>
            </a:pPr>
            <a:fld id="{6EEC980A-946E-453B-B98F-07891A4BFD45}" type="slidenum">
              <a:rPr lang="ko-KR" altLang="en-US"/>
              <a:pPr>
                <a:defRPr/>
              </a:pPr>
              <a:t>‹#›</a:t>
            </a:fld>
            <a:endParaRPr lang="en-US" altLang="ko-KR"/>
          </a:p>
        </p:txBody>
      </p:sp>
      <p:pic>
        <p:nvPicPr>
          <p:cNvPr id="1030" name="Picture 16"/>
          <p:cNvPicPr>
            <a:picLocks noChangeArrowheads="1"/>
          </p:cNvPicPr>
          <p:nvPr userDrawn="1"/>
        </p:nvPicPr>
        <p:blipFill>
          <a:blip r:embed="rId13"/>
          <a:srcRect/>
          <a:stretch>
            <a:fillRect/>
          </a:stretch>
        </p:blipFill>
        <p:spPr bwMode="auto">
          <a:xfrm>
            <a:off x="177800" y="5702300"/>
            <a:ext cx="804863" cy="265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 bg1="dk2" tx1="lt1" bg2="dk1" tx2="lt2" accent1="accent1" accent2="accent2" accent3="accent3" accent4="accent4" accent5="accent5" accent6="accent6" hlink="hlink" folHlink="folHlink"/>
  <p:sldLayoutIdLst>
    <p:sldLayoutId id="2147483710" r:id="rId1"/>
    <p:sldLayoutId id="2147483700" r:id="rId2"/>
    <p:sldLayoutId id="2147483701" r:id="rId3"/>
    <p:sldLayoutId id="2147483702" r:id="rId4"/>
    <p:sldLayoutId id="2147483703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</p:sldLayoutIdLst>
  <p:hf hd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660033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660033"/>
          </a:solidFill>
          <a:effectLst>
            <a:outerShdw blurRad="38100" dist="38100" dir="2700000" algn="tl">
              <a:srgbClr val="C0C0C0"/>
            </a:outerShdw>
          </a:effectLst>
          <a:latin typeface="Palatino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660033"/>
          </a:solidFill>
          <a:effectLst>
            <a:outerShdw blurRad="38100" dist="38100" dir="2700000" algn="tl">
              <a:srgbClr val="C0C0C0"/>
            </a:outerShdw>
          </a:effectLst>
          <a:latin typeface="Palatino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660033"/>
          </a:solidFill>
          <a:effectLst>
            <a:outerShdw blurRad="38100" dist="38100" dir="2700000" algn="tl">
              <a:srgbClr val="C0C0C0"/>
            </a:outerShdw>
          </a:effectLst>
          <a:latin typeface="Palatino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660033"/>
          </a:solidFill>
          <a:effectLst>
            <a:outerShdw blurRad="38100" dist="38100" dir="2700000" algn="tl">
              <a:srgbClr val="C0C0C0"/>
            </a:outerShdw>
          </a:effectLst>
          <a:latin typeface="Palatino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600" b="1">
          <a:solidFill>
            <a:srgbClr val="660033"/>
          </a:solidFill>
          <a:effectLst>
            <a:outerShdw blurRad="38100" dist="38100" dir="2700000" algn="tl">
              <a:srgbClr val="C0C0C0"/>
            </a:outerShdw>
          </a:effectLst>
          <a:latin typeface="Palatino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600" b="1">
          <a:solidFill>
            <a:srgbClr val="660033"/>
          </a:solidFill>
          <a:effectLst>
            <a:outerShdw blurRad="38100" dist="38100" dir="2700000" algn="tl">
              <a:srgbClr val="C0C0C0"/>
            </a:outerShdw>
          </a:effectLst>
          <a:latin typeface="Palatino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600" b="1">
          <a:solidFill>
            <a:srgbClr val="660033"/>
          </a:solidFill>
          <a:effectLst>
            <a:outerShdw blurRad="38100" dist="38100" dir="2700000" algn="tl">
              <a:srgbClr val="C0C0C0"/>
            </a:outerShdw>
          </a:effectLst>
          <a:latin typeface="Palatino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600" b="1">
          <a:solidFill>
            <a:srgbClr val="660033"/>
          </a:solidFill>
          <a:effectLst>
            <a:outerShdw blurRad="38100" dist="38100" dir="2700000" algn="tl">
              <a:srgbClr val="C0C0C0"/>
            </a:outerShdw>
          </a:effectLst>
          <a:latin typeface="Palatino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SzPct val="70000"/>
        <a:buFont typeface="Wingdings" pitchFamily="2" charset="2"/>
        <a:buChar char="n"/>
        <a:defRPr sz="2400">
          <a:solidFill>
            <a:schemeClr val="bg1"/>
          </a:solidFill>
          <a:effectLst>
            <a:outerShdw blurRad="38100" dist="38100" dir="2700000" algn="tl">
              <a:srgbClr val="C0C0C0"/>
            </a:outerShdw>
          </a:effectLst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n"/>
        <a:defRPr sz="2000">
          <a:solidFill>
            <a:schemeClr val="bg1"/>
          </a:solidFill>
          <a:effectLst>
            <a:outerShdw blurRad="38100" dist="38100" dir="2700000" algn="tl">
              <a:srgbClr val="C0C0C0"/>
            </a:outerShdw>
          </a:effectLst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70000"/>
        <a:buFont typeface="Wingdings" pitchFamily="2" charset="2"/>
        <a:buChar char="n"/>
        <a:defRPr sz="2400">
          <a:solidFill>
            <a:schemeClr val="bg2"/>
          </a:solidFill>
          <a:effectLst>
            <a:outerShdw blurRad="38100" dist="38100" dir="2700000" algn="tl">
              <a:srgbClr val="C0C0C0"/>
            </a:outerShdw>
          </a:effectLst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n"/>
        <a:defRPr sz="1600">
          <a:solidFill>
            <a:schemeClr val="bg2"/>
          </a:solidFill>
          <a:effectLst>
            <a:outerShdw blurRad="38100" dist="38100" dir="2700000" algn="tl">
              <a:srgbClr val="C0C0C0"/>
            </a:outerShdw>
          </a:effectLst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SzPct val="70000"/>
        <a:buFont typeface="Wingdings" pitchFamily="2" charset="2"/>
        <a:buChar char="n"/>
        <a:defRPr sz="1600">
          <a:solidFill>
            <a:schemeClr val="bg2"/>
          </a:solidFill>
          <a:effectLst>
            <a:outerShdw blurRad="38100" dist="38100" dir="2700000" algn="tl">
              <a:srgbClr val="C0C0C0"/>
            </a:outerShdw>
          </a:effectLst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hlink"/>
        </a:buClr>
        <a:buSzPct val="70000"/>
        <a:buFont typeface="Wingdings" pitchFamily="2" charset="2"/>
        <a:buChar char="n"/>
        <a:defRPr sz="1600">
          <a:solidFill>
            <a:schemeClr val="bg2"/>
          </a:solidFill>
          <a:effectLst>
            <a:outerShdw blurRad="38100" dist="38100" dir="2700000" algn="tl">
              <a:srgbClr val="C0C0C0"/>
            </a:outerShdw>
          </a:effectLst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hlink"/>
        </a:buClr>
        <a:buSzPct val="70000"/>
        <a:buFont typeface="Wingdings" pitchFamily="2" charset="2"/>
        <a:buChar char="n"/>
        <a:defRPr sz="1600">
          <a:solidFill>
            <a:schemeClr val="bg2"/>
          </a:solidFill>
          <a:effectLst>
            <a:outerShdw blurRad="38100" dist="38100" dir="2700000" algn="tl">
              <a:srgbClr val="C0C0C0"/>
            </a:outerShdw>
          </a:effectLst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hlink"/>
        </a:buClr>
        <a:buSzPct val="70000"/>
        <a:buFont typeface="Wingdings" pitchFamily="2" charset="2"/>
        <a:buChar char="n"/>
        <a:defRPr sz="1600">
          <a:solidFill>
            <a:schemeClr val="bg2"/>
          </a:solidFill>
          <a:effectLst>
            <a:outerShdw blurRad="38100" dist="38100" dir="2700000" algn="tl">
              <a:srgbClr val="C0C0C0"/>
            </a:outerShdw>
          </a:effectLst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hlink"/>
        </a:buClr>
        <a:buSzPct val="70000"/>
        <a:buFont typeface="Wingdings" pitchFamily="2" charset="2"/>
        <a:buChar char="n"/>
        <a:defRPr sz="1600">
          <a:solidFill>
            <a:schemeClr val="bg2"/>
          </a:solidFill>
          <a:effectLst>
            <a:outerShdw blurRad="38100" dist="38100" dir="2700000" algn="tl">
              <a:srgbClr val="C0C0C0"/>
            </a:outerShdw>
          </a:effectLst>
          <a:latin typeface="+mn-lt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795" name="Rectangle 11"/>
          <p:cNvSpPr>
            <a:spLocks noGrp="1" noRot="1" noChangeArrowheads="1"/>
          </p:cNvSpPr>
          <p:nvPr>
            <p:ph type="title"/>
          </p:nvPr>
        </p:nvSpPr>
        <p:spPr bwMode="auto">
          <a:xfrm>
            <a:off x="457200" y="244475"/>
            <a:ext cx="8229600" cy="10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758796" name="Rectangle 12"/>
          <p:cNvSpPr>
            <a:spLocks noGrp="1" noRot="1" noChangeArrowheads="1"/>
          </p:cNvSpPr>
          <p:nvPr>
            <p:ph type="body" idx="1"/>
          </p:nvPr>
        </p:nvSpPr>
        <p:spPr bwMode="auto">
          <a:xfrm>
            <a:off x="457200" y="1422400"/>
            <a:ext cx="8229600" cy="39989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58799" name="Rectangle 1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239125" y="5554663"/>
            <a:ext cx="631825" cy="422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lnSpc>
                <a:spcPct val="100000"/>
              </a:lnSpc>
              <a:defRPr sz="1200" b="0">
                <a:solidFill>
                  <a:schemeClr val="bg1"/>
                </a:solidFill>
                <a:latin typeface="Arial" charset="0"/>
                <a:ea typeface="굴림" pitchFamily="50" charset="-127"/>
              </a:defRPr>
            </a:lvl1pPr>
          </a:lstStyle>
          <a:p>
            <a:pPr>
              <a:defRPr/>
            </a:pPr>
            <a:fld id="{552FBB20-3278-4861-90FD-15DF3E057543}" type="slidenum">
              <a:rPr lang="ko-KR" altLang="en-US">
                <a:solidFill>
                  <a:srgbClr val="003399"/>
                </a:solidFill>
              </a:rPr>
              <a:pPr>
                <a:defRPr/>
              </a:pPr>
              <a:t>‹#›</a:t>
            </a:fld>
            <a:endParaRPr lang="en-US" altLang="ko-KR">
              <a:solidFill>
                <a:srgbClr val="003399"/>
              </a:solidFill>
            </a:endParaRPr>
          </a:p>
        </p:txBody>
      </p:sp>
      <p:pic>
        <p:nvPicPr>
          <p:cNvPr id="1030" name="Picture 16"/>
          <p:cNvPicPr>
            <a:picLocks noChangeArrowheads="1"/>
          </p:cNvPicPr>
          <p:nvPr userDrawn="1"/>
        </p:nvPicPr>
        <p:blipFill>
          <a:blip r:embed="rId13"/>
          <a:srcRect/>
          <a:stretch>
            <a:fillRect/>
          </a:stretch>
        </p:blipFill>
        <p:spPr bwMode="auto">
          <a:xfrm>
            <a:off x="177800" y="5702300"/>
            <a:ext cx="804863" cy="265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820160906"/>
      </p:ext>
    </p:extLst>
  </p:cSld>
  <p:clrMap bg1="dk2" tx1="lt1" bg2="dk1" tx2="lt2" accent1="accent1" accent2="accent2" accent3="accent3" accent4="accent4" accent5="accent5" accent6="accent6" hlink="hlink" folHlink="folHlink"/>
  <p:sldLayoutIdLst>
    <p:sldLayoutId id="2147483712" r:id="rId1"/>
    <p:sldLayoutId id="2147483713" r:id="rId2"/>
    <p:sldLayoutId id="2147483714" r:id="rId3"/>
    <p:sldLayoutId id="2147483715" r:id="rId4"/>
    <p:sldLayoutId id="2147483716" r:id="rId5"/>
    <p:sldLayoutId id="2147483717" r:id="rId6"/>
    <p:sldLayoutId id="2147483718" r:id="rId7"/>
    <p:sldLayoutId id="2147483719" r:id="rId8"/>
    <p:sldLayoutId id="2147483720" r:id="rId9"/>
    <p:sldLayoutId id="2147483721" r:id="rId10"/>
    <p:sldLayoutId id="2147483722" r:id="rId11"/>
  </p:sldLayoutIdLst>
  <p:hf hd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660033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660033"/>
          </a:solidFill>
          <a:effectLst>
            <a:outerShdw blurRad="38100" dist="38100" dir="2700000" algn="tl">
              <a:srgbClr val="C0C0C0"/>
            </a:outerShdw>
          </a:effectLst>
          <a:latin typeface="Palatino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660033"/>
          </a:solidFill>
          <a:effectLst>
            <a:outerShdw blurRad="38100" dist="38100" dir="2700000" algn="tl">
              <a:srgbClr val="C0C0C0"/>
            </a:outerShdw>
          </a:effectLst>
          <a:latin typeface="Palatino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660033"/>
          </a:solidFill>
          <a:effectLst>
            <a:outerShdw blurRad="38100" dist="38100" dir="2700000" algn="tl">
              <a:srgbClr val="C0C0C0"/>
            </a:outerShdw>
          </a:effectLst>
          <a:latin typeface="Palatino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660033"/>
          </a:solidFill>
          <a:effectLst>
            <a:outerShdw blurRad="38100" dist="38100" dir="2700000" algn="tl">
              <a:srgbClr val="C0C0C0"/>
            </a:outerShdw>
          </a:effectLst>
          <a:latin typeface="Palatino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600" b="1">
          <a:solidFill>
            <a:srgbClr val="660033"/>
          </a:solidFill>
          <a:effectLst>
            <a:outerShdw blurRad="38100" dist="38100" dir="2700000" algn="tl">
              <a:srgbClr val="C0C0C0"/>
            </a:outerShdw>
          </a:effectLst>
          <a:latin typeface="Palatino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600" b="1">
          <a:solidFill>
            <a:srgbClr val="660033"/>
          </a:solidFill>
          <a:effectLst>
            <a:outerShdw blurRad="38100" dist="38100" dir="2700000" algn="tl">
              <a:srgbClr val="C0C0C0"/>
            </a:outerShdw>
          </a:effectLst>
          <a:latin typeface="Palatino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600" b="1">
          <a:solidFill>
            <a:srgbClr val="660033"/>
          </a:solidFill>
          <a:effectLst>
            <a:outerShdw blurRad="38100" dist="38100" dir="2700000" algn="tl">
              <a:srgbClr val="C0C0C0"/>
            </a:outerShdw>
          </a:effectLst>
          <a:latin typeface="Palatino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600" b="1">
          <a:solidFill>
            <a:srgbClr val="660033"/>
          </a:solidFill>
          <a:effectLst>
            <a:outerShdw blurRad="38100" dist="38100" dir="2700000" algn="tl">
              <a:srgbClr val="C0C0C0"/>
            </a:outerShdw>
          </a:effectLst>
          <a:latin typeface="Palatino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SzPct val="70000"/>
        <a:buFont typeface="Wingdings" pitchFamily="2" charset="2"/>
        <a:buChar char="n"/>
        <a:defRPr sz="2400">
          <a:solidFill>
            <a:schemeClr val="bg1"/>
          </a:solidFill>
          <a:effectLst>
            <a:outerShdw blurRad="38100" dist="38100" dir="2700000" algn="tl">
              <a:srgbClr val="C0C0C0"/>
            </a:outerShdw>
          </a:effectLst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n"/>
        <a:defRPr sz="2000">
          <a:solidFill>
            <a:schemeClr val="bg1"/>
          </a:solidFill>
          <a:effectLst>
            <a:outerShdw blurRad="38100" dist="38100" dir="2700000" algn="tl">
              <a:srgbClr val="C0C0C0"/>
            </a:outerShdw>
          </a:effectLst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70000"/>
        <a:buFont typeface="Wingdings" pitchFamily="2" charset="2"/>
        <a:buChar char="n"/>
        <a:defRPr sz="2400">
          <a:solidFill>
            <a:schemeClr val="bg2"/>
          </a:solidFill>
          <a:effectLst>
            <a:outerShdw blurRad="38100" dist="38100" dir="2700000" algn="tl">
              <a:srgbClr val="C0C0C0"/>
            </a:outerShdw>
          </a:effectLst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n"/>
        <a:defRPr sz="1600">
          <a:solidFill>
            <a:schemeClr val="bg2"/>
          </a:solidFill>
          <a:effectLst>
            <a:outerShdw blurRad="38100" dist="38100" dir="2700000" algn="tl">
              <a:srgbClr val="C0C0C0"/>
            </a:outerShdw>
          </a:effectLst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SzPct val="70000"/>
        <a:buFont typeface="Wingdings" pitchFamily="2" charset="2"/>
        <a:buChar char="n"/>
        <a:defRPr sz="1600">
          <a:solidFill>
            <a:schemeClr val="bg2"/>
          </a:solidFill>
          <a:effectLst>
            <a:outerShdw blurRad="38100" dist="38100" dir="2700000" algn="tl">
              <a:srgbClr val="C0C0C0"/>
            </a:outerShdw>
          </a:effectLst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hlink"/>
        </a:buClr>
        <a:buSzPct val="70000"/>
        <a:buFont typeface="Wingdings" pitchFamily="2" charset="2"/>
        <a:buChar char="n"/>
        <a:defRPr sz="1600">
          <a:solidFill>
            <a:schemeClr val="bg2"/>
          </a:solidFill>
          <a:effectLst>
            <a:outerShdw blurRad="38100" dist="38100" dir="2700000" algn="tl">
              <a:srgbClr val="C0C0C0"/>
            </a:outerShdw>
          </a:effectLst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hlink"/>
        </a:buClr>
        <a:buSzPct val="70000"/>
        <a:buFont typeface="Wingdings" pitchFamily="2" charset="2"/>
        <a:buChar char="n"/>
        <a:defRPr sz="1600">
          <a:solidFill>
            <a:schemeClr val="bg2"/>
          </a:solidFill>
          <a:effectLst>
            <a:outerShdw blurRad="38100" dist="38100" dir="2700000" algn="tl">
              <a:srgbClr val="C0C0C0"/>
            </a:outerShdw>
          </a:effectLst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hlink"/>
        </a:buClr>
        <a:buSzPct val="70000"/>
        <a:buFont typeface="Wingdings" pitchFamily="2" charset="2"/>
        <a:buChar char="n"/>
        <a:defRPr sz="1600">
          <a:solidFill>
            <a:schemeClr val="bg2"/>
          </a:solidFill>
          <a:effectLst>
            <a:outerShdw blurRad="38100" dist="38100" dir="2700000" algn="tl">
              <a:srgbClr val="C0C0C0"/>
            </a:outerShdw>
          </a:effectLst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hlink"/>
        </a:buClr>
        <a:buSzPct val="70000"/>
        <a:buFont typeface="Wingdings" pitchFamily="2" charset="2"/>
        <a:buChar char="n"/>
        <a:defRPr sz="1600">
          <a:solidFill>
            <a:schemeClr val="bg2"/>
          </a:solidFill>
          <a:effectLst>
            <a:outerShdw blurRad="38100" dist="38100" dir="2700000" algn="tl">
              <a:srgbClr val="C0C0C0"/>
            </a:outerShdw>
          </a:effectLst>
          <a:latin typeface="+mn-lt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바닥글 개체 틀 3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/>
          <a:p>
            <a:endParaRPr lang="en-US" altLang="ko-KR" dirty="0"/>
          </a:p>
        </p:txBody>
      </p:sp>
      <p:sp>
        <p:nvSpPr>
          <p:cNvPr id="3075" name="슬라이드 번호 개체 틀 4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761679CC-135E-43AE-8D3E-632BFB6C14BF}" type="slidenum">
              <a:rPr lang="ko-KR" altLang="en-US" smtClean="0"/>
              <a:pPr/>
              <a:t>1</a:t>
            </a:fld>
            <a:endParaRPr lang="en-US" altLang="ko-KR"/>
          </a:p>
        </p:txBody>
      </p:sp>
      <p:sp>
        <p:nvSpPr>
          <p:cNvPr id="1029122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1060458" y="1008063"/>
            <a:ext cx="6899325" cy="1528624"/>
          </a:xfrm>
        </p:spPr>
        <p:txBody>
          <a:bodyPr wrap="none" lIns="63500" tIns="25400" rIns="63500" bIns="25400" anchor="t">
            <a:spAutoFit/>
          </a:bodyPr>
          <a:lstStyle/>
          <a:p>
            <a:pPr eaLnBrk="1" hangingPunct="1">
              <a:defRPr/>
            </a:pPr>
            <a:br>
              <a:rPr lang="en-US" altLang="ko-KR" sz="2400" i="1" dirty="0">
                <a:solidFill>
                  <a:srgbClr val="D7FA7E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</a:br>
            <a:r>
              <a:rPr lang="en-US" altLang="ko-KR" sz="2400" i="1" dirty="0">
                <a:solidFill>
                  <a:srgbClr val="D7FA7E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 </a:t>
            </a: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Chapter 23</a:t>
            </a:r>
            <a:b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</a:b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Software</a:t>
            </a:r>
            <a:r>
              <a:rPr lang="ko-KR" altLang="en-US" dirty="0">
                <a:latin typeface="Arial" pitchFamily="34" charset="0"/>
                <a:ea typeface="굴림" pitchFamily="50" charset="-127"/>
                <a:cs typeface="Arial" pitchFamily="34" charset="0"/>
              </a:rPr>
              <a:t> </a:t>
            </a: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Metrics and Analytics</a:t>
            </a:r>
            <a:endParaRPr lang="en-US" altLang="ko-KR" sz="2000" b="0" dirty="0">
              <a:solidFill>
                <a:srgbClr val="FF6600"/>
              </a:solidFill>
              <a:effectLst/>
              <a:latin typeface="Arial" pitchFamily="34" charset="0"/>
              <a:ea typeface="굴림" pitchFamily="50" charset="-127"/>
              <a:cs typeface="Arial" pitchFamily="34" charset="0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바닥글 개체 틀 3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/>
          <a:p>
            <a:endParaRPr lang="en-US" altLang="ko-KR" dirty="0"/>
          </a:p>
        </p:txBody>
      </p:sp>
      <p:sp>
        <p:nvSpPr>
          <p:cNvPr id="5123" name="슬라이드 번호 개체 틀 4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6A2CB90C-4ECE-4ABD-B82C-4639BDE31FD4}" type="slidenum">
              <a:rPr lang="ko-KR" altLang="en-US" smtClean="0"/>
              <a:pPr/>
              <a:t>2</a:t>
            </a:fld>
            <a:endParaRPr lang="en-US" altLang="ko-KR"/>
          </a:p>
        </p:txBody>
      </p:sp>
      <p:sp>
        <p:nvSpPr>
          <p:cNvPr id="1297410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1482998" y="244475"/>
            <a:ext cx="6181179" cy="605294"/>
          </a:xfrm>
        </p:spPr>
        <p:txBody>
          <a:bodyPr wrap="none" lIns="63500" tIns="25400" rIns="63500" bIns="25400" anchor="t">
            <a:spAutoFit/>
          </a:bodyPr>
          <a:lstStyle/>
          <a:p>
            <a:pPr eaLnBrk="1" hangingPunct="1"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McCall’s Triangle of Quality</a:t>
            </a:r>
          </a:p>
        </p:txBody>
      </p:sp>
      <p:sp>
        <p:nvSpPr>
          <p:cNvPr id="5125" name="Freeform 3"/>
          <p:cNvSpPr>
            <a:spLocks/>
          </p:cNvSpPr>
          <p:nvPr/>
        </p:nvSpPr>
        <p:spPr bwMode="auto">
          <a:xfrm>
            <a:off x="4387850" y="1482725"/>
            <a:ext cx="2219325" cy="1831975"/>
          </a:xfrm>
          <a:custGeom>
            <a:avLst/>
            <a:gdLst>
              <a:gd name="T0" fmla="*/ 2147483647 w 1398"/>
              <a:gd name="T1" fmla="*/ 2147483647 h 1154"/>
              <a:gd name="T2" fmla="*/ 0 w 1398"/>
              <a:gd name="T3" fmla="*/ 0 h 1154"/>
              <a:gd name="T4" fmla="*/ 0 w 1398"/>
              <a:gd name="T5" fmla="*/ 2147483647 h 1154"/>
              <a:gd name="T6" fmla="*/ 2147483647 w 1398"/>
              <a:gd name="T7" fmla="*/ 2147483647 h 1154"/>
              <a:gd name="T8" fmla="*/ 0 60000 65536"/>
              <a:gd name="T9" fmla="*/ 0 60000 65536"/>
              <a:gd name="T10" fmla="*/ 0 60000 65536"/>
              <a:gd name="T11" fmla="*/ 0 60000 65536"/>
              <a:gd name="T12" fmla="*/ 0 w 1398"/>
              <a:gd name="T13" fmla="*/ 0 h 1154"/>
              <a:gd name="T14" fmla="*/ 1398 w 1398"/>
              <a:gd name="T15" fmla="*/ 1154 h 1154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1398" h="1154">
                <a:moveTo>
                  <a:pt x="1398" y="1154"/>
                </a:moveTo>
                <a:lnTo>
                  <a:pt x="0" y="0"/>
                </a:lnTo>
                <a:lnTo>
                  <a:pt x="0" y="772"/>
                </a:lnTo>
                <a:lnTo>
                  <a:pt x="1398" y="1154"/>
                </a:lnTo>
                <a:close/>
              </a:path>
            </a:pathLst>
          </a:custGeom>
          <a:solidFill>
            <a:srgbClr val="888888"/>
          </a:solidFill>
          <a:ln w="9525">
            <a:noFill/>
            <a:round/>
            <a:headEnd/>
            <a:tailEnd/>
          </a:ln>
        </p:spPr>
        <p:txBody>
          <a:bodyPr/>
          <a:lstStyle/>
          <a:p>
            <a:endParaRPr lang="ko-KR" altLang="en-US">
              <a:ea typeface="굴림" pitchFamily="50" charset="-127"/>
            </a:endParaRPr>
          </a:p>
        </p:txBody>
      </p:sp>
      <p:sp>
        <p:nvSpPr>
          <p:cNvPr id="5126" name="Freeform 4"/>
          <p:cNvSpPr>
            <a:spLocks/>
          </p:cNvSpPr>
          <p:nvPr/>
        </p:nvSpPr>
        <p:spPr bwMode="auto">
          <a:xfrm>
            <a:off x="2182813" y="1482725"/>
            <a:ext cx="2217737" cy="1831975"/>
          </a:xfrm>
          <a:custGeom>
            <a:avLst/>
            <a:gdLst>
              <a:gd name="T0" fmla="*/ 0 w 1397"/>
              <a:gd name="T1" fmla="*/ 2147483647 h 1154"/>
              <a:gd name="T2" fmla="*/ 2147483647 w 1397"/>
              <a:gd name="T3" fmla="*/ 0 h 1154"/>
              <a:gd name="T4" fmla="*/ 2147483647 w 1397"/>
              <a:gd name="T5" fmla="*/ 2147483647 h 1154"/>
              <a:gd name="T6" fmla="*/ 0 w 1397"/>
              <a:gd name="T7" fmla="*/ 2147483647 h 1154"/>
              <a:gd name="T8" fmla="*/ 0 60000 65536"/>
              <a:gd name="T9" fmla="*/ 0 60000 65536"/>
              <a:gd name="T10" fmla="*/ 0 60000 65536"/>
              <a:gd name="T11" fmla="*/ 0 60000 65536"/>
              <a:gd name="T12" fmla="*/ 0 w 1397"/>
              <a:gd name="T13" fmla="*/ 0 h 1154"/>
              <a:gd name="T14" fmla="*/ 1397 w 1397"/>
              <a:gd name="T15" fmla="*/ 1154 h 1154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1397" h="1154">
                <a:moveTo>
                  <a:pt x="0" y="1154"/>
                </a:moveTo>
                <a:lnTo>
                  <a:pt x="1397" y="0"/>
                </a:lnTo>
                <a:lnTo>
                  <a:pt x="1397" y="772"/>
                </a:lnTo>
                <a:lnTo>
                  <a:pt x="0" y="1154"/>
                </a:lnTo>
                <a:close/>
              </a:path>
            </a:pathLst>
          </a:custGeom>
          <a:solidFill>
            <a:srgbClr val="DDDDDD"/>
          </a:solidFill>
          <a:ln w="9525">
            <a:noFill/>
            <a:round/>
            <a:headEnd/>
            <a:tailEnd/>
          </a:ln>
        </p:spPr>
        <p:txBody>
          <a:bodyPr/>
          <a:lstStyle/>
          <a:p>
            <a:endParaRPr lang="ko-KR" altLang="en-US">
              <a:ea typeface="굴림" pitchFamily="50" charset="-127"/>
            </a:endParaRPr>
          </a:p>
        </p:txBody>
      </p:sp>
      <p:sp>
        <p:nvSpPr>
          <p:cNvPr id="5127" name="Freeform 5"/>
          <p:cNvSpPr>
            <a:spLocks/>
          </p:cNvSpPr>
          <p:nvPr/>
        </p:nvSpPr>
        <p:spPr bwMode="auto">
          <a:xfrm>
            <a:off x="2182813" y="2695575"/>
            <a:ext cx="4500562" cy="619125"/>
          </a:xfrm>
          <a:custGeom>
            <a:avLst/>
            <a:gdLst>
              <a:gd name="T0" fmla="*/ 0 w 2835"/>
              <a:gd name="T1" fmla="*/ 2147483647 h 390"/>
              <a:gd name="T2" fmla="*/ 2147483647 w 2835"/>
              <a:gd name="T3" fmla="*/ 0 h 390"/>
              <a:gd name="T4" fmla="*/ 2147483647 w 2835"/>
              <a:gd name="T5" fmla="*/ 2147483647 h 390"/>
              <a:gd name="T6" fmla="*/ 0 w 2835"/>
              <a:gd name="T7" fmla="*/ 2147483647 h 390"/>
              <a:gd name="T8" fmla="*/ 0 60000 65536"/>
              <a:gd name="T9" fmla="*/ 0 60000 65536"/>
              <a:gd name="T10" fmla="*/ 0 60000 65536"/>
              <a:gd name="T11" fmla="*/ 0 60000 65536"/>
              <a:gd name="T12" fmla="*/ 0 w 2835"/>
              <a:gd name="T13" fmla="*/ 0 h 390"/>
              <a:gd name="T14" fmla="*/ 2835 w 2835"/>
              <a:gd name="T15" fmla="*/ 390 h 39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835" h="390">
                <a:moveTo>
                  <a:pt x="0" y="390"/>
                </a:moveTo>
                <a:lnTo>
                  <a:pt x="1397" y="0"/>
                </a:lnTo>
                <a:lnTo>
                  <a:pt x="2835" y="390"/>
                </a:lnTo>
                <a:lnTo>
                  <a:pt x="0" y="390"/>
                </a:lnTo>
                <a:close/>
              </a:path>
            </a:pathLst>
          </a:custGeom>
          <a:solidFill>
            <a:srgbClr val="222222"/>
          </a:solidFill>
          <a:ln w="9525">
            <a:noFill/>
            <a:round/>
            <a:headEnd/>
            <a:tailEnd/>
          </a:ln>
        </p:spPr>
        <p:txBody>
          <a:bodyPr/>
          <a:lstStyle/>
          <a:p>
            <a:endParaRPr lang="ko-KR" altLang="en-US">
              <a:ea typeface="굴림" pitchFamily="50" charset="-127"/>
            </a:endParaRPr>
          </a:p>
        </p:txBody>
      </p:sp>
      <p:grpSp>
        <p:nvGrpSpPr>
          <p:cNvPr id="5128" name="Group 6"/>
          <p:cNvGrpSpPr>
            <a:grpSpLocks/>
          </p:cNvGrpSpPr>
          <p:nvPr/>
        </p:nvGrpSpPr>
        <p:grpSpPr bwMode="auto">
          <a:xfrm>
            <a:off x="1082675" y="896938"/>
            <a:ext cx="1946275" cy="341312"/>
            <a:chOff x="682" y="745"/>
            <a:chExt cx="1226" cy="215"/>
          </a:xfrm>
        </p:grpSpPr>
        <p:sp>
          <p:nvSpPr>
            <p:cNvPr id="1297415" name="Rectangle 7"/>
            <p:cNvSpPr>
              <a:spLocks noChangeArrowheads="1"/>
            </p:cNvSpPr>
            <p:nvPr/>
          </p:nvSpPr>
          <p:spPr bwMode="auto">
            <a:xfrm>
              <a:off x="690" y="753"/>
              <a:ext cx="160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M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16" name="Rectangle 8"/>
            <p:cNvSpPr>
              <a:spLocks noChangeArrowheads="1"/>
            </p:cNvSpPr>
            <p:nvPr/>
          </p:nvSpPr>
          <p:spPr bwMode="auto">
            <a:xfrm>
              <a:off x="849" y="753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a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17" name="Rectangle 9"/>
            <p:cNvSpPr>
              <a:spLocks noChangeArrowheads="1"/>
            </p:cNvSpPr>
            <p:nvPr/>
          </p:nvSpPr>
          <p:spPr bwMode="auto">
            <a:xfrm>
              <a:off x="957" y="753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18" name="Rectangle 10"/>
            <p:cNvSpPr>
              <a:spLocks noChangeArrowheads="1"/>
            </p:cNvSpPr>
            <p:nvPr/>
          </p:nvSpPr>
          <p:spPr bwMode="auto">
            <a:xfrm>
              <a:off x="1000" y="753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n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19" name="Rectangle 11"/>
            <p:cNvSpPr>
              <a:spLocks noChangeArrowheads="1"/>
            </p:cNvSpPr>
            <p:nvPr/>
          </p:nvSpPr>
          <p:spPr bwMode="auto">
            <a:xfrm>
              <a:off x="1106" y="753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t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20" name="Rectangle 12"/>
            <p:cNvSpPr>
              <a:spLocks noChangeArrowheads="1"/>
            </p:cNvSpPr>
            <p:nvPr/>
          </p:nvSpPr>
          <p:spPr bwMode="auto">
            <a:xfrm>
              <a:off x="1160" y="753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a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21" name="Rectangle 13"/>
            <p:cNvSpPr>
              <a:spLocks noChangeArrowheads="1"/>
            </p:cNvSpPr>
            <p:nvPr/>
          </p:nvSpPr>
          <p:spPr bwMode="auto">
            <a:xfrm>
              <a:off x="1267" y="753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22" name="Rectangle 14"/>
            <p:cNvSpPr>
              <a:spLocks noChangeArrowheads="1"/>
            </p:cNvSpPr>
            <p:nvPr/>
          </p:nvSpPr>
          <p:spPr bwMode="auto">
            <a:xfrm>
              <a:off x="1309" y="753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n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23" name="Rectangle 15"/>
            <p:cNvSpPr>
              <a:spLocks noChangeArrowheads="1"/>
            </p:cNvSpPr>
            <p:nvPr/>
          </p:nvSpPr>
          <p:spPr bwMode="auto">
            <a:xfrm>
              <a:off x="1415" y="753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a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24" name="Rectangle 16"/>
            <p:cNvSpPr>
              <a:spLocks noChangeArrowheads="1"/>
            </p:cNvSpPr>
            <p:nvPr/>
          </p:nvSpPr>
          <p:spPr bwMode="auto">
            <a:xfrm>
              <a:off x="1522" y="753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b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25" name="Rectangle 17"/>
            <p:cNvSpPr>
              <a:spLocks noChangeArrowheads="1"/>
            </p:cNvSpPr>
            <p:nvPr/>
          </p:nvSpPr>
          <p:spPr bwMode="auto">
            <a:xfrm>
              <a:off x="1630" y="753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26" name="Rectangle 18"/>
            <p:cNvSpPr>
              <a:spLocks noChangeArrowheads="1"/>
            </p:cNvSpPr>
            <p:nvPr/>
          </p:nvSpPr>
          <p:spPr bwMode="auto">
            <a:xfrm>
              <a:off x="1673" y="753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l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27" name="Rectangle 19"/>
            <p:cNvSpPr>
              <a:spLocks noChangeArrowheads="1"/>
            </p:cNvSpPr>
            <p:nvPr/>
          </p:nvSpPr>
          <p:spPr bwMode="auto">
            <a:xfrm>
              <a:off x="1717" y="753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28" name="Rectangle 20"/>
            <p:cNvSpPr>
              <a:spLocks noChangeArrowheads="1"/>
            </p:cNvSpPr>
            <p:nvPr/>
          </p:nvSpPr>
          <p:spPr bwMode="auto">
            <a:xfrm>
              <a:off x="1758" y="753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t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29" name="Rectangle 21"/>
            <p:cNvSpPr>
              <a:spLocks noChangeArrowheads="1"/>
            </p:cNvSpPr>
            <p:nvPr/>
          </p:nvSpPr>
          <p:spPr bwMode="auto">
            <a:xfrm>
              <a:off x="1812" y="753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y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30" name="Rectangle 22"/>
            <p:cNvSpPr>
              <a:spLocks noChangeArrowheads="1"/>
            </p:cNvSpPr>
            <p:nvPr/>
          </p:nvSpPr>
          <p:spPr bwMode="auto">
            <a:xfrm>
              <a:off x="682" y="745"/>
              <a:ext cx="160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M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31" name="Rectangle 23"/>
            <p:cNvSpPr>
              <a:spLocks noChangeArrowheads="1"/>
            </p:cNvSpPr>
            <p:nvPr/>
          </p:nvSpPr>
          <p:spPr bwMode="auto">
            <a:xfrm>
              <a:off x="841" y="745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a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32" name="Rectangle 24"/>
            <p:cNvSpPr>
              <a:spLocks noChangeArrowheads="1"/>
            </p:cNvSpPr>
            <p:nvPr/>
          </p:nvSpPr>
          <p:spPr bwMode="auto">
            <a:xfrm>
              <a:off x="949" y="745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33" name="Rectangle 25"/>
            <p:cNvSpPr>
              <a:spLocks noChangeArrowheads="1"/>
            </p:cNvSpPr>
            <p:nvPr/>
          </p:nvSpPr>
          <p:spPr bwMode="auto">
            <a:xfrm>
              <a:off x="992" y="745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n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34" name="Rectangle 26"/>
            <p:cNvSpPr>
              <a:spLocks noChangeArrowheads="1"/>
            </p:cNvSpPr>
            <p:nvPr/>
          </p:nvSpPr>
          <p:spPr bwMode="auto">
            <a:xfrm>
              <a:off x="1098" y="745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t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35" name="Rectangle 27"/>
            <p:cNvSpPr>
              <a:spLocks noChangeArrowheads="1"/>
            </p:cNvSpPr>
            <p:nvPr/>
          </p:nvSpPr>
          <p:spPr bwMode="auto">
            <a:xfrm>
              <a:off x="1152" y="745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a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36" name="Rectangle 28"/>
            <p:cNvSpPr>
              <a:spLocks noChangeArrowheads="1"/>
            </p:cNvSpPr>
            <p:nvPr/>
          </p:nvSpPr>
          <p:spPr bwMode="auto">
            <a:xfrm>
              <a:off x="1259" y="745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37" name="Rectangle 29"/>
            <p:cNvSpPr>
              <a:spLocks noChangeArrowheads="1"/>
            </p:cNvSpPr>
            <p:nvPr/>
          </p:nvSpPr>
          <p:spPr bwMode="auto">
            <a:xfrm>
              <a:off x="1301" y="745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n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38" name="Rectangle 30"/>
            <p:cNvSpPr>
              <a:spLocks noChangeArrowheads="1"/>
            </p:cNvSpPr>
            <p:nvPr/>
          </p:nvSpPr>
          <p:spPr bwMode="auto">
            <a:xfrm>
              <a:off x="1407" y="745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a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39" name="Rectangle 31"/>
            <p:cNvSpPr>
              <a:spLocks noChangeArrowheads="1"/>
            </p:cNvSpPr>
            <p:nvPr/>
          </p:nvSpPr>
          <p:spPr bwMode="auto">
            <a:xfrm>
              <a:off x="1514" y="745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b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40" name="Rectangle 32"/>
            <p:cNvSpPr>
              <a:spLocks noChangeArrowheads="1"/>
            </p:cNvSpPr>
            <p:nvPr/>
          </p:nvSpPr>
          <p:spPr bwMode="auto">
            <a:xfrm>
              <a:off x="1622" y="745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41" name="Rectangle 33"/>
            <p:cNvSpPr>
              <a:spLocks noChangeArrowheads="1"/>
            </p:cNvSpPr>
            <p:nvPr/>
          </p:nvSpPr>
          <p:spPr bwMode="auto">
            <a:xfrm>
              <a:off x="1665" y="745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l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42" name="Rectangle 34"/>
            <p:cNvSpPr>
              <a:spLocks noChangeArrowheads="1"/>
            </p:cNvSpPr>
            <p:nvPr/>
          </p:nvSpPr>
          <p:spPr bwMode="auto">
            <a:xfrm>
              <a:off x="1709" y="745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43" name="Rectangle 35"/>
            <p:cNvSpPr>
              <a:spLocks noChangeArrowheads="1"/>
            </p:cNvSpPr>
            <p:nvPr/>
          </p:nvSpPr>
          <p:spPr bwMode="auto">
            <a:xfrm>
              <a:off x="1750" y="745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t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44" name="Rectangle 36"/>
            <p:cNvSpPr>
              <a:spLocks noChangeArrowheads="1"/>
            </p:cNvSpPr>
            <p:nvPr/>
          </p:nvSpPr>
          <p:spPr bwMode="auto">
            <a:xfrm>
              <a:off x="1804" y="745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y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</p:grpSp>
      <p:grpSp>
        <p:nvGrpSpPr>
          <p:cNvPr id="5129" name="Group 37"/>
          <p:cNvGrpSpPr>
            <a:grpSpLocks/>
          </p:cNvGrpSpPr>
          <p:nvPr/>
        </p:nvGrpSpPr>
        <p:grpSpPr bwMode="auto">
          <a:xfrm>
            <a:off x="1095375" y="1312863"/>
            <a:ext cx="1276350" cy="341312"/>
            <a:chOff x="690" y="1007"/>
            <a:chExt cx="804" cy="215"/>
          </a:xfrm>
        </p:grpSpPr>
        <p:sp>
          <p:nvSpPr>
            <p:cNvPr id="1297446" name="Rectangle 38"/>
            <p:cNvSpPr>
              <a:spLocks noChangeArrowheads="1"/>
            </p:cNvSpPr>
            <p:nvPr/>
          </p:nvSpPr>
          <p:spPr bwMode="auto">
            <a:xfrm>
              <a:off x="698" y="1015"/>
              <a:ext cx="11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F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47" name="Rectangle 39"/>
            <p:cNvSpPr>
              <a:spLocks noChangeArrowheads="1"/>
            </p:cNvSpPr>
            <p:nvPr/>
          </p:nvSpPr>
          <p:spPr bwMode="auto">
            <a:xfrm>
              <a:off x="817" y="1015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l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48" name="Rectangle 40"/>
            <p:cNvSpPr>
              <a:spLocks noChangeArrowheads="1"/>
            </p:cNvSpPr>
            <p:nvPr/>
          </p:nvSpPr>
          <p:spPr bwMode="auto">
            <a:xfrm>
              <a:off x="860" y="1015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e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49" name="Rectangle 41"/>
            <p:cNvSpPr>
              <a:spLocks noChangeArrowheads="1"/>
            </p:cNvSpPr>
            <p:nvPr/>
          </p:nvSpPr>
          <p:spPr bwMode="auto">
            <a:xfrm>
              <a:off x="968" y="1015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x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50" name="Rectangle 42"/>
            <p:cNvSpPr>
              <a:spLocks noChangeArrowheads="1"/>
            </p:cNvSpPr>
            <p:nvPr/>
          </p:nvSpPr>
          <p:spPr bwMode="auto">
            <a:xfrm>
              <a:off x="1063" y="1015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51" name="Rectangle 43"/>
            <p:cNvSpPr>
              <a:spLocks noChangeArrowheads="1"/>
            </p:cNvSpPr>
            <p:nvPr/>
          </p:nvSpPr>
          <p:spPr bwMode="auto">
            <a:xfrm>
              <a:off x="1107" y="1015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b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52" name="Rectangle 44"/>
            <p:cNvSpPr>
              <a:spLocks noChangeArrowheads="1"/>
            </p:cNvSpPr>
            <p:nvPr/>
          </p:nvSpPr>
          <p:spPr bwMode="auto">
            <a:xfrm>
              <a:off x="1215" y="1015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53" name="Rectangle 45"/>
            <p:cNvSpPr>
              <a:spLocks noChangeArrowheads="1"/>
            </p:cNvSpPr>
            <p:nvPr/>
          </p:nvSpPr>
          <p:spPr bwMode="auto">
            <a:xfrm>
              <a:off x="1258" y="1015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l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54" name="Rectangle 46"/>
            <p:cNvSpPr>
              <a:spLocks noChangeArrowheads="1"/>
            </p:cNvSpPr>
            <p:nvPr/>
          </p:nvSpPr>
          <p:spPr bwMode="auto">
            <a:xfrm>
              <a:off x="1302" y="1015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55" name="Rectangle 47"/>
            <p:cNvSpPr>
              <a:spLocks noChangeArrowheads="1"/>
            </p:cNvSpPr>
            <p:nvPr/>
          </p:nvSpPr>
          <p:spPr bwMode="auto">
            <a:xfrm>
              <a:off x="1346" y="1015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t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56" name="Rectangle 48"/>
            <p:cNvSpPr>
              <a:spLocks noChangeArrowheads="1"/>
            </p:cNvSpPr>
            <p:nvPr/>
          </p:nvSpPr>
          <p:spPr bwMode="auto">
            <a:xfrm>
              <a:off x="1398" y="1015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y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57" name="Rectangle 49"/>
            <p:cNvSpPr>
              <a:spLocks noChangeArrowheads="1"/>
            </p:cNvSpPr>
            <p:nvPr/>
          </p:nvSpPr>
          <p:spPr bwMode="auto">
            <a:xfrm>
              <a:off x="690" y="1007"/>
              <a:ext cx="11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F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58" name="Rectangle 50"/>
            <p:cNvSpPr>
              <a:spLocks noChangeArrowheads="1"/>
            </p:cNvSpPr>
            <p:nvPr/>
          </p:nvSpPr>
          <p:spPr bwMode="auto">
            <a:xfrm>
              <a:off x="809" y="1007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l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59" name="Rectangle 51"/>
            <p:cNvSpPr>
              <a:spLocks noChangeArrowheads="1"/>
            </p:cNvSpPr>
            <p:nvPr/>
          </p:nvSpPr>
          <p:spPr bwMode="auto">
            <a:xfrm>
              <a:off x="852" y="1007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e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60" name="Rectangle 52"/>
            <p:cNvSpPr>
              <a:spLocks noChangeArrowheads="1"/>
            </p:cNvSpPr>
            <p:nvPr/>
          </p:nvSpPr>
          <p:spPr bwMode="auto">
            <a:xfrm>
              <a:off x="960" y="1007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x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61" name="Rectangle 53"/>
            <p:cNvSpPr>
              <a:spLocks noChangeArrowheads="1"/>
            </p:cNvSpPr>
            <p:nvPr/>
          </p:nvSpPr>
          <p:spPr bwMode="auto">
            <a:xfrm>
              <a:off x="1055" y="1007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62" name="Rectangle 54"/>
            <p:cNvSpPr>
              <a:spLocks noChangeArrowheads="1"/>
            </p:cNvSpPr>
            <p:nvPr/>
          </p:nvSpPr>
          <p:spPr bwMode="auto">
            <a:xfrm>
              <a:off x="1099" y="1007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b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63" name="Rectangle 55"/>
            <p:cNvSpPr>
              <a:spLocks noChangeArrowheads="1"/>
            </p:cNvSpPr>
            <p:nvPr/>
          </p:nvSpPr>
          <p:spPr bwMode="auto">
            <a:xfrm>
              <a:off x="1207" y="1007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64" name="Rectangle 56"/>
            <p:cNvSpPr>
              <a:spLocks noChangeArrowheads="1"/>
            </p:cNvSpPr>
            <p:nvPr/>
          </p:nvSpPr>
          <p:spPr bwMode="auto">
            <a:xfrm>
              <a:off x="1250" y="1007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l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65" name="Rectangle 57"/>
            <p:cNvSpPr>
              <a:spLocks noChangeArrowheads="1"/>
            </p:cNvSpPr>
            <p:nvPr/>
          </p:nvSpPr>
          <p:spPr bwMode="auto">
            <a:xfrm>
              <a:off x="1294" y="1007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66" name="Rectangle 58"/>
            <p:cNvSpPr>
              <a:spLocks noChangeArrowheads="1"/>
            </p:cNvSpPr>
            <p:nvPr/>
          </p:nvSpPr>
          <p:spPr bwMode="auto">
            <a:xfrm>
              <a:off x="1338" y="1007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t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67" name="Rectangle 59"/>
            <p:cNvSpPr>
              <a:spLocks noChangeArrowheads="1"/>
            </p:cNvSpPr>
            <p:nvPr/>
          </p:nvSpPr>
          <p:spPr bwMode="auto">
            <a:xfrm>
              <a:off x="1390" y="1007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y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</p:grpSp>
      <p:grpSp>
        <p:nvGrpSpPr>
          <p:cNvPr id="5130" name="Group 60"/>
          <p:cNvGrpSpPr>
            <a:grpSpLocks/>
          </p:cNvGrpSpPr>
          <p:nvPr/>
        </p:nvGrpSpPr>
        <p:grpSpPr bwMode="auto">
          <a:xfrm>
            <a:off x="1095375" y="1743075"/>
            <a:ext cx="1379538" cy="341313"/>
            <a:chOff x="690" y="1278"/>
            <a:chExt cx="869" cy="215"/>
          </a:xfrm>
        </p:grpSpPr>
        <p:sp>
          <p:nvSpPr>
            <p:cNvPr id="1297469" name="Rectangle 61"/>
            <p:cNvSpPr>
              <a:spLocks noChangeArrowheads="1"/>
            </p:cNvSpPr>
            <p:nvPr/>
          </p:nvSpPr>
          <p:spPr bwMode="auto">
            <a:xfrm>
              <a:off x="698" y="1286"/>
              <a:ext cx="11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T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70" name="Rectangle 62"/>
            <p:cNvSpPr>
              <a:spLocks noChangeArrowheads="1"/>
            </p:cNvSpPr>
            <p:nvPr/>
          </p:nvSpPr>
          <p:spPr bwMode="auto">
            <a:xfrm>
              <a:off x="817" y="1286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e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71" name="Rectangle 63"/>
            <p:cNvSpPr>
              <a:spLocks noChangeArrowheads="1"/>
            </p:cNvSpPr>
            <p:nvPr/>
          </p:nvSpPr>
          <p:spPr bwMode="auto">
            <a:xfrm>
              <a:off x="924" y="1286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s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72" name="Rectangle 64"/>
            <p:cNvSpPr>
              <a:spLocks noChangeArrowheads="1"/>
            </p:cNvSpPr>
            <p:nvPr/>
          </p:nvSpPr>
          <p:spPr bwMode="auto">
            <a:xfrm>
              <a:off x="1019" y="1286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t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73" name="Rectangle 65"/>
            <p:cNvSpPr>
              <a:spLocks noChangeArrowheads="1"/>
            </p:cNvSpPr>
            <p:nvPr/>
          </p:nvSpPr>
          <p:spPr bwMode="auto">
            <a:xfrm>
              <a:off x="1072" y="1286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a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74" name="Rectangle 66"/>
            <p:cNvSpPr>
              <a:spLocks noChangeArrowheads="1"/>
            </p:cNvSpPr>
            <p:nvPr/>
          </p:nvSpPr>
          <p:spPr bwMode="auto">
            <a:xfrm>
              <a:off x="1178" y="1286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b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75" name="Rectangle 67"/>
            <p:cNvSpPr>
              <a:spLocks noChangeArrowheads="1"/>
            </p:cNvSpPr>
            <p:nvPr/>
          </p:nvSpPr>
          <p:spPr bwMode="auto">
            <a:xfrm>
              <a:off x="1283" y="1286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76" name="Rectangle 68"/>
            <p:cNvSpPr>
              <a:spLocks noChangeArrowheads="1"/>
            </p:cNvSpPr>
            <p:nvPr/>
          </p:nvSpPr>
          <p:spPr bwMode="auto">
            <a:xfrm>
              <a:off x="1325" y="1286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l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77" name="Rectangle 69"/>
            <p:cNvSpPr>
              <a:spLocks noChangeArrowheads="1"/>
            </p:cNvSpPr>
            <p:nvPr/>
          </p:nvSpPr>
          <p:spPr bwMode="auto">
            <a:xfrm>
              <a:off x="1367" y="1286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78" name="Rectangle 70"/>
            <p:cNvSpPr>
              <a:spLocks noChangeArrowheads="1"/>
            </p:cNvSpPr>
            <p:nvPr/>
          </p:nvSpPr>
          <p:spPr bwMode="auto">
            <a:xfrm>
              <a:off x="1411" y="1286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t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79" name="Rectangle 71"/>
            <p:cNvSpPr>
              <a:spLocks noChangeArrowheads="1"/>
            </p:cNvSpPr>
            <p:nvPr/>
          </p:nvSpPr>
          <p:spPr bwMode="auto">
            <a:xfrm>
              <a:off x="1463" y="1286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y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80" name="Rectangle 72"/>
            <p:cNvSpPr>
              <a:spLocks noChangeArrowheads="1"/>
            </p:cNvSpPr>
            <p:nvPr/>
          </p:nvSpPr>
          <p:spPr bwMode="auto">
            <a:xfrm>
              <a:off x="690" y="1278"/>
              <a:ext cx="11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T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81" name="Rectangle 73"/>
            <p:cNvSpPr>
              <a:spLocks noChangeArrowheads="1"/>
            </p:cNvSpPr>
            <p:nvPr/>
          </p:nvSpPr>
          <p:spPr bwMode="auto">
            <a:xfrm>
              <a:off x="809" y="1278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e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82" name="Rectangle 74"/>
            <p:cNvSpPr>
              <a:spLocks noChangeArrowheads="1"/>
            </p:cNvSpPr>
            <p:nvPr/>
          </p:nvSpPr>
          <p:spPr bwMode="auto">
            <a:xfrm>
              <a:off x="916" y="1278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s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83" name="Rectangle 75"/>
            <p:cNvSpPr>
              <a:spLocks noChangeArrowheads="1"/>
            </p:cNvSpPr>
            <p:nvPr/>
          </p:nvSpPr>
          <p:spPr bwMode="auto">
            <a:xfrm>
              <a:off x="1011" y="1278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t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84" name="Rectangle 76"/>
            <p:cNvSpPr>
              <a:spLocks noChangeArrowheads="1"/>
            </p:cNvSpPr>
            <p:nvPr/>
          </p:nvSpPr>
          <p:spPr bwMode="auto">
            <a:xfrm>
              <a:off x="1064" y="1278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a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85" name="Rectangle 77"/>
            <p:cNvSpPr>
              <a:spLocks noChangeArrowheads="1"/>
            </p:cNvSpPr>
            <p:nvPr/>
          </p:nvSpPr>
          <p:spPr bwMode="auto">
            <a:xfrm>
              <a:off x="1170" y="1278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b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86" name="Rectangle 78"/>
            <p:cNvSpPr>
              <a:spLocks noChangeArrowheads="1"/>
            </p:cNvSpPr>
            <p:nvPr/>
          </p:nvSpPr>
          <p:spPr bwMode="auto">
            <a:xfrm>
              <a:off x="1275" y="1278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87" name="Rectangle 79"/>
            <p:cNvSpPr>
              <a:spLocks noChangeArrowheads="1"/>
            </p:cNvSpPr>
            <p:nvPr/>
          </p:nvSpPr>
          <p:spPr bwMode="auto">
            <a:xfrm>
              <a:off x="1317" y="1278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l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88" name="Rectangle 80"/>
            <p:cNvSpPr>
              <a:spLocks noChangeArrowheads="1"/>
            </p:cNvSpPr>
            <p:nvPr/>
          </p:nvSpPr>
          <p:spPr bwMode="auto">
            <a:xfrm>
              <a:off x="1359" y="1278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89" name="Rectangle 81"/>
            <p:cNvSpPr>
              <a:spLocks noChangeArrowheads="1"/>
            </p:cNvSpPr>
            <p:nvPr/>
          </p:nvSpPr>
          <p:spPr bwMode="auto">
            <a:xfrm>
              <a:off x="1403" y="1278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t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90" name="Rectangle 82"/>
            <p:cNvSpPr>
              <a:spLocks noChangeArrowheads="1"/>
            </p:cNvSpPr>
            <p:nvPr/>
          </p:nvSpPr>
          <p:spPr bwMode="auto">
            <a:xfrm>
              <a:off x="1455" y="1278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y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</p:grpSp>
      <p:grpSp>
        <p:nvGrpSpPr>
          <p:cNvPr id="5131" name="Group 83"/>
          <p:cNvGrpSpPr>
            <a:grpSpLocks/>
          </p:cNvGrpSpPr>
          <p:nvPr/>
        </p:nvGrpSpPr>
        <p:grpSpPr bwMode="auto">
          <a:xfrm>
            <a:off x="5799138" y="947738"/>
            <a:ext cx="1350962" cy="341312"/>
            <a:chOff x="3653" y="777"/>
            <a:chExt cx="851" cy="215"/>
          </a:xfrm>
        </p:grpSpPr>
        <p:sp>
          <p:nvSpPr>
            <p:cNvPr id="1297492" name="Rectangle 84"/>
            <p:cNvSpPr>
              <a:spLocks noChangeArrowheads="1"/>
            </p:cNvSpPr>
            <p:nvPr/>
          </p:nvSpPr>
          <p:spPr bwMode="auto">
            <a:xfrm>
              <a:off x="3661" y="785"/>
              <a:ext cx="128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P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93" name="Rectangle 85"/>
            <p:cNvSpPr>
              <a:spLocks noChangeArrowheads="1"/>
            </p:cNvSpPr>
            <p:nvPr/>
          </p:nvSpPr>
          <p:spPr bwMode="auto">
            <a:xfrm>
              <a:off x="3790" y="785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o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94" name="Rectangle 86"/>
            <p:cNvSpPr>
              <a:spLocks noChangeArrowheads="1"/>
            </p:cNvSpPr>
            <p:nvPr/>
          </p:nvSpPr>
          <p:spPr bwMode="auto">
            <a:xfrm>
              <a:off x="3897" y="785"/>
              <a:ext cx="64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r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95" name="Rectangle 87"/>
            <p:cNvSpPr>
              <a:spLocks noChangeArrowheads="1"/>
            </p:cNvSpPr>
            <p:nvPr/>
          </p:nvSpPr>
          <p:spPr bwMode="auto">
            <a:xfrm>
              <a:off x="3960" y="785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t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96" name="Rectangle 88"/>
            <p:cNvSpPr>
              <a:spLocks noChangeArrowheads="1"/>
            </p:cNvSpPr>
            <p:nvPr/>
          </p:nvSpPr>
          <p:spPr bwMode="auto">
            <a:xfrm>
              <a:off x="4014" y="785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a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97" name="Rectangle 89"/>
            <p:cNvSpPr>
              <a:spLocks noChangeArrowheads="1"/>
            </p:cNvSpPr>
            <p:nvPr/>
          </p:nvSpPr>
          <p:spPr bwMode="auto">
            <a:xfrm>
              <a:off x="4120" y="785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b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98" name="Rectangle 90"/>
            <p:cNvSpPr>
              <a:spLocks noChangeArrowheads="1"/>
            </p:cNvSpPr>
            <p:nvPr/>
          </p:nvSpPr>
          <p:spPr bwMode="auto">
            <a:xfrm>
              <a:off x="4226" y="785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499" name="Rectangle 91"/>
            <p:cNvSpPr>
              <a:spLocks noChangeArrowheads="1"/>
            </p:cNvSpPr>
            <p:nvPr/>
          </p:nvSpPr>
          <p:spPr bwMode="auto">
            <a:xfrm>
              <a:off x="4269" y="785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l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00" name="Rectangle 92"/>
            <p:cNvSpPr>
              <a:spLocks noChangeArrowheads="1"/>
            </p:cNvSpPr>
            <p:nvPr/>
          </p:nvSpPr>
          <p:spPr bwMode="auto">
            <a:xfrm>
              <a:off x="4313" y="785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01" name="Rectangle 93"/>
            <p:cNvSpPr>
              <a:spLocks noChangeArrowheads="1"/>
            </p:cNvSpPr>
            <p:nvPr/>
          </p:nvSpPr>
          <p:spPr bwMode="auto">
            <a:xfrm>
              <a:off x="4356" y="785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t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02" name="Rectangle 94"/>
            <p:cNvSpPr>
              <a:spLocks noChangeArrowheads="1"/>
            </p:cNvSpPr>
            <p:nvPr/>
          </p:nvSpPr>
          <p:spPr bwMode="auto">
            <a:xfrm>
              <a:off x="4408" y="785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y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03" name="Rectangle 95"/>
            <p:cNvSpPr>
              <a:spLocks noChangeArrowheads="1"/>
            </p:cNvSpPr>
            <p:nvPr/>
          </p:nvSpPr>
          <p:spPr bwMode="auto">
            <a:xfrm>
              <a:off x="3653" y="777"/>
              <a:ext cx="128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P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04" name="Rectangle 96"/>
            <p:cNvSpPr>
              <a:spLocks noChangeArrowheads="1"/>
            </p:cNvSpPr>
            <p:nvPr/>
          </p:nvSpPr>
          <p:spPr bwMode="auto">
            <a:xfrm>
              <a:off x="3782" y="777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o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05" name="Rectangle 97"/>
            <p:cNvSpPr>
              <a:spLocks noChangeArrowheads="1"/>
            </p:cNvSpPr>
            <p:nvPr/>
          </p:nvSpPr>
          <p:spPr bwMode="auto">
            <a:xfrm>
              <a:off x="3889" y="777"/>
              <a:ext cx="64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r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06" name="Rectangle 98"/>
            <p:cNvSpPr>
              <a:spLocks noChangeArrowheads="1"/>
            </p:cNvSpPr>
            <p:nvPr/>
          </p:nvSpPr>
          <p:spPr bwMode="auto">
            <a:xfrm>
              <a:off x="3952" y="777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t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07" name="Rectangle 99"/>
            <p:cNvSpPr>
              <a:spLocks noChangeArrowheads="1"/>
            </p:cNvSpPr>
            <p:nvPr/>
          </p:nvSpPr>
          <p:spPr bwMode="auto">
            <a:xfrm>
              <a:off x="4006" y="777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a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08" name="Rectangle 100"/>
            <p:cNvSpPr>
              <a:spLocks noChangeArrowheads="1"/>
            </p:cNvSpPr>
            <p:nvPr/>
          </p:nvSpPr>
          <p:spPr bwMode="auto">
            <a:xfrm>
              <a:off x="4112" y="777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b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09" name="Rectangle 101"/>
            <p:cNvSpPr>
              <a:spLocks noChangeArrowheads="1"/>
            </p:cNvSpPr>
            <p:nvPr/>
          </p:nvSpPr>
          <p:spPr bwMode="auto">
            <a:xfrm>
              <a:off x="4218" y="777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10" name="Rectangle 102"/>
            <p:cNvSpPr>
              <a:spLocks noChangeArrowheads="1"/>
            </p:cNvSpPr>
            <p:nvPr/>
          </p:nvSpPr>
          <p:spPr bwMode="auto">
            <a:xfrm>
              <a:off x="4261" y="777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l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11" name="Rectangle 103"/>
            <p:cNvSpPr>
              <a:spLocks noChangeArrowheads="1"/>
            </p:cNvSpPr>
            <p:nvPr/>
          </p:nvSpPr>
          <p:spPr bwMode="auto">
            <a:xfrm>
              <a:off x="4305" y="777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12" name="Rectangle 104"/>
            <p:cNvSpPr>
              <a:spLocks noChangeArrowheads="1"/>
            </p:cNvSpPr>
            <p:nvPr/>
          </p:nvSpPr>
          <p:spPr bwMode="auto">
            <a:xfrm>
              <a:off x="4348" y="777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t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13" name="Rectangle 105"/>
            <p:cNvSpPr>
              <a:spLocks noChangeArrowheads="1"/>
            </p:cNvSpPr>
            <p:nvPr/>
          </p:nvSpPr>
          <p:spPr bwMode="auto">
            <a:xfrm>
              <a:off x="4400" y="777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y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</p:grpSp>
      <p:grpSp>
        <p:nvGrpSpPr>
          <p:cNvPr id="5132" name="Group 106"/>
          <p:cNvGrpSpPr>
            <a:grpSpLocks/>
          </p:cNvGrpSpPr>
          <p:nvPr/>
        </p:nvGrpSpPr>
        <p:grpSpPr bwMode="auto">
          <a:xfrm>
            <a:off x="5799138" y="1401763"/>
            <a:ext cx="1497012" cy="341312"/>
            <a:chOff x="3653" y="1063"/>
            <a:chExt cx="943" cy="215"/>
          </a:xfrm>
        </p:grpSpPr>
        <p:sp>
          <p:nvSpPr>
            <p:cNvPr id="1297515" name="Rectangle 107"/>
            <p:cNvSpPr>
              <a:spLocks noChangeArrowheads="1"/>
            </p:cNvSpPr>
            <p:nvPr/>
          </p:nvSpPr>
          <p:spPr bwMode="auto">
            <a:xfrm>
              <a:off x="3661" y="1071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R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16" name="Rectangle 108"/>
            <p:cNvSpPr>
              <a:spLocks noChangeArrowheads="1"/>
            </p:cNvSpPr>
            <p:nvPr/>
          </p:nvSpPr>
          <p:spPr bwMode="auto">
            <a:xfrm>
              <a:off x="3798" y="1071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e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17" name="Rectangle 109"/>
            <p:cNvSpPr>
              <a:spLocks noChangeArrowheads="1"/>
            </p:cNvSpPr>
            <p:nvPr/>
          </p:nvSpPr>
          <p:spPr bwMode="auto">
            <a:xfrm>
              <a:off x="3904" y="1071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u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18" name="Rectangle 110"/>
            <p:cNvSpPr>
              <a:spLocks noChangeArrowheads="1"/>
            </p:cNvSpPr>
            <p:nvPr/>
          </p:nvSpPr>
          <p:spPr bwMode="auto">
            <a:xfrm>
              <a:off x="4012" y="1071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s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19" name="Rectangle 111"/>
            <p:cNvSpPr>
              <a:spLocks noChangeArrowheads="1"/>
            </p:cNvSpPr>
            <p:nvPr/>
          </p:nvSpPr>
          <p:spPr bwMode="auto">
            <a:xfrm>
              <a:off x="4106" y="1071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a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20" name="Rectangle 112"/>
            <p:cNvSpPr>
              <a:spLocks noChangeArrowheads="1"/>
            </p:cNvSpPr>
            <p:nvPr/>
          </p:nvSpPr>
          <p:spPr bwMode="auto">
            <a:xfrm>
              <a:off x="4212" y="1071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b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21" name="Rectangle 113"/>
            <p:cNvSpPr>
              <a:spLocks noChangeArrowheads="1"/>
            </p:cNvSpPr>
            <p:nvPr/>
          </p:nvSpPr>
          <p:spPr bwMode="auto">
            <a:xfrm>
              <a:off x="4317" y="1071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22" name="Rectangle 114"/>
            <p:cNvSpPr>
              <a:spLocks noChangeArrowheads="1"/>
            </p:cNvSpPr>
            <p:nvPr/>
          </p:nvSpPr>
          <p:spPr bwMode="auto">
            <a:xfrm>
              <a:off x="4361" y="1071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l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23" name="Rectangle 115"/>
            <p:cNvSpPr>
              <a:spLocks noChangeArrowheads="1"/>
            </p:cNvSpPr>
            <p:nvPr/>
          </p:nvSpPr>
          <p:spPr bwMode="auto">
            <a:xfrm>
              <a:off x="4405" y="1071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24" name="Rectangle 116"/>
            <p:cNvSpPr>
              <a:spLocks noChangeArrowheads="1"/>
            </p:cNvSpPr>
            <p:nvPr/>
          </p:nvSpPr>
          <p:spPr bwMode="auto">
            <a:xfrm>
              <a:off x="4448" y="1071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t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25" name="Rectangle 117"/>
            <p:cNvSpPr>
              <a:spLocks noChangeArrowheads="1"/>
            </p:cNvSpPr>
            <p:nvPr/>
          </p:nvSpPr>
          <p:spPr bwMode="auto">
            <a:xfrm>
              <a:off x="4500" y="1071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y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26" name="Rectangle 118"/>
            <p:cNvSpPr>
              <a:spLocks noChangeArrowheads="1"/>
            </p:cNvSpPr>
            <p:nvPr/>
          </p:nvSpPr>
          <p:spPr bwMode="auto">
            <a:xfrm>
              <a:off x="3653" y="1063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R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27" name="Rectangle 119"/>
            <p:cNvSpPr>
              <a:spLocks noChangeArrowheads="1"/>
            </p:cNvSpPr>
            <p:nvPr/>
          </p:nvSpPr>
          <p:spPr bwMode="auto">
            <a:xfrm>
              <a:off x="3790" y="1063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e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28" name="Rectangle 120"/>
            <p:cNvSpPr>
              <a:spLocks noChangeArrowheads="1"/>
            </p:cNvSpPr>
            <p:nvPr/>
          </p:nvSpPr>
          <p:spPr bwMode="auto">
            <a:xfrm>
              <a:off x="3896" y="1063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u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29" name="Rectangle 121"/>
            <p:cNvSpPr>
              <a:spLocks noChangeArrowheads="1"/>
            </p:cNvSpPr>
            <p:nvPr/>
          </p:nvSpPr>
          <p:spPr bwMode="auto">
            <a:xfrm>
              <a:off x="4004" y="1063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s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30" name="Rectangle 122"/>
            <p:cNvSpPr>
              <a:spLocks noChangeArrowheads="1"/>
            </p:cNvSpPr>
            <p:nvPr/>
          </p:nvSpPr>
          <p:spPr bwMode="auto">
            <a:xfrm>
              <a:off x="4098" y="1063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a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31" name="Rectangle 123"/>
            <p:cNvSpPr>
              <a:spLocks noChangeArrowheads="1"/>
            </p:cNvSpPr>
            <p:nvPr/>
          </p:nvSpPr>
          <p:spPr bwMode="auto">
            <a:xfrm>
              <a:off x="4204" y="1063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b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32" name="Rectangle 124"/>
            <p:cNvSpPr>
              <a:spLocks noChangeArrowheads="1"/>
            </p:cNvSpPr>
            <p:nvPr/>
          </p:nvSpPr>
          <p:spPr bwMode="auto">
            <a:xfrm>
              <a:off x="4309" y="1063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33" name="Rectangle 125"/>
            <p:cNvSpPr>
              <a:spLocks noChangeArrowheads="1"/>
            </p:cNvSpPr>
            <p:nvPr/>
          </p:nvSpPr>
          <p:spPr bwMode="auto">
            <a:xfrm>
              <a:off x="4353" y="1063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l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34" name="Rectangle 126"/>
            <p:cNvSpPr>
              <a:spLocks noChangeArrowheads="1"/>
            </p:cNvSpPr>
            <p:nvPr/>
          </p:nvSpPr>
          <p:spPr bwMode="auto">
            <a:xfrm>
              <a:off x="4397" y="1063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35" name="Rectangle 127"/>
            <p:cNvSpPr>
              <a:spLocks noChangeArrowheads="1"/>
            </p:cNvSpPr>
            <p:nvPr/>
          </p:nvSpPr>
          <p:spPr bwMode="auto">
            <a:xfrm>
              <a:off x="4440" y="1063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t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36" name="Rectangle 128"/>
            <p:cNvSpPr>
              <a:spLocks noChangeArrowheads="1"/>
            </p:cNvSpPr>
            <p:nvPr/>
          </p:nvSpPr>
          <p:spPr bwMode="auto">
            <a:xfrm>
              <a:off x="4492" y="1063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y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</p:grpSp>
      <p:grpSp>
        <p:nvGrpSpPr>
          <p:cNvPr id="5133" name="Group 129"/>
          <p:cNvGrpSpPr>
            <a:grpSpLocks/>
          </p:cNvGrpSpPr>
          <p:nvPr/>
        </p:nvGrpSpPr>
        <p:grpSpPr bwMode="auto">
          <a:xfrm>
            <a:off x="5799138" y="1857375"/>
            <a:ext cx="2017712" cy="341313"/>
            <a:chOff x="3653" y="1350"/>
            <a:chExt cx="1271" cy="215"/>
          </a:xfrm>
        </p:grpSpPr>
        <p:sp>
          <p:nvSpPr>
            <p:cNvPr id="1297538" name="Rectangle 130"/>
            <p:cNvSpPr>
              <a:spLocks noChangeArrowheads="1"/>
            </p:cNvSpPr>
            <p:nvPr/>
          </p:nvSpPr>
          <p:spPr bwMode="auto">
            <a:xfrm>
              <a:off x="3661" y="1358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39" name="Rectangle 131"/>
            <p:cNvSpPr>
              <a:spLocks noChangeArrowheads="1"/>
            </p:cNvSpPr>
            <p:nvPr/>
          </p:nvSpPr>
          <p:spPr bwMode="auto">
            <a:xfrm>
              <a:off x="3715" y="1358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n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40" name="Rectangle 132"/>
            <p:cNvSpPr>
              <a:spLocks noChangeArrowheads="1"/>
            </p:cNvSpPr>
            <p:nvPr/>
          </p:nvSpPr>
          <p:spPr bwMode="auto">
            <a:xfrm>
              <a:off x="3823" y="1358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t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41" name="Rectangle 133"/>
            <p:cNvSpPr>
              <a:spLocks noChangeArrowheads="1"/>
            </p:cNvSpPr>
            <p:nvPr/>
          </p:nvSpPr>
          <p:spPr bwMode="auto">
            <a:xfrm>
              <a:off x="3876" y="1358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e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42" name="Rectangle 134"/>
            <p:cNvSpPr>
              <a:spLocks noChangeArrowheads="1"/>
            </p:cNvSpPr>
            <p:nvPr/>
          </p:nvSpPr>
          <p:spPr bwMode="auto">
            <a:xfrm>
              <a:off x="3983" y="1358"/>
              <a:ext cx="64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r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43" name="Rectangle 135"/>
            <p:cNvSpPr>
              <a:spLocks noChangeArrowheads="1"/>
            </p:cNvSpPr>
            <p:nvPr/>
          </p:nvSpPr>
          <p:spPr bwMode="auto">
            <a:xfrm>
              <a:off x="4046" y="1358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o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44" name="Rectangle 136"/>
            <p:cNvSpPr>
              <a:spLocks noChangeArrowheads="1"/>
            </p:cNvSpPr>
            <p:nvPr/>
          </p:nvSpPr>
          <p:spPr bwMode="auto">
            <a:xfrm>
              <a:off x="4152" y="1358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p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45" name="Rectangle 137"/>
            <p:cNvSpPr>
              <a:spLocks noChangeArrowheads="1"/>
            </p:cNvSpPr>
            <p:nvPr/>
          </p:nvSpPr>
          <p:spPr bwMode="auto">
            <a:xfrm>
              <a:off x="4258" y="1358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e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46" name="Rectangle 138"/>
            <p:cNvSpPr>
              <a:spLocks noChangeArrowheads="1"/>
            </p:cNvSpPr>
            <p:nvPr/>
          </p:nvSpPr>
          <p:spPr bwMode="auto">
            <a:xfrm>
              <a:off x="4364" y="1358"/>
              <a:ext cx="64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r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47" name="Rectangle 139"/>
            <p:cNvSpPr>
              <a:spLocks noChangeArrowheads="1"/>
            </p:cNvSpPr>
            <p:nvPr/>
          </p:nvSpPr>
          <p:spPr bwMode="auto">
            <a:xfrm>
              <a:off x="4427" y="1358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a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48" name="Rectangle 140"/>
            <p:cNvSpPr>
              <a:spLocks noChangeArrowheads="1"/>
            </p:cNvSpPr>
            <p:nvPr/>
          </p:nvSpPr>
          <p:spPr bwMode="auto">
            <a:xfrm>
              <a:off x="4534" y="1358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b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49" name="Rectangle 141"/>
            <p:cNvSpPr>
              <a:spLocks noChangeArrowheads="1"/>
            </p:cNvSpPr>
            <p:nvPr/>
          </p:nvSpPr>
          <p:spPr bwMode="auto">
            <a:xfrm>
              <a:off x="4642" y="1358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50" name="Rectangle 142"/>
            <p:cNvSpPr>
              <a:spLocks noChangeArrowheads="1"/>
            </p:cNvSpPr>
            <p:nvPr/>
          </p:nvSpPr>
          <p:spPr bwMode="auto">
            <a:xfrm>
              <a:off x="4686" y="1358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l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51" name="Rectangle 143"/>
            <p:cNvSpPr>
              <a:spLocks noChangeArrowheads="1"/>
            </p:cNvSpPr>
            <p:nvPr/>
          </p:nvSpPr>
          <p:spPr bwMode="auto">
            <a:xfrm>
              <a:off x="4730" y="1358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52" name="Rectangle 144"/>
            <p:cNvSpPr>
              <a:spLocks noChangeArrowheads="1"/>
            </p:cNvSpPr>
            <p:nvPr/>
          </p:nvSpPr>
          <p:spPr bwMode="auto">
            <a:xfrm>
              <a:off x="4773" y="1358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t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53" name="Rectangle 145"/>
            <p:cNvSpPr>
              <a:spLocks noChangeArrowheads="1"/>
            </p:cNvSpPr>
            <p:nvPr/>
          </p:nvSpPr>
          <p:spPr bwMode="auto">
            <a:xfrm>
              <a:off x="4828" y="1358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y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54" name="Rectangle 146"/>
            <p:cNvSpPr>
              <a:spLocks noChangeArrowheads="1"/>
            </p:cNvSpPr>
            <p:nvPr/>
          </p:nvSpPr>
          <p:spPr bwMode="auto">
            <a:xfrm>
              <a:off x="3653" y="1350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55" name="Rectangle 147"/>
            <p:cNvSpPr>
              <a:spLocks noChangeArrowheads="1"/>
            </p:cNvSpPr>
            <p:nvPr/>
          </p:nvSpPr>
          <p:spPr bwMode="auto">
            <a:xfrm>
              <a:off x="3708" y="1350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n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56" name="Rectangle 148"/>
            <p:cNvSpPr>
              <a:spLocks noChangeArrowheads="1"/>
            </p:cNvSpPr>
            <p:nvPr/>
          </p:nvSpPr>
          <p:spPr bwMode="auto">
            <a:xfrm>
              <a:off x="3815" y="1350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t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57" name="Rectangle 149"/>
            <p:cNvSpPr>
              <a:spLocks noChangeArrowheads="1"/>
            </p:cNvSpPr>
            <p:nvPr/>
          </p:nvSpPr>
          <p:spPr bwMode="auto">
            <a:xfrm>
              <a:off x="3868" y="1350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e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58" name="Rectangle 150"/>
            <p:cNvSpPr>
              <a:spLocks noChangeArrowheads="1"/>
            </p:cNvSpPr>
            <p:nvPr/>
          </p:nvSpPr>
          <p:spPr bwMode="auto">
            <a:xfrm>
              <a:off x="3975" y="1350"/>
              <a:ext cx="64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r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59" name="Rectangle 151"/>
            <p:cNvSpPr>
              <a:spLocks noChangeArrowheads="1"/>
            </p:cNvSpPr>
            <p:nvPr/>
          </p:nvSpPr>
          <p:spPr bwMode="auto">
            <a:xfrm>
              <a:off x="4038" y="1350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o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60" name="Rectangle 152"/>
            <p:cNvSpPr>
              <a:spLocks noChangeArrowheads="1"/>
            </p:cNvSpPr>
            <p:nvPr/>
          </p:nvSpPr>
          <p:spPr bwMode="auto">
            <a:xfrm>
              <a:off x="4144" y="1350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p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61" name="Rectangle 153"/>
            <p:cNvSpPr>
              <a:spLocks noChangeArrowheads="1"/>
            </p:cNvSpPr>
            <p:nvPr/>
          </p:nvSpPr>
          <p:spPr bwMode="auto">
            <a:xfrm>
              <a:off x="4250" y="1350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e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62" name="Rectangle 154"/>
            <p:cNvSpPr>
              <a:spLocks noChangeArrowheads="1"/>
            </p:cNvSpPr>
            <p:nvPr/>
          </p:nvSpPr>
          <p:spPr bwMode="auto">
            <a:xfrm>
              <a:off x="4356" y="1350"/>
              <a:ext cx="64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r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63" name="Rectangle 155"/>
            <p:cNvSpPr>
              <a:spLocks noChangeArrowheads="1"/>
            </p:cNvSpPr>
            <p:nvPr/>
          </p:nvSpPr>
          <p:spPr bwMode="auto">
            <a:xfrm>
              <a:off x="4419" y="1350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a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64" name="Rectangle 156"/>
            <p:cNvSpPr>
              <a:spLocks noChangeArrowheads="1"/>
            </p:cNvSpPr>
            <p:nvPr/>
          </p:nvSpPr>
          <p:spPr bwMode="auto">
            <a:xfrm>
              <a:off x="4526" y="1350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b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65" name="Rectangle 157"/>
            <p:cNvSpPr>
              <a:spLocks noChangeArrowheads="1"/>
            </p:cNvSpPr>
            <p:nvPr/>
          </p:nvSpPr>
          <p:spPr bwMode="auto">
            <a:xfrm>
              <a:off x="4634" y="1350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66" name="Rectangle 158"/>
            <p:cNvSpPr>
              <a:spLocks noChangeArrowheads="1"/>
            </p:cNvSpPr>
            <p:nvPr/>
          </p:nvSpPr>
          <p:spPr bwMode="auto">
            <a:xfrm>
              <a:off x="4678" y="1350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l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67" name="Rectangle 159"/>
            <p:cNvSpPr>
              <a:spLocks noChangeArrowheads="1"/>
            </p:cNvSpPr>
            <p:nvPr/>
          </p:nvSpPr>
          <p:spPr bwMode="auto">
            <a:xfrm>
              <a:off x="4722" y="1350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68" name="Rectangle 160"/>
            <p:cNvSpPr>
              <a:spLocks noChangeArrowheads="1"/>
            </p:cNvSpPr>
            <p:nvPr/>
          </p:nvSpPr>
          <p:spPr bwMode="auto">
            <a:xfrm>
              <a:off x="4765" y="1350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t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69" name="Rectangle 161"/>
            <p:cNvSpPr>
              <a:spLocks noChangeArrowheads="1"/>
            </p:cNvSpPr>
            <p:nvPr/>
          </p:nvSpPr>
          <p:spPr bwMode="auto">
            <a:xfrm>
              <a:off x="4820" y="1350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y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</p:grpSp>
      <p:grpSp>
        <p:nvGrpSpPr>
          <p:cNvPr id="5134" name="Group 162"/>
          <p:cNvGrpSpPr>
            <a:grpSpLocks/>
          </p:cNvGrpSpPr>
          <p:nvPr/>
        </p:nvGrpSpPr>
        <p:grpSpPr bwMode="auto">
          <a:xfrm>
            <a:off x="1641475" y="3746500"/>
            <a:ext cx="1655763" cy="341313"/>
            <a:chOff x="1034" y="2615"/>
            <a:chExt cx="1043" cy="215"/>
          </a:xfrm>
        </p:grpSpPr>
        <p:sp>
          <p:nvSpPr>
            <p:cNvPr id="1297571" name="Rectangle 163"/>
            <p:cNvSpPr>
              <a:spLocks noChangeArrowheads="1"/>
            </p:cNvSpPr>
            <p:nvPr/>
          </p:nvSpPr>
          <p:spPr bwMode="auto">
            <a:xfrm>
              <a:off x="1042" y="2623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C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72" name="Rectangle 164"/>
            <p:cNvSpPr>
              <a:spLocks noChangeArrowheads="1"/>
            </p:cNvSpPr>
            <p:nvPr/>
          </p:nvSpPr>
          <p:spPr bwMode="auto">
            <a:xfrm>
              <a:off x="1180" y="2623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o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73" name="Rectangle 165"/>
            <p:cNvSpPr>
              <a:spLocks noChangeArrowheads="1"/>
            </p:cNvSpPr>
            <p:nvPr/>
          </p:nvSpPr>
          <p:spPr bwMode="auto">
            <a:xfrm>
              <a:off x="1286" y="2623"/>
              <a:ext cx="64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r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74" name="Rectangle 166"/>
            <p:cNvSpPr>
              <a:spLocks noChangeArrowheads="1"/>
            </p:cNvSpPr>
            <p:nvPr/>
          </p:nvSpPr>
          <p:spPr bwMode="auto">
            <a:xfrm>
              <a:off x="1349" y="2623"/>
              <a:ext cx="64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r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75" name="Rectangle 167"/>
            <p:cNvSpPr>
              <a:spLocks noChangeArrowheads="1"/>
            </p:cNvSpPr>
            <p:nvPr/>
          </p:nvSpPr>
          <p:spPr bwMode="auto">
            <a:xfrm>
              <a:off x="1412" y="2623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e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76" name="Rectangle 168"/>
            <p:cNvSpPr>
              <a:spLocks noChangeArrowheads="1"/>
            </p:cNvSpPr>
            <p:nvPr/>
          </p:nvSpPr>
          <p:spPr bwMode="auto">
            <a:xfrm>
              <a:off x="1520" y="2623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c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77" name="Rectangle 169"/>
            <p:cNvSpPr>
              <a:spLocks noChangeArrowheads="1"/>
            </p:cNvSpPr>
            <p:nvPr/>
          </p:nvSpPr>
          <p:spPr bwMode="auto">
            <a:xfrm>
              <a:off x="1615" y="2623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t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78" name="Rectangle 170"/>
            <p:cNvSpPr>
              <a:spLocks noChangeArrowheads="1"/>
            </p:cNvSpPr>
            <p:nvPr/>
          </p:nvSpPr>
          <p:spPr bwMode="auto">
            <a:xfrm>
              <a:off x="1670" y="2623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n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79" name="Rectangle 171"/>
            <p:cNvSpPr>
              <a:spLocks noChangeArrowheads="1"/>
            </p:cNvSpPr>
            <p:nvPr/>
          </p:nvSpPr>
          <p:spPr bwMode="auto">
            <a:xfrm>
              <a:off x="1778" y="2623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e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80" name="Rectangle 172"/>
            <p:cNvSpPr>
              <a:spLocks noChangeArrowheads="1"/>
            </p:cNvSpPr>
            <p:nvPr/>
          </p:nvSpPr>
          <p:spPr bwMode="auto">
            <a:xfrm>
              <a:off x="1886" y="2623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s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81" name="Rectangle 173"/>
            <p:cNvSpPr>
              <a:spLocks noChangeArrowheads="1"/>
            </p:cNvSpPr>
            <p:nvPr/>
          </p:nvSpPr>
          <p:spPr bwMode="auto">
            <a:xfrm>
              <a:off x="1981" y="2623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s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82" name="Rectangle 174"/>
            <p:cNvSpPr>
              <a:spLocks noChangeArrowheads="1"/>
            </p:cNvSpPr>
            <p:nvPr/>
          </p:nvSpPr>
          <p:spPr bwMode="auto">
            <a:xfrm>
              <a:off x="1034" y="2615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C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83" name="Rectangle 175"/>
            <p:cNvSpPr>
              <a:spLocks noChangeArrowheads="1"/>
            </p:cNvSpPr>
            <p:nvPr/>
          </p:nvSpPr>
          <p:spPr bwMode="auto">
            <a:xfrm>
              <a:off x="1172" y="2615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o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84" name="Rectangle 176"/>
            <p:cNvSpPr>
              <a:spLocks noChangeArrowheads="1"/>
            </p:cNvSpPr>
            <p:nvPr/>
          </p:nvSpPr>
          <p:spPr bwMode="auto">
            <a:xfrm>
              <a:off x="1278" y="2615"/>
              <a:ext cx="64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r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85" name="Rectangle 177"/>
            <p:cNvSpPr>
              <a:spLocks noChangeArrowheads="1"/>
            </p:cNvSpPr>
            <p:nvPr/>
          </p:nvSpPr>
          <p:spPr bwMode="auto">
            <a:xfrm>
              <a:off x="1341" y="2615"/>
              <a:ext cx="64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r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86" name="Rectangle 178"/>
            <p:cNvSpPr>
              <a:spLocks noChangeArrowheads="1"/>
            </p:cNvSpPr>
            <p:nvPr/>
          </p:nvSpPr>
          <p:spPr bwMode="auto">
            <a:xfrm>
              <a:off x="1404" y="2615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e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87" name="Rectangle 179"/>
            <p:cNvSpPr>
              <a:spLocks noChangeArrowheads="1"/>
            </p:cNvSpPr>
            <p:nvPr/>
          </p:nvSpPr>
          <p:spPr bwMode="auto">
            <a:xfrm>
              <a:off x="1512" y="2615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c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88" name="Rectangle 180"/>
            <p:cNvSpPr>
              <a:spLocks noChangeArrowheads="1"/>
            </p:cNvSpPr>
            <p:nvPr/>
          </p:nvSpPr>
          <p:spPr bwMode="auto">
            <a:xfrm>
              <a:off x="1607" y="2615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t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89" name="Rectangle 181"/>
            <p:cNvSpPr>
              <a:spLocks noChangeArrowheads="1"/>
            </p:cNvSpPr>
            <p:nvPr/>
          </p:nvSpPr>
          <p:spPr bwMode="auto">
            <a:xfrm>
              <a:off x="1662" y="2615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n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90" name="Rectangle 182"/>
            <p:cNvSpPr>
              <a:spLocks noChangeArrowheads="1"/>
            </p:cNvSpPr>
            <p:nvPr/>
          </p:nvSpPr>
          <p:spPr bwMode="auto">
            <a:xfrm>
              <a:off x="1770" y="2615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e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91" name="Rectangle 183"/>
            <p:cNvSpPr>
              <a:spLocks noChangeArrowheads="1"/>
            </p:cNvSpPr>
            <p:nvPr/>
          </p:nvSpPr>
          <p:spPr bwMode="auto">
            <a:xfrm>
              <a:off x="1878" y="2615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s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92" name="Rectangle 184"/>
            <p:cNvSpPr>
              <a:spLocks noChangeArrowheads="1"/>
            </p:cNvSpPr>
            <p:nvPr/>
          </p:nvSpPr>
          <p:spPr bwMode="auto">
            <a:xfrm>
              <a:off x="1973" y="2615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s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</p:grpSp>
      <p:grpSp>
        <p:nvGrpSpPr>
          <p:cNvPr id="5135" name="Group 185"/>
          <p:cNvGrpSpPr>
            <a:grpSpLocks/>
          </p:cNvGrpSpPr>
          <p:nvPr/>
        </p:nvGrpSpPr>
        <p:grpSpPr bwMode="auto">
          <a:xfrm>
            <a:off x="3149600" y="4176713"/>
            <a:ext cx="1317625" cy="341312"/>
            <a:chOff x="1984" y="2886"/>
            <a:chExt cx="830" cy="215"/>
          </a:xfrm>
        </p:grpSpPr>
        <p:sp>
          <p:nvSpPr>
            <p:cNvPr id="1297594" name="Rectangle 186"/>
            <p:cNvSpPr>
              <a:spLocks noChangeArrowheads="1"/>
            </p:cNvSpPr>
            <p:nvPr/>
          </p:nvSpPr>
          <p:spPr bwMode="auto">
            <a:xfrm>
              <a:off x="1992" y="2894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R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95" name="Rectangle 187"/>
            <p:cNvSpPr>
              <a:spLocks noChangeArrowheads="1"/>
            </p:cNvSpPr>
            <p:nvPr/>
          </p:nvSpPr>
          <p:spPr bwMode="auto">
            <a:xfrm>
              <a:off x="2129" y="2894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e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96" name="Rectangle 188"/>
            <p:cNvSpPr>
              <a:spLocks noChangeArrowheads="1"/>
            </p:cNvSpPr>
            <p:nvPr/>
          </p:nvSpPr>
          <p:spPr bwMode="auto">
            <a:xfrm>
              <a:off x="2235" y="2894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l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97" name="Rectangle 189"/>
            <p:cNvSpPr>
              <a:spLocks noChangeArrowheads="1"/>
            </p:cNvSpPr>
            <p:nvPr/>
          </p:nvSpPr>
          <p:spPr bwMode="auto">
            <a:xfrm>
              <a:off x="2279" y="2894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98" name="Rectangle 190"/>
            <p:cNvSpPr>
              <a:spLocks noChangeArrowheads="1"/>
            </p:cNvSpPr>
            <p:nvPr/>
          </p:nvSpPr>
          <p:spPr bwMode="auto">
            <a:xfrm>
              <a:off x="2322" y="2894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a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599" name="Rectangle 191"/>
            <p:cNvSpPr>
              <a:spLocks noChangeArrowheads="1"/>
            </p:cNvSpPr>
            <p:nvPr/>
          </p:nvSpPr>
          <p:spPr bwMode="auto">
            <a:xfrm>
              <a:off x="2430" y="2894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b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00" name="Rectangle 192"/>
            <p:cNvSpPr>
              <a:spLocks noChangeArrowheads="1"/>
            </p:cNvSpPr>
            <p:nvPr/>
          </p:nvSpPr>
          <p:spPr bwMode="auto">
            <a:xfrm>
              <a:off x="2537" y="2894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01" name="Rectangle 193"/>
            <p:cNvSpPr>
              <a:spLocks noChangeArrowheads="1"/>
            </p:cNvSpPr>
            <p:nvPr/>
          </p:nvSpPr>
          <p:spPr bwMode="auto">
            <a:xfrm>
              <a:off x="2579" y="2894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l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02" name="Rectangle 194"/>
            <p:cNvSpPr>
              <a:spLocks noChangeArrowheads="1"/>
            </p:cNvSpPr>
            <p:nvPr/>
          </p:nvSpPr>
          <p:spPr bwMode="auto">
            <a:xfrm>
              <a:off x="2622" y="2894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03" name="Rectangle 195"/>
            <p:cNvSpPr>
              <a:spLocks noChangeArrowheads="1"/>
            </p:cNvSpPr>
            <p:nvPr/>
          </p:nvSpPr>
          <p:spPr bwMode="auto">
            <a:xfrm>
              <a:off x="2666" y="2894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t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04" name="Rectangle 196"/>
            <p:cNvSpPr>
              <a:spLocks noChangeArrowheads="1"/>
            </p:cNvSpPr>
            <p:nvPr/>
          </p:nvSpPr>
          <p:spPr bwMode="auto">
            <a:xfrm>
              <a:off x="2718" y="2894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y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05" name="Rectangle 197"/>
            <p:cNvSpPr>
              <a:spLocks noChangeArrowheads="1"/>
            </p:cNvSpPr>
            <p:nvPr/>
          </p:nvSpPr>
          <p:spPr bwMode="auto">
            <a:xfrm>
              <a:off x="1984" y="2886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R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06" name="Rectangle 198"/>
            <p:cNvSpPr>
              <a:spLocks noChangeArrowheads="1"/>
            </p:cNvSpPr>
            <p:nvPr/>
          </p:nvSpPr>
          <p:spPr bwMode="auto">
            <a:xfrm>
              <a:off x="2121" y="2886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e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07" name="Rectangle 199"/>
            <p:cNvSpPr>
              <a:spLocks noChangeArrowheads="1"/>
            </p:cNvSpPr>
            <p:nvPr/>
          </p:nvSpPr>
          <p:spPr bwMode="auto">
            <a:xfrm>
              <a:off x="2227" y="2886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l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08" name="Rectangle 200"/>
            <p:cNvSpPr>
              <a:spLocks noChangeArrowheads="1"/>
            </p:cNvSpPr>
            <p:nvPr/>
          </p:nvSpPr>
          <p:spPr bwMode="auto">
            <a:xfrm>
              <a:off x="2271" y="2886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09" name="Rectangle 201"/>
            <p:cNvSpPr>
              <a:spLocks noChangeArrowheads="1"/>
            </p:cNvSpPr>
            <p:nvPr/>
          </p:nvSpPr>
          <p:spPr bwMode="auto">
            <a:xfrm>
              <a:off x="2314" y="2886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a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10" name="Rectangle 202"/>
            <p:cNvSpPr>
              <a:spLocks noChangeArrowheads="1"/>
            </p:cNvSpPr>
            <p:nvPr/>
          </p:nvSpPr>
          <p:spPr bwMode="auto">
            <a:xfrm>
              <a:off x="2422" y="2886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b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11" name="Rectangle 203"/>
            <p:cNvSpPr>
              <a:spLocks noChangeArrowheads="1"/>
            </p:cNvSpPr>
            <p:nvPr/>
          </p:nvSpPr>
          <p:spPr bwMode="auto">
            <a:xfrm>
              <a:off x="2529" y="2886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12" name="Rectangle 204"/>
            <p:cNvSpPr>
              <a:spLocks noChangeArrowheads="1"/>
            </p:cNvSpPr>
            <p:nvPr/>
          </p:nvSpPr>
          <p:spPr bwMode="auto">
            <a:xfrm>
              <a:off x="2571" y="2886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l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13" name="Rectangle 205"/>
            <p:cNvSpPr>
              <a:spLocks noChangeArrowheads="1"/>
            </p:cNvSpPr>
            <p:nvPr/>
          </p:nvSpPr>
          <p:spPr bwMode="auto">
            <a:xfrm>
              <a:off x="2614" y="2886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14" name="Rectangle 206"/>
            <p:cNvSpPr>
              <a:spLocks noChangeArrowheads="1"/>
            </p:cNvSpPr>
            <p:nvPr/>
          </p:nvSpPr>
          <p:spPr bwMode="auto">
            <a:xfrm>
              <a:off x="2658" y="2886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t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15" name="Rectangle 207"/>
            <p:cNvSpPr>
              <a:spLocks noChangeArrowheads="1"/>
            </p:cNvSpPr>
            <p:nvPr/>
          </p:nvSpPr>
          <p:spPr bwMode="auto">
            <a:xfrm>
              <a:off x="2710" y="2886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y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</p:grpSp>
      <p:grpSp>
        <p:nvGrpSpPr>
          <p:cNvPr id="5136" name="Group 208"/>
          <p:cNvGrpSpPr>
            <a:grpSpLocks/>
          </p:cNvGrpSpPr>
          <p:nvPr/>
        </p:nvGrpSpPr>
        <p:grpSpPr bwMode="auto">
          <a:xfrm>
            <a:off x="6065838" y="3784600"/>
            <a:ext cx="1314450" cy="341313"/>
            <a:chOff x="3821" y="2639"/>
            <a:chExt cx="828" cy="215"/>
          </a:xfrm>
        </p:grpSpPr>
        <p:sp>
          <p:nvSpPr>
            <p:cNvPr id="1297617" name="Rectangle 209"/>
            <p:cNvSpPr>
              <a:spLocks noChangeArrowheads="1"/>
            </p:cNvSpPr>
            <p:nvPr/>
          </p:nvSpPr>
          <p:spPr bwMode="auto">
            <a:xfrm>
              <a:off x="3829" y="2647"/>
              <a:ext cx="128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E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18" name="Rectangle 210"/>
            <p:cNvSpPr>
              <a:spLocks noChangeArrowheads="1"/>
            </p:cNvSpPr>
            <p:nvPr/>
          </p:nvSpPr>
          <p:spPr bwMode="auto">
            <a:xfrm>
              <a:off x="3958" y="2647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f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19" name="Rectangle 211"/>
            <p:cNvSpPr>
              <a:spLocks noChangeArrowheads="1"/>
            </p:cNvSpPr>
            <p:nvPr/>
          </p:nvSpPr>
          <p:spPr bwMode="auto">
            <a:xfrm>
              <a:off x="4010" y="2647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f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20" name="Rectangle 212"/>
            <p:cNvSpPr>
              <a:spLocks noChangeArrowheads="1"/>
            </p:cNvSpPr>
            <p:nvPr/>
          </p:nvSpPr>
          <p:spPr bwMode="auto">
            <a:xfrm>
              <a:off x="4065" y="2647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21" name="Rectangle 213"/>
            <p:cNvSpPr>
              <a:spLocks noChangeArrowheads="1"/>
            </p:cNvSpPr>
            <p:nvPr/>
          </p:nvSpPr>
          <p:spPr bwMode="auto">
            <a:xfrm>
              <a:off x="4109" y="2647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c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22" name="Rectangle 214"/>
            <p:cNvSpPr>
              <a:spLocks noChangeArrowheads="1"/>
            </p:cNvSpPr>
            <p:nvPr/>
          </p:nvSpPr>
          <p:spPr bwMode="auto">
            <a:xfrm>
              <a:off x="4204" y="2647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23" name="Rectangle 215"/>
            <p:cNvSpPr>
              <a:spLocks noChangeArrowheads="1"/>
            </p:cNvSpPr>
            <p:nvPr/>
          </p:nvSpPr>
          <p:spPr bwMode="auto">
            <a:xfrm>
              <a:off x="4246" y="2647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e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24" name="Rectangle 216"/>
            <p:cNvSpPr>
              <a:spLocks noChangeArrowheads="1"/>
            </p:cNvSpPr>
            <p:nvPr/>
          </p:nvSpPr>
          <p:spPr bwMode="auto">
            <a:xfrm>
              <a:off x="4352" y="2647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n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25" name="Rectangle 217"/>
            <p:cNvSpPr>
              <a:spLocks noChangeArrowheads="1"/>
            </p:cNvSpPr>
            <p:nvPr/>
          </p:nvSpPr>
          <p:spPr bwMode="auto">
            <a:xfrm>
              <a:off x="4458" y="2647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c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26" name="Rectangle 218"/>
            <p:cNvSpPr>
              <a:spLocks noChangeArrowheads="1"/>
            </p:cNvSpPr>
            <p:nvPr/>
          </p:nvSpPr>
          <p:spPr bwMode="auto">
            <a:xfrm>
              <a:off x="4553" y="2647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y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27" name="Rectangle 219"/>
            <p:cNvSpPr>
              <a:spLocks noChangeArrowheads="1"/>
            </p:cNvSpPr>
            <p:nvPr/>
          </p:nvSpPr>
          <p:spPr bwMode="auto">
            <a:xfrm>
              <a:off x="3821" y="2639"/>
              <a:ext cx="128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E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28" name="Rectangle 220"/>
            <p:cNvSpPr>
              <a:spLocks noChangeArrowheads="1"/>
            </p:cNvSpPr>
            <p:nvPr/>
          </p:nvSpPr>
          <p:spPr bwMode="auto">
            <a:xfrm>
              <a:off x="3950" y="2639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f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29" name="Rectangle 221"/>
            <p:cNvSpPr>
              <a:spLocks noChangeArrowheads="1"/>
            </p:cNvSpPr>
            <p:nvPr/>
          </p:nvSpPr>
          <p:spPr bwMode="auto">
            <a:xfrm>
              <a:off x="4002" y="2639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f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30" name="Rectangle 222"/>
            <p:cNvSpPr>
              <a:spLocks noChangeArrowheads="1"/>
            </p:cNvSpPr>
            <p:nvPr/>
          </p:nvSpPr>
          <p:spPr bwMode="auto">
            <a:xfrm>
              <a:off x="4057" y="2639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31" name="Rectangle 223"/>
            <p:cNvSpPr>
              <a:spLocks noChangeArrowheads="1"/>
            </p:cNvSpPr>
            <p:nvPr/>
          </p:nvSpPr>
          <p:spPr bwMode="auto">
            <a:xfrm>
              <a:off x="4101" y="2639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c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32" name="Rectangle 224"/>
            <p:cNvSpPr>
              <a:spLocks noChangeArrowheads="1"/>
            </p:cNvSpPr>
            <p:nvPr/>
          </p:nvSpPr>
          <p:spPr bwMode="auto">
            <a:xfrm>
              <a:off x="4196" y="2639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33" name="Rectangle 225"/>
            <p:cNvSpPr>
              <a:spLocks noChangeArrowheads="1"/>
            </p:cNvSpPr>
            <p:nvPr/>
          </p:nvSpPr>
          <p:spPr bwMode="auto">
            <a:xfrm>
              <a:off x="4238" y="2639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e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34" name="Rectangle 226"/>
            <p:cNvSpPr>
              <a:spLocks noChangeArrowheads="1"/>
            </p:cNvSpPr>
            <p:nvPr/>
          </p:nvSpPr>
          <p:spPr bwMode="auto">
            <a:xfrm>
              <a:off x="4344" y="2639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n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35" name="Rectangle 227"/>
            <p:cNvSpPr>
              <a:spLocks noChangeArrowheads="1"/>
            </p:cNvSpPr>
            <p:nvPr/>
          </p:nvSpPr>
          <p:spPr bwMode="auto">
            <a:xfrm>
              <a:off x="4450" y="2639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c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36" name="Rectangle 228"/>
            <p:cNvSpPr>
              <a:spLocks noChangeArrowheads="1"/>
            </p:cNvSpPr>
            <p:nvPr/>
          </p:nvSpPr>
          <p:spPr bwMode="auto">
            <a:xfrm>
              <a:off x="4545" y="2639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y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</p:grpSp>
      <p:grpSp>
        <p:nvGrpSpPr>
          <p:cNvPr id="5137" name="Group 229"/>
          <p:cNvGrpSpPr>
            <a:grpSpLocks/>
          </p:cNvGrpSpPr>
          <p:nvPr/>
        </p:nvGrpSpPr>
        <p:grpSpPr bwMode="auto">
          <a:xfrm>
            <a:off x="5519738" y="4164013"/>
            <a:ext cx="1104900" cy="341312"/>
            <a:chOff x="3477" y="2878"/>
            <a:chExt cx="696" cy="215"/>
          </a:xfrm>
        </p:grpSpPr>
        <p:sp>
          <p:nvSpPr>
            <p:cNvPr id="1297638" name="Rectangle 230"/>
            <p:cNvSpPr>
              <a:spLocks noChangeArrowheads="1"/>
            </p:cNvSpPr>
            <p:nvPr/>
          </p:nvSpPr>
          <p:spPr bwMode="auto">
            <a:xfrm>
              <a:off x="3485" y="2886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39" name="Rectangle 231"/>
            <p:cNvSpPr>
              <a:spLocks noChangeArrowheads="1"/>
            </p:cNvSpPr>
            <p:nvPr/>
          </p:nvSpPr>
          <p:spPr bwMode="auto">
            <a:xfrm>
              <a:off x="3540" y="2886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n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40" name="Rectangle 232"/>
            <p:cNvSpPr>
              <a:spLocks noChangeArrowheads="1"/>
            </p:cNvSpPr>
            <p:nvPr/>
          </p:nvSpPr>
          <p:spPr bwMode="auto">
            <a:xfrm>
              <a:off x="3648" y="2886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t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41" name="Rectangle 233"/>
            <p:cNvSpPr>
              <a:spLocks noChangeArrowheads="1"/>
            </p:cNvSpPr>
            <p:nvPr/>
          </p:nvSpPr>
          <p:spPr bwMode="auto">
            <a:xfrm>
              <a:off x="3700" y="2886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e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42" name="Rectangle 234"/>
            <p:cNvSpPr>
              <a:spLocks noChangeArrowheads="1"/>
            </p:cNvSpPr>
            <p:nvPr/>
          </p:nvSpPr>
          <p:spPr bwMode="auto">
            <a:xfrm>
              <a:off x="3808" y="2886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g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43" name="Rectangle 235"/>
            <p:cNvSpPr>
              <a:spLocks noChangeArrowheads="1"/>
            </p:cNvSpPr>
            <p:nvPr/>
          </p:nvSpPr>
          <p:spPr bwMode="auto">
            <a:xfrm>
              <a:off x="3916" y="2886"/>
              <a:ext cx="64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r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44" name="Rectangle 236"/>
            <p:cNvSpPr>
              <a:spLocks noChangeArrowheads="1"/>
            </p:cNvSpPr>
            <p:nvPr/>
          </p:nvSpPr>
          <p:spPr bwMode="auto">
            <a:xfrm>
              <a:off x="3981" y="2886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45" name="Rectangle 237"/>
            <p:cNvSpPr>
              <a:spLocks noChangeArrowheads="1"/>
            </p:cNvSpPr>
            <p:nvPr/>
          </p:nvSpPr>
          <p:spPr bwMode="auto">
            <a:xfrm>
              <a:off x="4023" y="2886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t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46" name="Rectangle 238"/>
            <p:cNvSpPr>
              <a:spLocks noChangeArrowheads="1"/>
            </p:cNvSpPr>
            <p:nvPr/>
          </p:nvSpPr>
          <p:spPr bwMode="auto">
            <a:xfrm>
              <a:off x="4077" y="2886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y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47" name="Rectangle 239"/>
            <p:cNvSpPr>
              <a:spLocks noChangeArrowheads="1"/>
            </p:cNvSpPr>
            <p:nvPr/>
          </p:nvSpPr>
          <p:spPr bwMode="auto">
            <a:xfrm>
              <a:off x="3477" y="2878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48" name="Rectangle 240"/>
            <p:cNvSpPr>
              <a:spLocks noChangeArrowheads="1"/>
            </p:cNvSpPr>
            <p:nvPr/>
          </p:nvSpPr>
          <p:spPr bwMode="auto">
            <a:xfrm>
              <a:off x="3532" y="2878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n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49" name="Rectangle 241"/>
            <p:cNvSpPr>
              <a:spLocks noChangeArrowheads="1"/>
            </p:cNvSpPr>
            <p:nvPr/>
          </p:nvSpPr>
          <p:spPr bwMode="auto">
            <a:xfrm>
              <a:off x="3640" y="2878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t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50" name="Rectangle 242"/>
            <p:cNvSpPr>
              <a:spLocks noChangeArrowheads="1"/>
            </p:cNvSpPr>
            <p:nvPr/>
          </p:nvSpPr>
          <p:spPr bwMode="auto">
            <a:xfrm>
              <a:off x="3692" y="2878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e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51" name="Rectangle 243"/>
            <p:cNvSpPr>
              <a:spLocks noChangeArrowheads="1"/>
            </p:cNvSpPr>
            <p:nvPr/>
          </p:nvSpPr>
          <p:spPr bwMode="auto">
            <a:xfrm>
              <a:off x="3800" y="2878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g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52" name="Rectangle 244"/>
            <p:cNvSpPr>
              <a:spLocks noChangeArrowheads="1"/>
            </p:cNvSpPr>
            <p:nvPr/>
          </p:nvSpPr>
          <p:spPr bwMode="auto">
            <a:xfrm>
              <a:off x="3908" y="2878"/>
              <a:ext cx="64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r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53" name="Rectangle 245"/>
            <p:cNvSpPr>
              <a:spLocks noChangeArrowheads="1"/>
            </p:cNvSpPr>
            <p:nvPr/>
          </p:nvSpPr>
          <p:spPr bwMode="auto">
            <a:xfrm>
              <a:off x="3973" y="2878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54" name="Rectangle 246"/>
            <p:cNvSpPr>
              <a:spLocks noChangeArrowheads="1"/>
            </p:cNvSpPr>
            <p:nvPr/>
          </p:nvSpPr>
          <p:spPr bwMode="auto">
            <a:xfrm>
              <a:off x="4015" y="2878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t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55" name="Rectangle 247"/>
            <p:cNvSpPr>
              <a:spLocks noChangeArrowheads="1"/>
            </p:cNvSpPr>
            <p:nvPr/>
          </p:nvSpPr>
          <p:spPr bwMode="auto">
            <a:xfrm>
              <a:off x="4069" y="2878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y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</p:grpSp>
      <p:grpSp>
        <p:nvGrpSpPr>
          <p:cNvPr id="5138" name="Group 248"/>
          <p:cNvGrpSpPr>
            <a:grpSpLocks/>
          </p:cNvGrpSpPr>
          <p:nvPr/>
        </p:nvGrpSpPr>
        <p:grpSpPr bwMode="auto">
          <a:xfrm>
            <a:off x="4240213" y="3771900"/>
            <a:ext cx="1168400" cy="341313"/>
            <a:chOff x="2671" y="2631"/>
            <a:chExt cx="736" cy="215"/>
          </a:xfrm>
        </p:grpSpPr>
        <p:sp>
          <p:nvSpPr>
            <p:cNvPr id="1297657" name="Rectangle 249"/>
            <p:cNvSpPr>
              <a:spLocks noChangeArrowheads="1"/>
            </p:cNvSpPr>
            <p:nvPr/>
          </p:nvSpPr>
          <p:spPr bwMode="auto">
            <a:xfrm>
              <a:off x="2679" y="2639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U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58" name="Rectangle 250"/>
            <p:cNvSpPr>
              <a:spLocks noChangeArrowheads="1"/>
            </p:cNvSpPr>
            <p:nvPr/>
          </p:nvSpPr>
          <p:spPr bwMode="auto">
            <a:xfrm>
              <a:off x="2816" y="2639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s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59" name="Rectangle 251"/>
            <p:cNvSpPr>
              <a:spLocks noChangeArrowheads="1"/>
            </p:cNvSpPr>
            <p:nvPr/>
          </p:nvSpPr>
          <p:spPr bwMode="auto">
            <a:xfrm>
              <a:off x="2912" y="2639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a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60" name="Rectangle 252"/>
            <p:cNvSpPr>
              <a:spLocks noChangeArrowheads="1"/>
            </p:cNvSpPr>
            <p:nvPr/>
          </p:nvSpPr>
          <p:spPr bwMode="auto">
            <a:xfrm>
              <a:off x="3019" y="2639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b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61" name="Rectangle 253"/>
            <p:cNvSpPr>
              <a:spLocks noChangeArrowheads="1"/>
            </p:cNvSpPr>
            <p:nvPr/>
          </p:nvSpPr>
          <p:spPr bwMode="auto">
            <a:xfrm>
              <a:off x="3127" y="2639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62" name="Rectangle 254"/>
            <p:cNvSpPr>
              <a:spLocks noChangeArrowheads="1"/>
            </p:cNvSpPr>
            <p:nvPr/>
          </p:nvSpPr>
          <p:spPr bwMode="auto">
            <a:xfrm>
              <a:off x="3171" y="2639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l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63" name="Rectangle 255"/>
            <p:cNvSpPr>
              <a:spLocks noChangeArrowheads="1"/>
            </p:cNvSpPr>
            <p:nvPr/>
          </p:nvSpPr>
          <p:spPr bwMode="auto">
            <a:xfrm>
              <a:off x="3215" y="2639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64" name="Rectangle 256"/>
            <p:cNvSpPr>
              <a:spLocks noChangeArrowheads="1"/>
            </p:cNvSpPr>
            <p:nvPr/>
          </p:nvSpPr>
          <p:spPr bwMode="auto">
            <a:xfrm>
              <a:off x="3259" y="2639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t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65" name="Rectangle 257"/>
            <p:cNvSpPr>
              <a:spLocks noChangeArrowheads="1"/>
            </p:cNvSpPr>
            <p:nvPr/>
          </p:nvSpPr>
          <p:spPr bwMode="auto">
            <a:xfrm>
              <a:off x="3311" y="2639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y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66" name="Rectangle 258"/>
            <p:cNvSpPr>
              <a:spLocks noChangeArrowheads="1"/>
            </p:cNvSpPr>
            <p:nvPr/>
          </p:nvSpPr>
          <p:spPr bwMode="auto">
            <a:xfrm>
              <a:off x="2671" y="2631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U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67" name="Rectangle 259"/>
            <p:cNvSpPr>
              <a:spLocks noChangeArrowheads="1"/>
            </p:cNvSpPr>
            <p:nvPr/>
          </p:nvSpPr>
          <p:spPr bwMode="auto">
            <a:xfrm>
              <a:off x="2808" y="2631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s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68" name="Rectangle 260"/>
            <p:cNvSpPr>
              <a:spLocks noChangeArrowheads="1"/>
            </p:cNvSpPr>
            <p:nvPr/>
          </p:nvSpPr>
          <p:spPr bwMode="auto">
            <a:xfrm>
              <a:off x="2904" y="2631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a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69" name="Rectangle 261"/>
            <p:cNvSpPr>
              <a:spLocks noChangeArrowheads="1"/>
            </p:cNvSpPr>
            <p:nvPr/>
          </p:nvSpPr>
          <p:spPr bwMode="auto">
            <a:xfrm>
              <a:off x="3011" y="2631"/>
              <a:ext cx="10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b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70" name="Rectangle 262"/>
            <p:cNvSpPr>
              <a:spLocks noChangeArrowheads="1"/>
            </p:cNvSpPr>
            <p:nvPr/>
          </p:nvSpPr>
          <p:spPr bwMode="auto">
            <a:xfrm>
              <a:off x="3119" y="2631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71" name="Rectangle 263"/>
            <p:cNvSpPr>
              <a:spLocks noChangeArrowheads="1"/>
            </p:cNvSpPr>
            <p:nvPr/>
          </p:nvSpPr>
          <p:spPr bwMode="auto">
            <a:xfrm>
              <a:off x="3163" y="2631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l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72" name="Rectangle 264"/>
            <p:cNvSpPr>
              <a:spLocks noChangeArrowheads="1"/>
            </p:cNvSpPr>
            <p:nvPr/>
          </p:nvSpPr>
          <p:spPr bwMode="auto">
            <a:xfrm>
              <a:off x="3207" y="2631"/>
              <a:ext cx="4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i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73" name="Rectangle 265"/>
            <p:cNvSpPr>
              <a:spLocks noChangeArrowheads="1"/>
            </p:cNvSpPr>
            <p:nvPr/>
          </p:nvSpPr>
          <p:spPr bwMode="auto">
            <a:xfrm>
              <a:off x="3251" y="2631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t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  <p:sp>
          <p:nvSpPr>
            <p:cNvPr id="1297674" name="Rectangle 266"/>
            <p:cNvSpPr>
              <a:spLocks noChangeArrowheads="1"/>
            </p:cNvSpPr>
            <p:nvPr/>
          </p:nvSpPr>
          <p:spPr bwMode="auto">
            <a:xfrm>
              <a:off x="3303" y="2631"/>
              <a:ext cx="96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pPr>
                <a:defRPr/>
              </a:pPr>
              <a:r>
                <a:rPr lang="en-US" altLang="ko-KR" sz="2400" b="0">
                  <a:solidFill>
                    <a:srgbClr val="FF9933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ea typeface="굴림" pitchFamily="50" charset="-127"/>
                </a:rPr>
                <a:t>y</a:t>
              </a:r>
              <a:endParaRPr lang="en-US" altLang="ko-KR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굴림" pitchFamily="50" charset="-127"/>
              </a:endParaRPr>
            </a:p>
          </p:txBody>
        </p:sp>
      </p:grpSp>
      <p:grpSp>
        <p:nvGrpSpPr>
          <p:cNvPr id="5139" name="Group 267"/>
          <p:cNvGrpSpPr>
            <a:grpSpLocks/>
          </p:cNvGrpSpPr>
          <p:nvPr/>
        </p:nvGrpSpPr>
        <p:grpSpPr bwMode="auto">
          <a:xfrm>
            <a:off x="4632325" y="2413000"/>
            <a:ext cx="3462338" cy="341313"/>
            <a:chOff x="2918" y="1700"/>
            <a:chExt cx="2181" cy="215"/>
          </a:xfrm>
        </p:grpSpPr>
        <p:sp>
          <p:nvSpPr>
            <p:cNvPr id="5209" name="Rectangle 268"/>
            <p:cNvSpPr>
              <a:spLocks noChangeArrowheads="1"/>
            </p:cNvSpPr>
            <p:nvPr/>
          </p:nvSpPr>
          <p:spPr bwMode="auto">
            <a:xfrm>
              <a:off x="2926" y="1708"/>
              <a:ext cx="128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P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10" name="Rectangle 269"/>
            <p:cNvSpPr>
              <a:spLocks noChangeArrowheads="1"/>
            </p:cNvSpPr>
            <p:nvPr/>
          </p:nvSpPr>
          <p:spPr bwMode="auto">
            <a:xfrm>
              <a:off x="3054" y="1708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R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11" name="Rectangle 270"/>
            <p:cNvSpPr>
              <a:spLocks noChangeArrowheads="1"/>
            </p:cNvSpPr>
            <p:nvPr/>
          </p:nvSpPr>
          <p:spPr bwMode="auto">
            <a:xfrm>
              <a:off x="3191" y="1708"/>
              <a:ext cx="14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O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12" name="Rectangle 271"/>
            <p:cNvSpPr>
              <a:spLocks noChangeArrowheads="1"/>
            </p:cNvSpPr>
            <p:nvPr/>
          </p:nvSpPr>
          <p:spPr bwMode="auto">
            <a:xfrm>
              <a:off x="3338" y="1708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D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13" name="Rectangle 272"/>
            <p:cNvSpPr>
              <a:spLocks noChangeArrowheads="1"/>
            </p:cNvSpPr>
            <p:nvPr/>
          </p:nvSpPr>
          <p:spPr bwMode="auto">
            <a:xfrm>
              <a:off x="3474" y="1708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U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14" name="Rectangle 273"/>
            <p:cNvSpPr>
              <a:spLocks noChangeArrowheads="1"/>
            </p:cNvSpPr>
            <p:nvPr/>
          </p:nvSpPr>
          <p:spPr bwMode="auto">
            <a:xfrm>
              <a:off x="3612" y="1708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C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15" name="Rectangle 274"/>
            <p:cNvSpPr>
              <a:spLocks noChangeArrowheads="1"/>
            </p:cNvSpPr>
            <p:nvPr/>
          </p:nvSpPr>
          <p:spPr bwMode="auto">
            <a:xfrm>
              <a:off x="3751" y="1708"/>
              <a:ext cx="11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T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16" name="Rectangle 275"/>
            <p:cNvSpPr>
              <a:spLocks noChangeArrowheads="1"/>
            </p:cNvSpPr>
            <p:nvPr/>
          </p:nvSpPr>
          <p:spPr bwMode="auto">
            <a:xfrm>
              <a:off x="3868" y="1708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ko-KR" altLang="en-US" sz="2400">
                  <a:solidFill>
                    <a:schemeClr val="bg1"/>
                  </a:solidFill>
                  <a:ea typeface="굴림" pitchFamily="50" charset="-127"/>
                </a:rPr>
                <a:t> </a:t>
              </a:r>
              <a:endParaRPr lang="ko-KR" altLang="en-US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17" name="Rectangle 276"/>
            <p:cNvSpPr>
              <a:spLocks noChangeArrowheads="1"/>
            </p:cNvSpPr>
            <p:nvPr/>
          </p:nvSpPr>
          <p:spPr bwMode="auto">
            <a:xfrm>
              <a:off x="3935" y="1708"/>
              <a:ext cx="11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T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18" name="Rectangle 277"/>
            <p:cNvSpPr>
              <a:spLocks noChangeArrowheads="1"/>
            </p:cNvSpPr>
            <p:nvPr/>
          </p:nvSpPr>
          <p:spPr bwMode="auto">
            <a:xfrm>
              <a:off x="4050" y="1708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R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19" name="Rectangle 278"/>
            <p:cNvSpPr>
              <a:spLocks noChangeArrowheads="1"/>
            </p:cNvSpPr>
            <p:nvPr/>
          </p:nvSpPr>
          <p:spPr bwMode="auto">
            <a:xfrm>
              <a:off x="4187" y="1708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A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20" name="Rectangle 279"/>
            <p:cNvSpPr>
              <a:spLocks noChangeArrowheads="1"/>
            </p:cNvSpPr>
            <p:nvPr/>
          </p:nvSpPr>
          <p:spPr bwMode="auto">
            <a:xfrm>
              <a:off x="4325" y="1708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N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21" name="Rectangle 280"/>
            <p:cNvSpPr>
              <a:spLocks noChangeArrowheads="1"/>
            </p:cNvSpPr>
            <p:nvPr/>
          </p:nvSpPr>
          <p:spPr bwMode="auto">
            <a:xfrm>
              <a:off x="4463" y="1708"/>
              <a:ext cx="128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S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22" name="Rectangle 281"/>
            <p:cNvSpPr>
              <a:spLocks noChangeArrowheads="1"/>
            </p:cNvSpPr>
            <p:nvPr/>
          </p:nvSpPr>
          <p:spPr bwMode="auto">
            <a:xfrm>
              <a:off x="4591" y="1708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I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23" name="Rectangle 282"/>
            <p:cNvSpPr>
              <a:spLocks noChangeArrowheads="1"/>
            </p:cNvSpPr>
            <p:nvPr/>
          </p:nvSpPr>
          <p:spPr bwMode="auto">
            <a:xfrm>
              <a:off x="4644" y="1708"/>
              <a:ext cx="11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T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24" name="Rectangle 283"/>
            <p:cNvSpPr>
              <a:spLocks noChangeArrowheads="1"/>
            </p:cNvSpPr>
            <p:nvPr/>
          </p:nvSpPr>
          <p:spPr bwMode="auto">
            <a:xfrm>
              <a:off x="4759" y="1708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I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25" name="Rectangle 284"/>
            <p:cNvSpPr>
              <a:spLocks noChangeArrowheads="1"/>
            </p:cNvSpPr>
            <p:nvPr/>
          </p:nvSpPr>
          <p:spPr bwMode="auto">
            <a:xfrm>
              <a:off x="4813" y="1708"/>
              <a:ext cx="14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O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26" name="Rectangle 285"/>
            <p:cNvSpPr>
              <a:spLocks noChangeArrowheads="1"/>
            </p:cNvSpPr>
            <p:nvPr/>
          </p:nvSpPr>
          <p:spPr bwMode="auto">
            <a:xfrm>
              <a:off x="4960" y="1708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N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27" name="Rectangle 286"/>
            <p:cNvSpPr>
              <a:spLocks noChangeArrowheads="1"/>
            </p:cNvSpPr>
            <p:nvPr/>
          </p:nvSpPr>
          <p:spPr bwMode="auto">
            <a:xfrm>
              <a:off x="2918" y="1700"/>
              <a:ext cx="128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P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28" name="Rectangle 287"/>
            <p:cNvSpPr>
              <a:spLocks noChangeArrowheads="1"/>
            </p:cNvSpPr>
            <p:nvPr/>
          </p:nvSpPr>
          <p:spPr bwMode="auto">
            <a:xfrm>
              <a:off x="3046" y="1700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 dirty="0">
                  <a:solidFill>
                    <a:schemeClr val="bg1"/>
                  </a:solidFill>
                  <a:ea typeface="굴림" pitchFamily="50" charset="-127"/>
                </a:rPr>
                <a:t>R</a:t>
              </a:r>
              <a:endParaRPr lang="en-US" altLang="ko-KR" dirty="0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29" name="Rectangle 288"/>
            <p:cNvSpPr>
              <a:spLocks noChangeArrowheads="1"/>
            </p:cNvSpPr>
            <p:nvPr/>
          </p:nvSpPr>
          <p:spPr bwMode="auto">
            <a:xfrm>
              <a:off x="3183" y="1700"/>
              <a:ext cx="14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O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30" name="Rectangle 289"/>
            <p:cNvSpPr>
              <a:spLocks noChangeArrowheads="1"/>
            </p:cNvSpPr>
            <p:nvPr/>
          </p:nvSpPr>
          <p:spPr bwMode="auto">
            <a:xfrm>
              <a:off x="3330" y="1700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D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31" name="Rectangle 290"/>
            <p:cNvSpPr>
              <a:spLocks noChangeArrowheads="1"/>
            </p:cNvSpPr>
            <p:nvPr/>
          </p:nvSpPr>
          <p:spPr bwMode="auto">
            <a:xfrm>
              <a:off x="3466" y="1700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U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32" name="Rectangle 291"/>
            <p:cNvSpPr>
              <a:spLocks noChangeArrowheads="1"/>
            </p:cNvSpPr>
            <p:nvPr/>
          </p:nvSpPr>
          <p:spPr bwMode="auto">
            <a:xfrm>
              <a:off x="3604" y="1700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C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33" name="Rectangle 292"/>
            <p:cNvSpPr>
              <a:spLocks noChangeArrowheads="1"/>
            </p:cNvSpPr>
            <p:nvPr/>
          </p:nvSpPr>
          <p:spPr bwMode="auto">
            <a:xfrm>
              <a:off x="3743" y="1700"/>
              <a:ext cx="11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T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34" name="Rectangle 293"/>
            <p:cNvSpPr>
              <a:spLocks noChangeArrowheads="1"/>
            </p:cNvSpPr>
            <p:nvPr/>
          </p:nvSpPr>
          <p:spPr bwMode="auto">
            <a:xfrm>
              <a:off x="3860" y="1700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ko-KR" altLang="en-US" sz="2400">
                  <a:solidFill>
                    <a:schemeClr val="bg1"/>
                  </a:solidFill>
                  <a:ea typeface="굴림" pitchFamily="50" charset="-127"/>
                </a:rPr>
                <a:t> </a:t>
              </a:r>
              <a:endParaRPr lang="ko-KR" altLang="en-US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35" name="Rectangle 294"/>
            <p:cNvSpPr>
              <a:spLocks noChangeArrowheads="1"/>
            </p:cNvSpPr>
            <p:nvPr/>
          </p:nvSpPr>
          <p:spPr bwMode="auto">
            <a:xfrm>
              <a:off x="3927" y="1700"/>
              <a:ext cx="11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T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36" name="Rectangle 295"/>
            <p:cNvSpPr>
              <a:spLocks noChangeArrowheads="1"/>
            </p:cNvSpPr>
            <p:nvPr/>
          </p:nvSpPr>
          <p:spPr bwMode="auto">
            <a:xfrm>
              <a:off x="4042" y="1700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R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37" name="Rectangle 296"/>
            <p:cNvSpPr>
              <a:spLocks noChangeArrowheads="1"/>
            </p:cNvSpPr>
            <p:nvPr/>
          </p:nvSpPr>
          <p:spPr bwMode="auto">
            <a:xfrm>
              <a:off x="4179" y="1700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A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38" name="Rectangle 297"/>
            <p:cNvSpPr>
              <a:spLocks noChangeArrowheads="1"/>
            </p:cNvSpPr>
            <p:nvPr/>
          </p:nvSpPr>
          <p:spPr bwMode="auto">
            <a:xfrm>
              <a:off x="4317" y="1700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N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39" name="Rectangle 298"/>
            <p:cNvSpPr>
              <a:spLocks noChangeArrowheads="1"/>
            </p:cNvSpPr>
            <p:nvPr/>
          </p:nvSpPr>
          <p:spPr bwMode="auto">
            <a:xfrm>
              <a:off x="4455" y="1700"/>
              <a:ext cx="128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S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40" name="Rectangle 299"/>
            <p:cNvSpPr>
              <a:spLocks noChangeArrowheads="1"/>
            </p:cNvSpPr>
            <p:nvPr/>
          </p:nvSpPr>
          <p:spPr bwMode="auto">
            <a:xfrm>
              <a:off x="4583" y="1700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I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41" name="Rectangle 300"/>
            <p:cNvSpPr>
              <a:spLocks noChangeArrowheads="1"/>
            </p:cNvSpPr>
            <p:nvPr/>
          </p:nvSpPr>
          <p:spPr bwMode="auto">
            <a:xfrm>
              <a:off x="4636" y="1700"/>
              <a:ext cx="11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T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42" name="Rectangle 301"/>
            <p:cNvSpPr>
              <a:spLocks noChangeArrowheads="1"/>
            </p:cNvSpPr>
            <p:nvPr/>
          </p:nvSpPr>
          <p:spPr bwMode="auto">
            <a:xfrm>
              <a:off x="4751" y="1700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I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43" name="Rectangle 302"/>
            <p:cNvSpPr>
              <a:spLocks noChangeArrowheads="1"/>
            </p:cNvSpPr>
            <p:nvPr/>
          </p:nvSpPr>
          <p:spPr bwMode="auto">
            <a:xfrm>
              <a:off x="4805" y="1700"/>
              <a:ext cx="14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O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44" name="Rectangle 303"/>
            <p:cNvSpPr>
              <a:spLocks noChangeArrowheads="1"/>
            </p:cNvSpPr>
            <p:nvPr/>
          </p:nvSpPr>
          <p:spPr bwMode="auto">
            <a:xfrm>
              <a:off x="4952" y="1700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N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</p:grpSp>
      <p:grpSp>
        <p:nvGrpSpPr>
          <p:cNvPr id="5140" name="Group 304"/>
          <p:cNvGrpSpPr>
            <a:grpSpLocks/>
          </p:cNvGrpSpPr>
          <p:nvPr/>
        </p:nvGrpSpPr>
        <p:grpSpPr bwMode="auto">
          <a:xfrm>
            <a:off x="1044575" y="2400300"/>
            <a:ext cx="3057525" cy="341313"/>
            <a:chOff x="658" y="1692"/>
            <a:chExt cx="1926" cy="215"/>
          </a:xfrm>
        </p:grpSpPr>
        <p:sp>
          <p:nvSpPr>
            <p:cNvPr id="5177" name="Rectangle 305"/>
            <p:cNvSpPr>
              <a:spLocks noChangeArrowheads="1"/>
            </p:cNvSpPr>
            <p:nvPr/>
          </p:nvSpPr>
          <p:spPr bwMode="auto">
            <a:xfrm>
              <a:off x="666" y="1700"/>
              <a:ext cx="128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P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78" name="Rectangle 306"/>
            <p:cNvSpPr>
              <a:spLocks noChangeArrowheads="1"/>
            </p:cNvSpPr>
            <p:nvPr/>
          </p:nvSpPr>
          <p:spPr bwMode="auto">
            <a:xfrm>
              <a:off x="794" y="1700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R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79" name="Rectangle 307"/>
            <p:cNvSpPr>
              <a:spLocks noChangeArrowheads="1"/>
            </p:cNvSpPr>
            <p:nvPr/>
          </p:nvSpPr>
          <p:spPr bwMode="auto">
            <a:xfrm>
              <a:off x="931" y="1700"/>
              <a:ext cx="14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O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80" name="Rectangle 308"/>
            <p:cNvSpPr>
              <a:spLocks noChangeArrowheads="1"/>
            </p:cNvSpPr>
            <p:nvPr/>
          </p:nvSpPr>
          <p:spPr bwMode="auto">
            <a:xfrm>
              <a:off x="1078" y="1700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D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81" name="Rectangle 309"/>
            <p:cNvSpPr>
              <a:spLocks noChangeArrowheads="1"/>
            </p:cNvSpPr>
            <p:nvPr/>
          </p:nvSpPr>
          <p:spPr bwMode="auto">
            <a:xfrm>
              <a:off x="1214" y="1700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U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82" name="Rectangle 310"/>
            <p:cNvSpPr>
              <a:spLocks noChangeArrowheads="1"/>
            </p:cNvSpPr>
            <p:nvPr/>
          </p:nvSpPr>
          <p:spPr bwMode="auto">
            <a:xfrm>
              <a:off x="1352" y="1700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C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83" name="Rectangle 311"/>
            <p:cNvSpPr>
              <a:spLocks noChangeArrowheads="1"/>
            </p:cNvSpPr>
            <p:nvPr/>
          </p:nvSpPr>
          <p:spPr bwMode="auto">
            <a:xfrm>
              <a:off x="1491" y="1700"/>
              <a:ext cx="11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T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84" name="Rectangle 312"/>
            <p:cNvSpPr>
              <a:spLocks noChangeArrowheads="1"/>
            </p:cNvSpPr>
            <p:nvPr/>
          </p:nvSpPr>
          <p:spPr bwMode="auto">
            <a:xfrm>
              <a:off x="1608" y="1700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ko-KR" altLang="en-US" sz="2400">
                  <a:solidFill>
                    <a:schemeClr val="bg1"/>
                  </a:solidFill>
                  <a:ea typeface="굴림" pitchFamily="50" charset="-127"/>
                </a:rPr>
                <a:t> </a:t>
              </a:r>
              <a:endParaRPr lang="ko-KR" altLang="en-US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85" name="Rectangle 313"/>
            <p:cNvSpPr>
              <a:spLocks noChangeArrowheads="1"/>
            </p:cNvSpPr>
            <p:nvPr/>
          </p:nvSpPr>
          <p:spPr bwMode="auto">
            <a:xfrm>
              <a:off x="1671" y="1700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R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86" name="Rectangle 314"/>
            <p:cNvSpPr>
              <a:spLocks noChangeArrowheads="1"/>
            </p:cNvSpPr>
            <p:nvPr/>
          </p:nvSpPr>
          <p:spPr bwMode="auto">
            <a:xfrm>
              <a:off x="1810" y="1700"/>
              <a:ext cx="128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E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87" name="Rectangle 315"/>
            <p:cNvSpPr>
              <a:spLocks noChangeArrowheads="1"/>
            </p:cNvSpPr>
            <p:nvPr/>
          </p:nvSpPr>
          <p:spPr bwMode="auto">
            <a:xfrm>
              <a:off x="1937" y="1700"/>
              <a:ext cx="128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V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88" name="Rectangle 316"/>
            <p:cNvSpPr>
              <a:spLocks noChangeArrowheads="1"/>
            </p:cNvSpPr>
            <p:nvPr/>
          </p:nvSpPr>
          <p:spPr bwMode="auto">
            <a:xfrm>
              <a:off x="2065" y="1700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I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89" name="Rectangle 317"/>
            <p:cNvSpPr>
              <a:spLocks noChangeArrowheads="1"/>
            </p:cNvSpPr>
            <p:nvPr/>
          </p:nvSpPr>
          <p:spPr bwMode="auto">
            <a:xfrm>
              <a:off x="2116" y="1700"/>
              <a:ext cx="128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S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90" name="Rectangle 318"/>
            <p:cNvSpPr>
              <a:spLocks noChangeArrowheads="1"/>
            </p:cNvSpPr>
            <p:nvPr/>
          </p:nvSpPr>
          <p:spPr bwMode="auto">
            <a:xfrm>
              <a:off x="2244" y="1700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I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91" name="Rectangle 319"/>
            <p:cNvSpPr>
              <a:spLocks noChangeArrowheads="1"/>
            </p:cNvSpPr>
            <p:nvPr/>
          </p:nvSpPr>
          <p:spPr bwMode="auto">
            <a:xfrm>
              <a:off x="2296" y="1700"/>
              <a:ext cx="14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O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92" name="Rectangle 320"/>
            <p:cNvSpPr>
              <a:spLocks noChangeArrowheads="1"/>
            </p:cNvSpPr>
            <p:nvPr/>
          </p:nvSpPr>
          <p:spPr bwMode="auto">
            <a:xfrm>
              <a:off x="2445" y="1700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N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93" name="Rectangle 321"/>
            <p:cNvSpPr>
              <a:spLocks noChangeArrowheads="1"/>
            </p:cNvSpPr>
            <p:nvPr/>
          </p:nvSpPr>
          <p:spPr bwMode="auto">
            <a:xfrm>
              <a:off x="658" y="1692"/>
              <a:ext cx="128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P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94" name="Rectangle 322"/>
            <p:cNvSpPr>
              <a:spLocks noChangeArrowheads="1"/>
            </p:cNvSpPr>
            <p:nvPr/>
          </p:nvSpPr>
          <p:spPr bwMode="auto">
            <a:xfrm>
              <a:off x="786" y="1692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R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95" name="Rectangle 323"/>
            <p:cNvSpPr>
              <a:spLocks noChangeArrowheads="1"/>
            </p:cNvSpPr>
            <p:nvPr/>
          </p:nvSpPr>
          <p:spPr bwMode="auto">
            <a:xfrm>
              <a:off x="923" y="1692"/>
              <a:ext cx="14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O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96" name="Rectangle 324"/>
            <p:cNvSpPr>
              <a:spLocks noChangeArrowheads="1"/>
            </p:cNvSpPr>
            <p:nvPr/>
          </p:nvSpPr>
          <p:spPr bwMode="auto">
            <a:xfrm>
              <a:off x="1070" y="1692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D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97" name="Rectangle 325"/>
            <p:cNvSpPr>
              <a:spLocks noChangeArrowheads="1"/>
            </p:cNvSpPr>
            <p:nvPr/>
          </p:nvSpPr>
          <p:spPr bwMode="auto">
            <a:xfrm>
              <a:off x="1206" y="1692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U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98" name="Rectangle 326"/>
            <p:cNvSpPr>
              <a:spLocks noChangeArrowheads="1"/>
            </p:cNvSpPr>
            <p:nvPr/>
          </p:nvSpPr>
          <p:spPr bwMode="auto">
            <a:xfrm>
              <a:off x="1344" y="1692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C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99" name="Rectangle 327"/>
            <p:cNvSpPr>
              <a:spLocks noChangeArrowheads="1"/>
            </p:cNvSpPr>
            <p:nvPr/>
          </p:nvSpPr>
          <p:spPr bwMode="auto">
            <a:xfrm>
              <a:off x="1483" y="1692"/>
              <a:ext cx="11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T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00" name="Rectangle 328"/>
            <p:cNvSpPr>
              <a:spLocks noChangeArrowheads="1"/>
            </p:cNvSpPr>
            <p:nvPr/>
          </p:nvSpPr>
          <p:spPr bwMode="auto">
            <a:xfrm>
              <a:off x="1600" y="1692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ko-KR" altLang="en-US" sz="2400">
                  <a:solidFill>
                    <a:schemeClr val="bg1"/>
                  </a:solidFill>
                  <a:ea typeface="굴림" pitchFamily="50" charset="-127"/>
                </a:rPr>
                <a:t> </a:t>
              </a:r>
              <a:endParaRPr lang="ko-KR" altLang="en-US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01" name="Rectangle 329"/>
            <p:cNvSpPr>
              <a:spLocks noChangeArrowheads="1"/>
            </p:cNvSpPr>
            <p:nvPr/>
          </p:nvSpPr>
          <p:spPr bwMode="auto">
            <a:xfrm>
              <a:off x="1663" y="1692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R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02" name="Rectangle 330"/>
            <p:cNvSpPr>
              <a:spLocks noChangeArrowheads="1"/>
            </p:cNvSpPr>
            <p:nvPr/>
          </p:nvSpPr>
          <p:spPr bwMode="auto">
            <a:xfrm>
              <a:off x="1802" y="1692"/>
              <a:ext cx="128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E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03" name="Rectangle 331"/>
            <p:cNvSpPr>
              <a:spLocks noChangeArrowheads="1"/>
            </p:cNvSpPr>
            <p:nvPr/>
          </p:nvSpPr>
          <p:spPr bwMode="auto">
            <a:xfrm>
              <a:off x="1929" y="1692"/>
              <a:ext cx="128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V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04" name="Rectangle 332"/>
            <p:cNvSpPr>
              <a:spLocks noChangeArrowheads="1"/>
            </p:cNvSpPr>
            <p:nvPr/>
          </p:nvSpPr>
          <p:spPr bwMode="auto">
            <a:xfrm>
              <a:off x="2057" y="1692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I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05" name="Rectangle 333"/>
            <p:cNvSpPr>
              <a:spLocks noChangeArrowheads="1"/>
            </p:cNvSpPr>
            <p:nvPr/>
          </p:nvSpPr>
          <p:spPr bwMode="auto">
            <a:xfrm>
              <a:off x="2108" y="1692"/>
              <a:ext cx="128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S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06" name="Rectangle 334"/>
            <p:cNvSpPr>
              <a:spLocks noChangeArrowheads="1"/>
            </p:cNvSpPr>
            <p:nvPr/>
          </p:nvSpPr>
          <p:spPr bwMode="auto">
            <a:xfrm>
              <a:off x="2236" y="1692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I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07" name="Rectangle 335"/>
            <p:cNvSpPr>
              <a:spLocks noChangeArrowheads="1"/>
            </p:cNvSpPr>
            <p:nvPr/>
          </p:nvSpPr>
          <p:spPr bwMode="auto">
            <a:xfrm>
              <a:off x="2288" y="1692"/>
              <a:ext cx="14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O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208" name="Rectangle 336"/>
            <p:cNvSpPr>
              <a:spLocks noChangeArrowheads="1"/>
            </p:cNvSpPr>
            <p:nvPr/>
          </p:nvSpPr>
          <p:spPr bwMode="auto">
            <a:xfrm>
              <a:off x="2437" y="1692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N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</p:grpSp>
      <p:grpSp>
        <p:nvGrpSpPr>
          <p:cNvPr id="5141" name="Group 337"/>
          <p:cNvGrpSpPr>
            <a:grpSpLocks/>
          </p:cNvGrpSpPr>
          <p:nvPr/>
        </p:nvGrpSpPr>
        <p:grpSpPr bwMode="auto">
          <a:xfrm>
            <a:off x="2806700" y="3305175"/>
            <a:ext cx="3408363" cy="341313"/>
            <a:chOff x="1768" y="2337"/>
            <a:chExt cx="2147" cy="215"/>
          </a:xfrm>
        </p:grpSpPr>
        <p:sp>
          <p:nvSpPr>
            <p:cNvPr id="5143" name="Rectangle 338"/>
            <p:cNvSpPr>
              <a:spLocks noChangeArrowheads="1"/>
            </p:cNvSpPr>
            <p:nvPr/>
          </p:nvSpPr>
          <p:spPr bwMode="auto">
            <a:xfrm>
              <a:off x="1776" y="2345"/>
              <a:ext cx="128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P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44" name="Rectangle 339"/>
            <p:cNvSpPr>
              <a:spLocks noChangeArrowheads="1"/>
            </p:cNvSpPr>
            <p:nvPr/>
          </p:nvSpPr>
          <p:spPr bwMode="auto">
            <a:xfrm>
              <a:off x="1904" y="2345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R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45" name="Rectangle 340"/>
            <p:cNvSpPr>
              <a:spLocks noChangeArrowheads="1"/>
            </p:cNvSpPr>
            <p:nvPr/>
          </p:nvSpPr>
          <p:spPr bwMode="auto">
            <a:xfrm>
              <a:off x="2041" y="2345"/>
              <a:ext cx="14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O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46" name="Rectangle 341"/>
            <p:cNvSpPr>
              <a:spLocks noChangeArrowheads="1"/>
            </p:cNvSpPr>
            <p:nvPr/>
          </p:nvSpPr>
          <p:spPr bwMode="auto">
            <a:xfrm>
              <a:off x="2188" y="2345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D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47" name="Rectangle 342"/>
            <p:cNvSpPr>
              <a:spLocks noChangeArrowheads="1"/>
            </p:cNvSpPr>
            <p:nvPr/>
          </p:nvSpPr>
          <p:spPr bwMode="auto">
            <a:xfrm>
              <a:off x="2324" y="2345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U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48" name="Rectangle 343"/>
            <p:cNvSpPr>
              <a:spLocks noChangeArrowheads="1"/>
            </p:cNvSpPr>
            <p:nvPr/>
          </p:nvSpPr>
          <p:spPr bwMode="auto">
            <a:xfrm>
              <a:off x="2462" y="2345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C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49" name="Rectangle 344"/>
            <p:cNvSpPr>
              <a:spLocks noChangeArrowheads="1"/>
            </p:cNvSpPr>
            <p:nvPr/>
          </p:nvSpPr>
          <p:spPr bwMode="auto">
            <a:xfrm>
              <a:off x="2601" y="2345"/>
              <a:ext cx="11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T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50" name="Rectangle 345"/>
            <p:cNvSpPr>
              <a:spLocks noChangeArrowheads="1"/>
            </p:cNvSpPr>
            <p:nvPr/>
          </p:nvSpPr>
          <p:spPr bwMode="auto">
            <a:xfrm>
              <a:off x="2718" y="2345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ko-KR" altLang="en-US" sz="2400">
                  <a:solidFill>
                    <a:schemeClr val="bg1"/>
                  </a:solidFill>
                  <a:ea typeface="굴림" pitchFamily="50" charset="-127"/>
                </a:rPr>
                <a:t> </a:t>
              </a:r>
              <a:endParaRPr lang="ko-KR" altLang="en-US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51" name="Rectangle 346"/>
            <p:cNvSpPr>
              <a:spLocks noChangeArrowheads="1"/>
            </p:cNvSpPr>
            <p:nvPr/>
          </p:nvSpPr>
          <p:spPr bwMode="auto">
            <a:xfrm>
              <a:off x="2783" y="2345"/>
              <a:ext cx="14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O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52" name="Rectangle 347"/>
            <p:cNvSpPr>
              <a:spLocks noChangeArrowheads="1"/>
            </p:cNvSpPr>
            <p:nvPr/>
          </p:nvSpPr>
          <p:spPr bwMode="auto">
            <a:xfrm>
              <a:off x="2930" y="2345"/>
              <a:ext cx="128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P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53" name="Rectangle 348"/>
            <p:cNvSpPr>
              <a:spLocks noChangeArrowheads="1"/>
            </p:cNvSpPr>
            <p:nvPr/>
          </p:nvSpPr>
          <p:spPr bwMode="auto">
            <a:xfrm>
              <a:off x="3058" y="2345"/>
              <a:ext cx="128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E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54" name="Rectangle 349"/>
            <p:cNvSpPr>
              <a:spLocks noChangeArrowheads="1"/>
            </p:cNvSpPr>
            <p:nvPr/>
          </p:nvSpPr>
          <p:spPr bwMode="auto">
            <a:xfrm>
              <a:off x="3186" y="2345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R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55" name="Rectangle 350"/>
            <p:cNvSpPr>
              <a:spLocks noChangeArrowheads="1"/>
            </p:cNvSpPr>
            <p:nvPr/>
          </p:nvSpPr>
          <p:spPr bwMode="auto">
            <a:xfrm>
              <a:off x="3322" y="2345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A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56" name="Rectangle 351"/>
            <p:cNvSpPr>
              <a:spLocks noChangeArrowheads="1"/>
            </p:cNvSpPr>
            <p:nvPr/>
          </p:nvSpPr>
          <p:spPr bwMode="auto">
            <a:xfrm>
              <a:off x="3461" y="2345"/>
              <a:ext cx="11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T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57" name="Rectangle 352"/>
            <p:cNvSpPr>
              <a:spLocks noChangeArrowheads="1"/>
            </p:cNvSpPr>
            <p:nvPr/>
          </p:nvSpPr>
          <p:spPr bwMode="auto">
            <a:xfrm>
              <a:off x="3576" y="2345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I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58" name="Rectangle 353"/>
            <p:cNvSpPr>
              <a:spLocks noChangeArrowheads="1"/>
            </p:cNvSpPr>
            <p:nvPr/>
          </p:nvSpPr>
          <p:spPr bwMode="auto">
            <a:xfrm>
              <a:off x="3627" y="2345"/>
              <a:ext cx="14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O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59" name="Rectangle 354"/>
            <p:cNvSpPr>
              <a:spLocks noChangeArrowheads="1"/>
            </p:cNvSpPr>
            <p:nvPr/>
          </p:nvSpPr>
          <p:spPr bwMode="auto">
            <a:xfrm>
              <a:off x="3776" y="2345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N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60" name="Rectangle 355"/>
            <p:cNvSpPr>
              <a:spLocks noChangeArrowheads="1"/>
            </p:cNvSpPr>
            <p:nvPr/>
          </p:nvSpPr>
          <p:spPr bwMode="auto">
            <a:xfrm>
              <a:off x="1768" y="2337"/>
              <a:ext cx="128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P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61" name="Rectangle 356"/>
            <p:cNvSpPr>
              <a:spLocks noChangeArrowheads="1"/>
            </p:cNvSpPr>
            <p:nvPr/>
          </p:nvSpPr>
          <p:spPr bwMode="auto">
            <a:xfrm>
              <a:off x="1896" y="2337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R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62" name="Rectangle 357"/>
            <p:cNvSpPr>
              <a:spLocks noChangeArrowheads="1"/>
            </p:cNvSpPr>
            <p:nvPr/>
          </p:nvSpPr>
          <p:spPr bwMode="auto">
            <a:xfrm>
              <a:off x="2033" y="2337"/>
              <a:ext cx="14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O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63" name="Rectangle 358"/>
            <p:cNvSpPr>
              <a:spLocks noChangeArrowheads="1"/>
            </p:cNvSpPr>
            <p:nvPr/>
          </p:nvSpPr>
          <p:spPr bwMode="auto">
            <a:xfrm>
              <a:off x="2180" y="2337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D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64" name="Rectangle 359"/>
            <p:cNvSpPr>
              <a:spLocks noChangeArrowheads="1"/>
            </p:cNvSpPr>
            <p:nvPr/>
          </p:nvSpPr>
          <p:spPr bwMode="auto">
            <a:xfrm>
              <a:off x="2316" y="2337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U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65" name="Rectangle 360"/>
            <p:cNvSpPr>
              <a:spLocks noChangeArrowheads="1"/>
            </p:cNvSpPr>
            <p:nvPr/>
          </p:nvSpPr>
          <p:spPr bwMode="auto">
            <a:xfrm>
              <a:off x="2454" y="2337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C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66" name="Rectangle 361"/>
            <p:cNvSpPr>
              <a:spLocks noChangeArrowheads="1"/>
            </p:cNvSpPr>
            <p:nvPr/>
          </p:nvSpPr>
          <p:spPr bwMode="auto">
            <a:xfrm>
              <a:off x="2593" y="2337"/>
              <a:ext cx="11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T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67" name="Rectangle 362"/>
            <p:cNvSpPr>
              <a:spLocks noChangeArrowheads="1"/>
            </p:cNvSpPr>
            <p:nvPr/>
          </p:nvSpPr>
          <p:spPr bwMode="auto">
            <a:xfrm>
              <a:off x="2710" y="2337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ko-KR" altLang="en-US" sz="2400">
                  <a:solidFill>
                    <a:schemeClr val="bg1"/>
                  </a:solidFill>
                  <a:ea typeface="굴림" pitchFamily="50" charset="-127"/>
                </a:rPr>
                <a:t> </a:t>
              </a:r>
              <a:endParaRPr lang="ko-KR" altLang="en-US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68" name="Rectangle 363"/>
            <p:cNvSpPr>
              <a:spLocks noChangeArrowheads="1"/>
            </p:cNvSpPr>
            <p:nvPr/>
          </p:nvSpPr>
          <p:spPr bwMode="auto">
            <a:xfrm>
              <a:off x="2775" y="2337"/>
              <a:ext cx="14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O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69" name="Rectangle 364"/>
            <p:cNvSpPr>
              <a:spLocks noChangeArrowheads="1"/>
            </p:cNvSpPr>
            <p:nvPr/>
          </p:nvSpPr>
          <p:spPr bwMode="auto">
            <a:xfrm>
              <a:off x="2922" y="2337"/>
              <a:ext cx="128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P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70" name="Rectangle 365"/>
            <p:cNvSpPr>
              <a:spLocks noChangeArrowheads="1"/>
            </p:cNvSpPr>
            <p:nvPr/>
          </p:nvSpPr>
          <p:spPr bwMode="auto">
            <a:xfrm>
              <a:off x="3050" y="2337"/>
              <a:ext cx="128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E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71" name="Rectangle 366"/>
            <p:cNvSpPr>
              <a:spLocks noChangeArrowheads="1"/>
            </p:cNvSpPr>
            <p:nvPr/>
          </p:nvSpPr>
          <p:spPr bwMode="auto">
            <a:xfrm>
              <a:off x="3178" y="2337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R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72" name="Rectangle 367"/>
            <p:cNvSpPr>
              <a:spLocks noChangeArrowheads="1"/>
            </p:cNvSpPr>
            <p:nvPr/>
          </p:nvSpPr>
          <p:spPr bwMode="auto">
            <a:xfrm>
              <a:off x="3314" y="2337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A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73" name="Rectangle 368"/>
            <p:cNvSpPr>
              <a:spLocks noChangeArrowheads="1"/>
            </p:cNvSpPr>
            <p:nvPr/>
          </p:nvSpPr>
          <p:spPr bwMode="auto">
            <a:xfrm>
              <a:off x="3453" y="2337"/>
              <a:ext cx="117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T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74" name="Rectangle 369"/>
            <p:cNvSpPr>
              <a:spLocks noChangeArrowheads="1"/>
            </p:cNvSpPr>
            <p:nvPr/>
          </p:nvSpPr>
          <p:spPr bwMode="auto">
            <a:xfrm>
              <a:off x="3568" y="2337"/>
              <a:ext cx="53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I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75" name="Rectangle 370"/>
            <p:cNvSpPr>
              <a:spLocks noChangeArrowheads="1"/>
            </p:cNvSpPr>
            <p:nvPr/>
          </p:nvSpPr>
          <p:spPr bwMode="auto">
            <a:xfrm>
              <a:off x="3619" y="2337"/>
              <a:ext cx="14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O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  <p:sp>
          <p:nvSpPr>
            <p:cNvPr id="5176" name="Rectangle 371"/>
            <p:cNvSpPr>
              <a:spLocks noChangeArrowheads="1"/>
            </p:cNvSpPr>
            <p:nvPr/>
          </p:nvSpPr>
          <p:spPr bwMode="auto">
            <a:xfrm>
              <a:off x="3768" y="2337"/>
              <a:ext cx="139" cy="2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>
              <a:spAutoFit/>
            </a:bodyPr>
            <a:lstStyle/>
            <a:p>
              <a:r>
                <a:rPr lang="en-US" altLang="ko-KR" sz="2400">
                  <a:solidFill>
                    <a:schemeClr val="bg1"/>
                  </a:solidFill>
                  <a:ea typeface="굴림" pitchFamily="50" charset="-127"/>
                </a:rPr>
                <a:t>N</a:t>
              </a:r>
              <a:endParaRPr lang="en-US" altLang="ko-KR">
                <a:solidFill>
                  <a:schemeClr val="bg1"/>
                </a:solidFill>
                <a:ea typeface="굴림" pitchFamily="50" charset="-127"/>
              </a:endParaRPr>
            </a:p>
          </p:txBody>
        </p:sp>
      </p:grpSp>
      <p:sp>
        <p:nvSpPr>
          <p:cNvPr id="1297780" name="Rectangle 372"/>
          <p:cNvSpPr>
            <a:spLocks noChangeArrowheads="1"/>
          </p:cNvSpPr>
          <p:nvPr/>
        </p:nvSpPr>
        <p:spPr bwMode="auto">
          <a:xfrm>
            <a:off x="474663" y="4814888"/>
            <a:ext cx="8194675" cy="644525"/>
          </a:xfrm>
          <a:prstGeom prst="rect">
            <a:avLst/>
          </a:prstGeom>
          <a:noFill/>
          <a:ln w="12700">
            <a:solidFill>
              <a:schemeClr val="bg2"/>
            </a:solidFill>
            <a:miter lim="800000"/>
            <a:headEnd/>
            <a:tailEnd/>
          </a:ln>
          <a:effectLst/>
        </p:spPr>
        <p:txBody>
          <a:bodyPr lIns="90487" tIns="44450" rIns="90487" bIns="44450">
            <a:spAutoFit/>
          </a:bodyPr>
          <a:lstStyle/>
          <a:p>
            <a:pPr>
              <a:defRPr/>
            </a:pPr>
            <a:r>
              <a:rPr lang="en-US" altLang="ko-KR" sz="2000" b="0" dirty="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itchFamily="34" charset="0"/>
                <a:ea typeface="굴림" pitchFamily="50" charset="-127"/>
                <a:cs typeface="Arial" pitchFamily="34" charset="0"/>
              </a:rPr>
              <a:t>ISO 9126 Quality Factors</a:t>
            </a:r>
          </a:p>
          <a:p>
            <a:pPr>
              <a:defRPr/>
            </a:pPr>
            <a:r>
              <a:rPr lang="en-US" altLang="ko-KR" sz="2000" b="0" dirty="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itchFamily="34" charset="0"/>
                <a:ea typeface="굴림" pitchFamily="50" charset="-127"/>
                <a:cs typeface="Arial" pitchFamily="34" charset="0"/>
              </a:rPr>
              <a:t>- Functionality, reliability, usability, efficiency, maintainability, portability</a:t>
            </a:r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바닥글 개체 틀 3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/>
          <a:p>
            <a:endParaRPr lang="en-US" altLang="ko-KR" dirty="0"/>
          </a:p>
        </p:txBody>
      </p:sp>
      <p:sp>
        <p:nvSpPr>
          <p:cNvPr id="6147" name="슬라이드 번호 개체 틀 4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FAFE90F8-E28C-467E-962D-C0ED67BB0B95}" type="slidenum">
              <a:rPr lang="ko-KR" altLang="en-US" smtClean="0"/>
              <a:pPr/>
              <a:t>3</a:t>
            </a:fld>
            <a:endParaRPr lang="en-US" altLang="ko-KR"/>
          </a:p>
        </p:txBody>
      </p:sp>
      <p:sp>
        <p:nvSpPr>
          <p:cNvPr id="1299458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965200" y="352425"/>
            <a:ext cx="7412038" cy="5334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ko-KR">
                <a:latin typeface="Arial" pitchFamily="34" charset="0"/>
                <a:ea typeface="굴림" pitchFamily="50" charset="-127"/>
                <a:cs typeface="Arial" pitchFamily="34" charset="0"/>
              </a:rPr>
              <a:t>Measures, Metrics and Indicators</a:t>
            </a:r>
          </a:p>
        </p:txBody>
      </p:sp>
      <p:sp>
        <p:nvSpPr>
          <p:cNvPr id="1299459" name="Rectangle 3"/>
          <p:cNvSpPr>
            <a:spLocks noGrp="1" noRot="1" noChangeArrowheads="1"/>
          </p:cNvSpPr>
          <p:nvPr>
            <p:ph type="body" idx="1"/>
          </p:nvPr>
        </p:nvSpPr>
        <p:spPr>
          <a:xfrm>
            <a:off x="0" y="1027113"/>
            <a:ext cx="9144000" cy="3998912"/>
          </a:xfrm>
        </p:spPr>
        <p:txBody>
          <a:bodyPr/>
          <a:lstStyle/>
          <a:p>
            <a:pPr eaLnBrk="1" hangingPunct="1">
              <a:lnSpc>
                <a:spcPct val="90000"/>
              </a:lnSpc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A SW engineer collects </a:t>
            </a:r>
            <a:r>
              <a:rPr lang="en-US" altLang="ko-KR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measures</a:t>
            </a: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 and develops </a:t>
            </a:r>
            <a:r>
              <a:rPr lang="en-US" altLang="ko-KR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metrics</a:t>
            </a: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 so that </a:t>
            </a:r>
            <a:r>
              <a:rPr lang="en-US" altLang="ko-KR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indicators</a:t>
            </a: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 will be obtained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A </a:t>
            </a:r>
            <a:r>
              <a:rPr lang="en-US" altLang="ko-KR" i="1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measure</a:t>
            </a: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 provides a </a:t>
            </a:r>
            <a:r>
              <a:rPr lang="en-US" altLang="ko-KR" dirty="0">
                <a:solidFill>
                  <a:srgbClr val="FF0000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quantitative</a:t>
            </a: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 indication of the extent, amount, dimension, capacity, or size of some attribute of a product or process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The IEEE defines a</a:t>
            </a:r>
            <a:r>
              <a:rPr lang="en-US" altLang="ko-KR" i="1" dirty="0">
                <a:latin typeface="Arial" pitchFamily="34" charset="0"/>
                <a:ea typeface="굴림" pitchFamily="50" charset="-127"/>
                <a:cs typeface="Arial" pitchFamily="34" charset="0"/>
              </a:rPr>
              <a:t> </a:t>
            </a:r>
            <a:r>
              <a:rPr lang="en-US" altLang="ko-KR" i="1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metric</a:t>
            </a: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 as “a quantitative measure of the degree to which a system, component, or process possesses a given </a:t>
            </a:r>
            <a:r>
              <a:rPr lang="en-US" altLang="ko-KR" dirty="0">
                <a:solidFill>
                  <a:srgbClr val="FF0000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attribute</a:t>
            </a: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.”</a:t>
            </a:r>
          </a:p>
          <a:p>
            <a:pPr lvl="2" eaLnBrk="1" hangingPunct="1">
              <a:lnSpc>
                <a:spcPct val="90000"/>
              </a:lnSpc>
              <a:defRPr/>
            </a:pP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IEEE Standard Glossary of Software Engineering Terminology (IEEE Std 610.12-1990) 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An </a:t>
            </a:r>
            <a:r>
              <a:rPr lang="en-US" altLang="ko-KR" i="1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indicator</a:t>
            </a: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 is a metric or combination of metrics that provide </a:t>
            </a:r>
            <a:r>
              <a:rPr lang="en-US" altLang="ko-KR" dirty="0">
                <a:solidFill>
                  <a:srgbClr val="FF0000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insight</a:t>
            </a: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 into the software process, a software project, or the product itself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Ex. </a:t>
            </a:r>
            <a:r>
              <a:rPr lang="en-US" altLang="ko-KR" dirty="0" err="1">
                <a:latin typeface="Arial" pitchFamily="34" charset="0"/>
                <a:ea typeface="굴림" pitchFamily="50" charset="-127"/>
                <a:cs typeface="Arial" pitchFamily="34" charset="0"/>
              </a:rPr>
              <a:t>Moonzoo</a:t>
            </a: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 Kim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Measure:  height=170cm, weight=65 kg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Metric: fat metric= 0.38 ( =weight/height)  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Indicator:  normal health condition (since fat metric &lt; 0.5 )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바닥글 개체 틀 3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/>
          <a:p>
            <a:endParaRPr lang="en-US" altLang="ko-KR" dirty="0"/>
          </a:p>
        </p:txBody>
      </p:sp>
      <p:sp>
        <p:nvSpPr>
          <p:cNvPr id="7171" name="슬라이드 번호 개체 틀 4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B7FD996B-32F7-4AF2-BC81-D724375312C3}" type="slidenum">
              <a:rPr lang="ko-KR" altLang="en-US" smtClean="0"/>
              <a:pPr/>
              <a:t>4</a:t>
            </a:fld>
            <a:endParaRPr lang="en-US" altLang="ko-KR"/>
          </a:p>
        </p:txBody>
      </p:sp>
      <p:sp>
        <p:nvSpPr>
          <p:cNvPr id="1300482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1839913" y="244475"/>
            <a:ext cx="5461000" cy="600075"/>
          </a:xfrm>
        </p:spPr>
        <p:txBody>
          <a:bodyPr wrap="none" lIns="63500" tIns="25400" rIns="63500" bIns="25400" anchor="t">
            <a:spAutoFit/>
          </a:bodyPr>
          <a:lstStyle/>
          <a:p>
            <a:pPr eaLnBrk="1" hangingPunct="1">
              <a:defRPr/>
            </a:pPr>
            <a:r>
              <a:rPr lang="en-US" altLang="ko-KR">
                <a:latin typeface="Arial" pitchFamily="34" charset="0"/>
                <a:ea typeface="굴림" pitchFamily="50" charset="-127"/>
                <a:cs typeface="Arial" pitchFamily="34" charset="0"/>
              </a:rPr>
              <a:t>Measurement Principles</a:t>
            </a:r>
          </a:p>
        </p:txBody>
      </p:sp>
      <p:sp>
        <p:nvSpPr>
          <p:cNvPr id="1300483" name="Rectangle 3"/>
          <p:cNvSpPr>
            <a:spLocks noGrp="1" noRot="1" noChangeArrowheads="1"/>
          </p:cNvSpPr>
          <p:nvPr>
            <p:ph type="body" idx="1"/>
          </p:nvPr>
        </p:nvSpPr>
        <p:spPr>
          <a:xfrm>
            <a:off x="240846" y="1082002"/>
            <a:ext cx="8748713" cy="3657600"/>
          </a:xfrm>
        </p:spPr>
        <p:txBody>
          <a:bodyPr lIns="90487" tIns="44450" rIns="90487" bIns="44450"/>
          <a:lstStyle/>
          <a:p>
            <a:pPr eaLnBrk="1" hangingPunct="1">
              <a:defRPr/>
            </a:pP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The </a:t>
            </a:r>
            <a:r>
              <a:rPr lang="en-US" altLang="ko-KR" sz="2000" dirty="0">
                <a:solidFill>
                  <a:srgbClr val="FF0000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objectives</a:t>
            </a: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 of measurement should be established before data collection begins</a:t>
            </a:r>
          </a:p>
          <a:p>
            <a:pPr lvl="1" eaLnBrk="1" hangingPunct="1">
              <a:defRPr/>
            </a:pP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Ex. It is useless for black-box testers to measure a # of words in a C file.</a:t>
            </a:r>
          </a:p>
          <a:p>
            <a:pPr lvl="1" eaLnBrk="1" hangingPunct="1">
              <a:defRPr/>
            </a:pP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Ex. It is useful for C compiler developers to measure a # of words in a C file.</a:t>
            </a:r>
          </a:p>
          <a:p>
            <a:pPr eaLnBrk="1" hangingPunct="1">
              <a:defRPr/>
            </a:pP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Each technical metric should be defined in an </a:t>
            </a:r>
            <a:r>
              <a:rPr lang="en-US" altLang="ko-KR" sz="2000" dirty="0">
                <a:solidFill>
                  <a:srgbClr val="FF0000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unambiguous</a:t>
            </a: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 manner</a:t>
            </a:r>
          </a:p>
          <a:p>
            <a:pPr lvl="1" eaLnBrk="1" hangingPunct="1">
              <a:defRPr/>
            </a:pP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Ex. For measuring a total line number of a C program</a:t>
            </a:r>
          </a:p>
          <a:p>
            <a:pPr lvl="2" eaLnBrk="1" hangingPunct="1">
              <a:defRPr/>
            </a:pPr>
            <a:r>
              <a:rPr lang="en-US" altLang="ko-KR" sz="1600" dirty="0">
                <a:latin typeface="Arial" pitchFamily="34" charset="0"/>
                <a:ea typeface="굴림" pitchFamily="50" charset="-127"/>
                <a:cs typeface="Arial" pitchFamily="34" charset="0"/>
              </a:rPr>
              <a:t>Including comments? Including empty lines?</a:t>
            </a:r>
          </a:p>
          <a:p>
            <a:pPr eaLnBrk="1" hangingPunct="1">
              <a:defRPr/>
            </a:pP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Metrics should be derived based on a </a:t>
            </a:r>
            <a:r>
              <a:rPr lang="en-US" altLang="ko-KR" sz="2000" dirty="0">
                <a:solidFill>
                  <a:srgbClr val="FF0000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theory</a:t>
            </a: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 that is valid for the domain of application </a:t>
            </a:r>
          </a:p>
          <a:p>
            <a:pPr lvl="1" eaLnBrk="1" hangingPunct="1">
              <a:defRPr/>
            </a:pP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Metrics for design should draw upon </a:t>
            </a:r>
            <a:r>
              <a:rPr lang="en-US" altLang="ko-KR" sz="1800" dirty="0">
                <a:solidFill>
                  <a:srgbClr val="FF0000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basic design concepts and principles</a:t>
            </a: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 and attempt to provide an </a:t>
            </a:r>
            <a:r>
              <a:rPr lang="en-US" altLang="ko-KR" sz="1800" dirty="0">
                <a:solidFill>
                  <a:srgbClr val="FF0000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indication</a:t>
            </a: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 of the presence of a desirable attribute</a:t>
            </a:r>
          </a:p>
          <a:p>
            <a:pPr lvl="1" eaLnBrk="1" hangingPunct="1">
              <a:defRPr/>
            </a:pP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Metrics should be </a:t>
            </a:r>
            <a:r>
              <a:rPr lang="en-US" altLang="ko-KR" sz="1800" dirty="0">
                <a:solidFill>
                  <a:srgbClr val="FF0000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tailored</a:t>
            </a: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 to best accommodate specific products and processes</a:t>
            </a:r>
          </a:p>
        </p:txBody>
      </p: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바닥글 개체 틀 3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/>
          <a:p>
            <a:endParaRPr lang="en-US" altLang="ko-KR" dirty="0"/>
          </a:p>
        </p:txBody>
      </p:sp>
      <p:sp>
        <p:nvSpPr>
          <p:cNvPr id="8195" name="슬라이드 번호 개체 틀 4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E9D70C16-2900-4000-8803-FDD509336735}" type="slidenum">
              <a:rPr lang="ko-KR" altLang="en-US" smtClean="0"/>
              <a:pPr/>
              <a:t>5</a:t>
            </a:fld>
            <a:endParaRPr lang="en-US" altLang="ko-KR"/>
          </a:p>
        </p:txBody>
      </p:sp>
      <p:sp>
        <p:nvSpPr>
          <p:cNvPr id="1301506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1403350" y="244475"/>
            <a:ext cx="6364288" cy="10160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ko-KR">
                <a:latin typeface="Arial" pitchFamily="34" charset="0"/>
                <a:ea typeface="굴림" pitchFamily="50" charset="-127"/>
                <a:cs typeface="Arial" pitchFamily="34" charset="0"/>
              </a:rPr>
              <a:t>Measurement Process</a:t>
            </a:r>
          </a:p>
        </p:txBody>
      </p:sp>
      <p:sp>
        <p:nvSpPr>
          <p:cNvPr id="1301507" name="Rectangle 3"/>
          <p:cNvSpPr>
            <a:spLocks noGrp="1" noRot="1" noChangeArrowheads="1"/>
          </p:cNvSpPr>
          <p:nvPr>
            <p:ph type="body" idx="1"/>
          </p:nvPr>
        </p:nvSpPr>
        <p:spPr>
          <a:xfrm>
            <a:off x="201613" y="1033463"/>
            <a:ext cx="4308475" cy="5062537"/>
          </a:xfrm>
          <a:solidFill>
            <a:schemeClr val="tx1"/>
          </a:solidFill>
        </p:spPr>
        <p:txBody>
          <a:bodyPr/>
          <a:lstStyle/>
          <a:p>
            <a:pPr eaLnBrk="1" hangingPunct="1">
              <a:spcBef>
                <a:spcPts val="300"/>
              </a:spcBef>
              <a:defRPr/>
            </a:pPr>
            <a:r>
              <a:rPr lang="en-US" altLang="ko-KR" sz="1600" i="1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Formulation</a:t>
            </a:r>
            <a:r>
              <a:rPr lang="en-US" altLang="ko-KR" sz="1600" i="1" dirty="0">
                <a:solidFill>
                  <a:schemeClr val="folHlink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.</a:t>
            </a:r>
            <a:r>
              <a:rPr lang="en-US" altLang="ko-KR" sz="1600" dirty="0">
                <a:latin typeface="Arial" pitchFamily="34" charset="0"/>
                <a:ea typeface="굴림" pitchFamily="50" charset="-127"/>
                <a:cs typeface="Arial" pitchFamily="34" charset="0"/>
              </a:rPr>
              <a:t> </a:t>
            </a:r>
          </a:p>
          <a:p>
            <a:pPr eaLnBrk="1" hangingPunct="1">
              <a:spcBef>
                <a:spcPts val="300"/>
              </a:spcBef>
              <a:buFont typeface="Wingdings" pitchFamily="2" charset="2"/>
              <a:buNone/>
              <a:defRPr/>
            </a:pPr>
            <a:r>
              <a:rPr lang="en-US" altLang="ko-KR" sz="1600" dirty="0">
                <a:latin typeface="Arial" pitchFamily="34" charset="0"/>
                <a:ea typeface="굴림" pitchFamily="50" charset="-127"/>
                <a:cs typeface="Arial" pitchFamily="34" charset="0"/>
              </a:rPr>
              <a:t>	The derivation of software measures and metrics appropriate for the representation of the software that is being considered.</a:t>
            </a:r>
          </a:p>
          <a:p>
            <a:pPr eaLnBrk="1" hangingPunct="1">
              <a:defRPr/>
            </a:pPr>
            <a:r>
              <a:rPr lang="en-US" altLang="ko-KR" sz="1600" i="1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Collection</a:t>
            </a:r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altLang="ko-KR" sz="1600" dirty="0">
                <a:latin typeface="Arial" pitchFamily="34" charset="0"/>
                <a:ea typeface="굴림" pitchFamily="50" charset="-127"/>
                <a:cs typeface="Arial" pitchFamily="34" charset="0"/>
              </a:rPr>
              <a:t>	The mechanism used to accumulate data required to derive the formulated metrics.</a:t>
            </a:r>
          </a:p>
          <a:p>
            <a:pPr eaLnBrk="1" hangingPunct="1">
              <a:defRPr/>
            </a:pPr>
            <a:r>
              <a:rPr lang="en-US" altLang="ko-KR" sz="1600" i="1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Analysis</a:t>
            </a:r>
            <a:r>
              <a:rPr lang="en-US" altLang="ko-KR" sz="1600" i="1" dirty="0">
                <a:solidFill>
                  <a:schemeClr val="folHlink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.</a:t>
            </a:r>
            <a:r>
              <a:rPr lang="en-US" altLang="ko-KR" sz="1600" i="1" dirty="0">
                <a:latin typeface="Arial" pitchFamily="34" charset="0"/>
                <a:ea typeface="굴림" pitchFamily="50" charset="-127"/>
                <a:cs typeface="Arial" pitchFamily="34" charset="0"/>
              </a:rPr>
              <a:t> </a:t>
            </a:r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altLang="ko-KR" sz="1600" dirty="0">
                <a:latin typeface="Arial" pitchFamily="34" charset="0"/>
                <a:ea typeface="굴림" pitchFamily="50" charset="-127"/>
                <a:cs typeface="Arial" pitchFamily="34" charset="0"/>
              </a:rPr>
              <a:t>	The computation of metrics and the application of mathematical tools.</a:t>
            </a:r>
          </a:p>
          <a:p>
            <a:pPr eaLnBrk="1" hangingPunct="1">
              <a:defRPr/>
            </a:pPr>
            <a:r>
              <a:rPr lang="en-US" altLang="ko-KR" sz="1600" i="1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Interpretation</a:t>
            </a:r>
            <a:r>
              <a:rPr lang="en-US" altLang="ko-KR" sz="1600" i="1" dirty="0">
                <a:solidFill>
                  <a:schemeClr val="folHlink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.</a:t>
            </a:r>
            <a:r>
              <a:rPr lang="en-US" altLang="ko-KR" sz="1600" dirty="0">
                <a:latin typeface="Arial" pitchFamily="34" charset="0"/>
                <a:ea typeface="굴림" pitchFamily="50" charset="-127"/>
                <a:cs typeface="Arial" pitchFamily="34" charset="0"/>
              </a:rPr>
              <a:t> </a:t>
            </a:r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altLang="ko-KR" sz="1600" dirty="0">
                <a:latin typeface="Arial" pitchFamily="34" charset="0"/>
                <a:ea typeface="굴림" pitchFamily="50" charset="-127"/>
                <a:cs typeface="Arial" pitchFamily="34" charset="0"/>
              </a:rPr>
              <a:t>	The evaluation of metrics results in an effort to gain insight into the quality of the representation.</a:t>
            </a:r>
          </a:p>
          <a:p>
            <a:pPr eaLnBrk="1" hangingPunct="1">
              <a:defRPr/>
            </a:pPr>
            <a:r>
              <a:rPr lang="en-US" altLang="ko-KR" sz="1600" i="1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Feedback</a:t>
            </a:r>
            <a:r>
              <a:rPr lang="en-US" altLang="ko-KR" sz="1600" i="1" dirty="0">
                <a:solidFill>
                  <a:srgbClr val="F3FF07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.</a:t>
            </a:r>
            <a:r>
              <a:rPr lang="en-US" altLang="ko-KR" sz="1600" dirty="0">
                <a:latin typeface="Arial" pitchFamily="34" charset="0"/>
                <a:ea typeface="굴림" pitchFamily="50" charset="-127"/>
                <a:cs typeface="Arial" pitchFamily="34" charset="0"/>
              </a:rPr>
              <a:t> </a:t>
            </a:r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altLang="ko-KR" sz="1600" dirty="0">
                <a:latin typeface="Arial" pitchFamily="34" charset="0"/>
                <a:ea typeface="굴림" pitchFamily="50" charset="-127"/>
                <a:cs typeface="Arial" pitchFamily="34" charset="0"/>
              </a:rPr>
              <a:t>	Recommendations derived from the interpretation of product</a:t>
            </a:r>
            <a:r>
              <a:rPr lang="en-US" altLang="ko-KR" sz="1600" b="1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 </a:t>
            </a:r>
            <a:r>
              <a:rPr lang="en-US" altLang="ko-KR" sz="1600" dirty="0">
                <a:latin typeface="Arial" pitchFamily="34" charset="0"/>
                <a:ea typeface="굴림" pitchFamily="50" charset="-127"/>
                <a:cs typeface="Arial" pitchFamily="34" charset="0"/>
              </a:rPr>
              <a:t>metrics transmitted to the software team.</a:t>
            </a:r>
          </a:p>
        </p:txBody>
      </p:sp>
      <p:sp>
        <p:nvSpPr>
          <p:cNvPr id="6" name="Rectangle 3"/>
          <p:cNvSpPr txBox="1">
            <a:spLocks noRot="1" noChangeArrowheads="1"/>
          </p:cNvSpPr>
          <p:nvPr/>
        </p:nvSpPr>
        <p:spPr bwMode="auto">
          <a:xfrm>
            <a:off x="4724400" y="1033463"/>
            <a:ext cx="4308475" cy="5062537"/>
          </a:xfrm>
          <a:prstGeom prst="rect">
            <a:avLst/>
          </a:prstGeom>
          <a:solidFill>
            <a:schemeClr val="tx1"/>
          </a:solidFill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342900" indent="-342900" eaLnBrk="1" hangingPunct="1">
              <a:lnSpc>
                <a:spcPct val="100000"/>
              </a:lnSpc>
              <a:spcBef>
                <a:spcPts val="300"/>
              </a:spcBef>
              <a:buClr>
                <a:schemeClr val="hlink"/>
              </a:buClr>
              <a:buSzPct val="70000"/>
              <a:buFont typeface="Wingdings" pitchFamily="2" charset="2"/>
              <a:buChar char="n"/>
              <a:defRPr/>
            </a:pPr>
            <a:r>
              <a:rPr lang="en-US" altLang="ko-KR" sz="1600" b="0" i="1" kern="0" dirty="0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itchFamily="34" charset="0"/>
                <a:ea typeface="굴림" pitchFamily="50" charset="-127"/>
                <a:cs typeface="Arial" pitchFamily="34" charset="0"/>
              </a:rPr>
              <a:t>Example  of Formulation</a:t>
            </a:r>
            <a:endParaRPr lang="en-US" altLang="ko-KR" sz="1600" b="0" kern="0" dirty="0">
              <a:solidFill>
                <a:schemeClr val="bg1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pitchFamily="34" charset="0"/>
              <a:ea typeface="굴림" pitchFamily="50" charset="-127"/>
              <a:cs typeface="Arial" pitchFamily="34" charset="0"/>
            </a:endParaRPr>
          </a:p>
          <a:p>
            <a:pPr marL="342900" indent="-342900" eaLnBrk="1" hangingPunct="1">
              <a:lnSpc>
                <a:spcPct val="100000"/>
              </a:lnSpc>
              <a:spcBef>
                <a:spcPts val="300"/>
              </a:spcBef>
              <a:buClr>
                <a:schemeClr val="hlink"/>
              </a:buClr>
              <a:buSzPct val="70000"/>
              <a:buFont typeface="Wingdings" pitchFamily="2" charset="2"/>
              <a:buNone/>
              <a:defRPr/>
            </a:pPr>
            <a:r>
              <a:rPr lang="en-US" altLang="ko-KR" sz="1600" b="0" kern="0" dirty="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itchFamily="34" charset="0"/>
                <a:ea typeface="굴림" pitchFamily="50" charset="-127"/>
                <a:cs typeface="Arial" pitchFamily="34" charset="0"/>
              </a:rPr>
              <a:t>	To check whether a give software is </a:t>
            </a:r>
            <a:r>
              <a:rPr lang="en-US" altLang="ko-KR" sz="1600" b="0" i="1" kern="0" dirty="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itchFamily="34" charset="0"/>
                <a:ea typeface="굴림" pitchFamily="50" charset="-127"/>
                <a:cs typeface="Arial" pitchFamily="34" charset="0"/>
              </a:rPr>
              <a:t>hot-spotted </a:t>
            </a:r>
            <a:r>
              <a:rPr lang="en-US" altLang="ko-KR" sz="1600" b="0" kern="0" dirty="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itchFamily="34" charset="0"/>
                <a:ea typeface="굴림" pitchFamily="50" charset="-127"/>
                <a:cs typeface="Arial" pitchFamily="34" charset="0"/>
              </a:rPr>
              <a:t>(i.e. has intensive loops)</a:t>
            </a:r>
          </a:p>
          <a:p>
            <a:pPr marL="342900" indent="-342900" eaLnBrk="1" hangingPunct="1">
              <a:lnSpc>
                <a:spcPct val="100000"/>
              </a:lnSpc>
              <a:spcBef>
                <a:spcPct val="20000"/>
              </a:spcBef>
              <a:buClr>
                <a:schemeClr val="hlink"/>
              </a:buClr>
              <a:buSzPct val="70000"/>
              <a:buFont typeface="Wingdings" pitchFamily="2" charset="2"/>
              <a:buChar char="n"/>
              <a:defRPr/>
            </a:pPr>
            <a:r>
              <a:rPr lang="en-US" altLang="ko-KR" sz="1600" b="0" i="1" kern="0" dirty="0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itchFamily="34" charset="0"/>
                <a:ea typeface="굴림" pitchFamily="50" charset="-127"/>
                <a:cs typeface="Arial" pitchFamily="34" charset="0"/>
              </a:rPr>
              <a:t>Example of Collection</a:t>
            </a:r>
          </a:p>
          <a:p>
            <a:pPr marL="342900" indent="-342900" eaLnBrk="1" hangingPunct="1">
              <a:lnSpc>
                <a:spcPct val="100000"/>
              </a:lnSpc>
              <a:spcBef>
                <a:spcPct val="20000"/>
              </a:spcBef>
              <a:buClr>
                <a:schemeClr val="hlink"/>
              </a:buClr>
              <a:buSzPct val="70000"/>
              <a:buFont typeface="Wingdings" pitchFamily="2" charset="2"/>
              <a:buNone/>
              <a:defRPr/>
            </a:pPr>
            <a:r>
              <a:rPr lang="en-US" altLang="ko-KR" sz="1600" b="0" kern="0" dirty="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itchFamily="34" charset="0"/>
                <a:ea typeface="굴림" pitchFamily="50" charset="-127"/>
                <a:cs typeface="Arial" pitchFamily="34" charset="0"/>
              </a:rPr>
              <a:t>	Instrument a source program/binary to count how many time a given statement is executed in one second</a:t>
            </a:r>
          </a:p>
          <a:p>
            <a:pPr marL="342900" indent="-342900" eaLnBrk="1" hangingPunct="1">
              <a:lnSpc>
                <a:spcPct val="100000"/>
              </a:lnSpc>
              <a:spcBef>
                <a:spcPct val="20000"/>
              </a:spcBef>
              <a:buClr>
                <a:schemeClr val="hlink"/>
              </a:buClr>
              <a:buSzPct val="70000"/>
              <a:buFont typeface="Wingdings" pitchFamily="2" charset="2"/>
              <a:buChar char="n"/>
              <a:defRPr/>
            </a:pPr>
            <a:r>
              <a:rPr lang="en-US" altLang="ko-KR" sz="1600" b="0" i="1" kern="0" dirty="0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itchFamily="34" charset="0"/>
                <a:ea typeface="굴림" pitchFamily="50" charset="-127"/>
                <a:cs typeface="Arial" pitchFamily="34" charset="0"/>
              </a:rPr>
              <a:t>Example of Analysis</a:t>
            </a:r>
            <a:r>
              <a:rPr lang="en-US" altLang="ko-KR" sz="1600" b="0" i="1" kern="0" dirty="0">
                <a:solidFill>
                  <a:schemeClr val="folHlink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itchFamily="34" charset="0"/>
                <a:ea typeface="굴림" pitchFamily="50" charset="-127"/>
                <a:cs typeface="Arial" pitchFamily="34" charset="0"/>
              </a:rPr>
              <a:t>.</a:t>
            </a:r>
            <a:r>
              <a:rPr lang="en-US" altLang="ko-KR" sz="1600" b="0" i="1" kern="0" dirty="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itchFamily="34" charset="0"/>
                <a:ea typeface="굴림" pitchFamily="50" charset="-127"/>
                <a:cs typeface="Arial" pitchFamily="34" charset="0"/>
              </a:rPr>
              <a:t> </a:t>
            </a:r>
          </a:p>
          <a:p>
            <a:pPr marL="342900" indent="-342900" eaLnBrk="1" hangingPunct="1">
              <a:lnSpc>
                <a:spcPct val="100000"/>
              </a:lnSpc>
              <a:spcBef>
                <a:spcPct val="20000"/>
              </a:spcBef>
              <a:buClr>
                <a:schemeClr val="hlink"/>
              </a:buClr>
              <a:buSzPct val="70000"/>
              <a:buFont typeface="Wingdings" pitchFamily="2" charset="2"/>
              <a:buNone/>
              <a:defRPr/>
            </a:pPr>
            <a:r>
              <a:rPr lang="en-US" altLang="ko-KR" sz="1600" b="0" kern="0" dirty="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itchFamily="34" charset="0"/>
                <a:ea typeface="굴림" pitchFamily="50" charset="-127"/>
                <a:cs typeface="Arial" pitchFamily="34" charset="0"/>
              </a:rPr>
              <a:t>	Using Excel/</a:t>
            </a:r>
            <a:r>
              <a:rPr lang="en-US" altLang="ko-KR" sz="1600" b="0" kern="0" dirty="0" err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itchFamily="34" charset="0"/>
                <a:ea typeface="굴림" pitchFamily="50" charset="-127"/>
                <a:cs typeface="Arial" pitchFamily="34" charset="0"/>
              </a:rPr>
              <a:t>MatLab</a:t>
            </a:r>
            <a:r>
              <a:rPr lang="en-US" altLang="ko-KR" sz="1600" b="0" kern="0" dirty="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itchFamily="34" charset="0"/>
                <a:ea typeface="굴림" pitchFamily="50" charset="-127"/>
                <a:cs typeface="Arial" pitchFamily="34" charset="0"/>
              </a:rPr>
              <a:t> to get average numbers of executions of statements  </a:t>
            </a:r>
          </a:p>
          <a:p>
            <a:pPr marL="342900" indent="-342900" eaLnBrk="1" hangingPunct="1">
              <a:lnSpc>
                <a:spcPct val="100000"/>
              </a:lnSpc>
              <a:spcBef>
                <a:spcPct val="20000"/>
              </a:spcBef>
              <a:buClr>
                <a:schemeClr val="hlink"/>
              </a:buClr>
              <a:buSzPct val="70000"/>
              <a:buFont typeface="Wingdings" pitchFamily="2" charset="2"/>
              <a:buChar char="n"/>
              <a:defRPr/>
            </a:pPr>
            <a:r>
              <a:rPr lang="en-US" altLang="ko-KR" sz="1600" b="0" i="1" kern="0" dirty="0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itchFamily="34" charset="0"/>
                <a:ea typeface="굴림" pitchFamily="50" charset="-127"/>
                <a:cs typeface="Arial" pitchFamily="34" charset="0"/>
              </a:rPr>
              <a:t>Example of Interpretation</a:t>
            </a:r>
            <a:r>
              <a:rPr lang="en-US" altLang="ko-KR" sz="1600" b="0" i="1" kern="0" dirty="0">
                <a:solidFill>
                  <a:schemeClr val="folHlink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itchFamily="34" charset="0"/>
                <a:ea typeface="굴림" pitchFamily="50" charset="-127"/>
                <a:cs typeface="Arial" pitchFamily="34" charset="0"/>
              </a:rPr>
              <a:t>.</a:t>
            </a:r>
            <a:r>
              <a:rPr lang="en-US" altLang="ko-KR" sz="1600" b="0" kern="0" dirty="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itchFamily="34" charset="0"/>
                <a:ea typeface="굴림" pitchFamily="50" charset="-127"/>
                <a:cs typeface="Arial" pitchFamily="34" charset="0"/>
              </a:rPr>
              <a:t> </a:t>
            </a:r>
          </a:p>
          <a:p>
            <a:pPr marL="342900" indent="-342900" eaLnBrk="1" hangingPunct="1">
              <a:lnSpc>
                <a:spcPct val="100000"/>
              </a:lnSpc>
              <a:spcBef>
                <a:spcPct val="20000"/>
              </a:spcBef>
              <a:buClr>
                <a:schemeClr val="hlink"/>
              </a:buClr>
              <a:buSzPct val="70000"/>
              <a:defRPr/>
            </a:pPr>
            <a:r>
              <a:rPr lang="en-US" altLang="ko-KR" sz="1600" b="0" kern="0" dirty="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itchFamily="34" charset="0"/>
                <a:ea typeface="굴림" pitchFamily="50" charset="-127"/>
                <a:cs typeface="Arial" pitchFamily="34" charset="0"/>
              </a:rPr>
              <a:t>	 If there exist statements which were executed more than 10</a:t>
            </a:r>
            <a:r>
              <a:rPr lang="en-US" altLang="ko-KR" sz="1600" b="0" kern="0" baseline="30000" dirty="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itchFamily="34" charset="0"/>
                <a:ea typeface="굴림" pitchFamily="50" charset="-127"/>
                <a:cs typeface="Arial" pitchFamily="34" charset="0"/>
              </a:rPr>
              <a:t>8 </a:t>
            </a:r>
            <a:r>
              <a:rPr lang="en-US" altLang="ko-KR" sz="1600" b="0" kern="0" dirty="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itchFamily="34" charset="0"/>
                <a:ea typeface="굴림" pitchFamily="50" charset="-127"/>
                <a:cs typeface="Arial" pitchFamily="34" charset="0"/>
              </a:rPr>
              <a:t>, on a 3 </a:t>
            </a:r>
            <a:r>
              <a:rPr lang="en-US" altLang="ko-KR" sz="1600" b="0" kern="0" dirty="0" err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itchFamily="34" charset="0"/>
                <a:ea typeface="굴림" pitchFamily="50" charset="-127"/>
                <a:cs typeface="Arial" pitchFamily="34" charset="0"/>
              </a:rPr>
              <a:t>Ghz</a:t>
            </a:r>
            <a:r>
              <a:rPr lang="en-US" altLang="ko-KR" sz="1600" b="0" kern="0" dirty="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itchFamily="34" charset="0"/>
                <a:ea typeface="굴림" pitchFamily="50" charset="-127"/>
                <a:cs typeface="Arial" pitchFamily="34" charset="0"/>
              </a:rPr>
              <a:t> machine, then the program is hot-spotted</a:t>
            </a:r>
            <a:endParaRPr lang="en-US" altLang="ko-KR" sz="1600" b="0" kern="0" baseline="30000" dirty="0">
              <a:solidFill>
                <a:schemeClr val="bg1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pitchFamily="34" charset="0"/>
              <a:ea typeface="굴림" pitchFamily="50" charset="-127"/>
              <a:cs typeface="Arial" pitchFamily="34" charset="0"/>
            </a:endParaRPr>
          </a:p>
          <a:p>
            <a:pPr marL="342900" indent="-342900" eaLnBrk="1" hangingPunct="1">
              <a:lnSpc>
                <a:spcPct val="100000"/>
              </a:lnSpc>
              <a:spcBef>
                <a:spcPct val="20000"/>
              </a:spcBef>
              <a:buClr>
                <a:schemeClr val="hlink"/>
              </a:buClr>
              <a:buSzPct val="70000"/>
              <a:buFont typeface="Wingdings" pitchFamily="2" charset="2"/>
              <a:buChar char="n"/>
              <a:defRPr/>
            </a:pPr>
            <a:r>
              <a:rPr lang="en-US" altLang="ko-KR" sz="1600" b="0" i="1" kern="0" dirty="0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itchFamily="34" charset="0"/>
                <a:ea typeface="굴림" pitchFamily="50" charset="-127"/>
                <a:cs typeface="Arial" pitchFamily="34" charset="0"/>
              </a:rPr>
              <a:t>Example of Feedback</a:t>
            </a:r>
            <a:r>
              <a:rPr lang="en-US" altLang="ko-KR" sz="1600" b="0" i="1" kern="0" dirty="0">
                <a:solidFill>
                  <a:srgbClr val="F3FF07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itchFamily="34" charset="0"/>
                <a:ea typeface="굴림" pitchFamily="50" charset="-127"/>
                <a:cs typeface="Arial" pitchFamily="34" charset="0"/>
              </a:rPr>
              <a:t>.</a:t>
            </a:r>
            <a:r>
              <a:rPr lang="en-US" altLang="ko-KR" sz="1600" b="0" kern="0" dirty="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itchFamily="34" charset="0"/>
                <a:ea typeface="굴림" pitchFamily="50" charset="-127"/>
                <a:cs typeface="Arial" pitchFamily="34" charset="0"/>
              </a:rPr>
              <a:t> </a:t>
            </a:r>
          </a:p>
          <a:p>
            <a:pPr marL="342900" indent="-342900" eaLnBrk="1" hangingPunct="1">
              <a:lnSpc>
                <a:spcPct val="100000"/>
              </a:lnSpc>
              <a:spcBef>
                <a:spcPct val="20000"/>
              </a:spcBef>
              <a:buClr>
                <a:schemeClr val="hlink"/>
              </a:buClr>
              <a:buSzPct val="70000"/>
              <a:buFont typeface="Wingdings" pitchFamily="2" charset="2"/>
              <a:buNone/>
              <a:defRPr/>
            </a:pPr>
            <a:r>
              <a:rPr lang="en-US" altLang="ko-KR" sz="1600" b="0" kern="0" dirty="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itchFamily="34" charset="0"/>
                <a:ea typeface="굴림" pitchFamily="50" charset="-127"/>
                <a:cs typeface="Arial" pitchFamily="34" charset="0"/>
              </a:rPr>
              <a:t>	Try to optimize those hot-spotted statements.  Or those hot-spotted statement might have logical flaws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바닥글 개체 틀 3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/>
          <a:p>
            <a:endParaRPr lang="en-US" altLang="ko-KR" dirty="0"/>
          </a:p>
        </p:txBody>
      </p:sp>
      <p:sp>
        <p:nvSpPr>
          <p:cNvPr id="9219" name="슬라이드 번호 개체 틀 4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A4A03AC5-70B7-4FBE-BBC5-5A6AB961B753}" type="slidenum">
              <a:rPr lang="ko-KR" altLang="en-US" smtClean="0"/>
              <a:pPr/>
              <a:t>6</a:t>
            </a:fld>
            <a:endParaRPr lang="en-US" altLang="ko-KR"/>
          </a:p>
        </p:txBody>
      </p:sp>
      <p:sp>
        <p:nvSpPr>
          <p:cNvPr id="1302530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393700" y="355600"/>
            <a:ext cx="8555038" cy="5334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ko-KR">
                <a:latin typeface="Arial" pitchFamily="34" charset="0"/>
                <a:ea typeface="굴림" pitchFamily="50" charset="-127"/>
                <a:cs typeface="Arial" pitchFamily="34" charset="0"/>
              </a:rPr>
              <a:t>Goal-Oriented Software Measurement</a:t>
            </a:r>
          </a:p>
        </p:txBody>
      </p:sp>
      <p:sp>
        <p:nvSpPr>
          <p:cNvPr id="1302531" name="Rectangle 3"/>
          <p:cNvSpPr>
            <a:spLocks noGrp="1" noRot="1" noChangeArrowheads="1"/>
          </p:cNvSpPr>
          <p:nvPr>
            <p:ph type="body" idx="1"/>
          </p:nvPr>
        </p:nvSpPr>
        <p:spPr>
          <a:xfrm>
            <a:off x="425450" y="1058863"/>
            <a:ext cx="8405813" cy="3657600"/>
          </a:xfrm>
        </p:spPr>
        <p:txBody>
          <a:bodyPr/>
          <a:lstStyle/>
          <a:p>
            <a:pPr eaLnBrk="1" hangingPunct="1">
              <a:lnSpc>
                <a:spcPct val="90000"/>
              </a:lnSpc>
              <a:defRPr/>
            </a:pPr>
            <a:r>
              <a:rPr lang="en-US" altLang="ko-KR" sz="2000">
                <a:latin typeface="Arial" pitchFamily="34" charset="0"/>
                <a:ea typeface="굴림" pitchFamily="50" charset="-127"/>
                <a:cs typeface="Arial" pitchFamily="34" charset="0"/>
              </a:rPr>
              <a:t>The Goal/Question/Metric Paradigm</a:t>
            </a:r>
          </a:p>
          <a:p>
            <a:pPr lvl="1" eaLnBrk="1" hangingPunct="1">
              <a:lnSpc>
                <a:spcPct val="90000"/>
              </a:lnSpc>
              <a:spcBef>
                <a:spcPts val="300"/>
              </a:spcBef>
              <a:defRPr/>
            </a:pPr>
            <a:r>
              <a:rPr lang="en-US" altLang="ko-KR" sz="1800">
                <a:latin typeface="Arial" pitchFamily="34" charset="0"/>
                <a:ea typeface="굴림" pitchFamily="50" charset="-127"/>
                <a:cs typeface="Arial" pitchFamily="34" charset="0"/>
              </a:rPr>
              <a:t>establish an explicit measurement </a:t>
            </a:r>
            <a:r>
              <a:rPr lang="en-US" altLang="ko-KR" sz="1800" i="1">
                <a:solidFill>
                  <a:srgbClr val="FF0000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goal</a:t>
            </a:r>
            <a:endParaRPr lang="en-US" altLang="ko-KR" sz="1800">
              <a:latin typeface="Arial" pitchFamily="34" charset="0"/>
              <a:ea typeface="굴림" pitchFamily="50" charset="-127"/>
              <a:cs typeface="Arial" pitchFamily="34" charset="0"/>
            </a:endParaRPr>
          </a:p>
          <a:p>
            <a:pPr lvl="1" eaLnBrk="1" hangingPunct="1">
              <a:lnSpc>
                <a:spcPct val="90000"/>
              </a:lnSpc>
              <a:spcBef>
                <a:spcPts val="300"/>
              </a:spcBef>
              <a:defRPr/>
            </a:pPr>
            <a:r>
              <a:rPr lang="en-US" altLang="ko-KR" sz="1800">
                <a:latin typeface="Arial" pitchFamily="34" charset="0"/>
                <a:ea typeface="굴림" pitchFamily="50" charset="-127"/>
                <a:cs typeface="Arial" pitchFamily="34" charset="0"/>
              </a:rPr>
              <a:t>define a set of </a:t>
            </a:r>
            <a:r>
              <a:rPr lang="en-US" altLang="ko-KR" sz="1800" i="1">
                <a:solidFill>
                  <a:srgbClr val="FF0000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questions</a:t>
            </a:r>
            <a:r>
              <a:rPr lang="en-US" altLang="ko-KR" sz="1800">
                <a:latin typeface="Arial" pitchFamily="34" charset="0"/>
                <a:ea typeface="굴림" pitchFamily="50" charset="-127"/>
                <a:cs typeface="Arial" pitchFamily="34" charset="0"/>
              </a:rPr>
              <a:t> that must be answered to achieve the goal</a:t>
            </a:r>
          </a:p>
          <a:p>
            <a:pPr lvl="1" eaLnBrk="1" hangingPunct="1">
              <a:lnSpc>
                <a:spcPct val="90000"/>
              </a:lnSpc>
              <a:spcBef>
                <a:spcPts val="300"/>
              </a:spcBef>
              <a:defRPr/>
            </a:pPr>
            <a:r>
              <a:rPr lang="en-US" altLang="ko-KR" sz="1800">
                <a:latin typeface="Arial" pitchFamily="34" charset="0"/>
                <a:ea typeface="굴림" pitchFamily="50" charset="-127"/>
                <a:cs typeface="Arial" pitchFamily="34" charset="0"/>
              </a:rPr>
              <a:t>identify well-formulated</a:t>
            </a:r>
            <a:r>
              <a:rPr lang="en-US" altLang="ko-KR" sz="1800">
                <a:solidFill>
                  <a:srgbClr val="F3FF07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 </a:t>
            </a:r>
            <a:r>
              <a:rPr lang="en-US" altLang="ko-KR" sz="1800" i="1">
                <a:solidFill>
                  <a:srgbClr val="FF0000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metrics</a:t>
            </a:r>
            <a:r>
              <a:rPr lang="en-US" altLang="ko-KR" sz="1800">
                <a:latin typeface="Arial" pitchFamily="34" charset="0"/>
                <a:ea typeface="굴림" pitchFamily="50" charset="-127"/>
                <a:cs typeface="Arial" pitchFamily="34" charset="0"/>
              </a:rPr>
              <a:t> that help to answer these questions.</a:t>
            </a:r>
          </a:p>
          <a:p>
            <a:pPr eaLnBrk="1" hangingPunct="1">
              <a:lnSpc>
                <a:spcPct val="90000"/>
              </a:lnSpc>
              <a:spcBef>
                <a:spcPts val="300"/>
              </a:spcBef>
              <a:defRPr/>
            </a:pPr>
            <a:r>
              <a:rPr lang="en-US" altLang="ko-KR" sz="2000">
                <a:latin typeface="Arial" pitchFamily="34" charset="0"/>
                <a:ea typeface="굴림" pitchFamily="50" charset="-127"/>
                <a:cs typeface="Arial" pitchFamily="34" charset="0"/>
              </a:rPr>
              <a:t>Goal definition template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ko-KR" sz="180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Analyze</a:t>
            </a:r>
            <a:r>
              <a:rPr lang="en-US" altLang="ko-KR" sz="1800">
                <a:latin typeface="Arial" pitchFamily="34" charset="0"/>
                <a:ea typeface="굴림" pitchFamily="50" charset="-127"/>
                <a:cs typeface="Arial" pitchFamily="34" charset="0"/>
              </a:rPr>
              <a:t> </a:t>
            </a:r>
          </a:p>
          <a:p>
            <a:pPr lvl="1"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altLang="ko-KR" sz="1800">
                <a:latin typeface="Arial" pitchFamily="34" charset="0"/>
                <a:ea typeface="굴림" pitchFamily="50" charset="-127"/>
                <a:cs typeface="Arial" pitchFamily="34" charset="0"/>
              </a:rPr>
              <a:t>	{the name of activity or attribute to be measured} 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ko-KR" sz="180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for the purpose of</a:t>
            </a:r>
            <a:r>
              <a:rPr lang="en-US" altLang="ko-KR" sz="1800">
                <a:latin typeface="Arial" pitchFamily="34" charset="0"/>
                <a:ea typeface="굴림" pitchFamily="50" charset="-127"/>
                <a:cs typeface="Arial" pitchFamily="34" charset="0"/>
              </a:rPr>
              <a:t> </a:t>
            </a:r>
          </a:p>
          <a:p>
            <a:pPr lvl="1"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altLang="ko-KR" sz="1800">
                <a:latin typeface="Arial" pitchFamily="34" charset="0"/>
                <a:ea typeface="굴림" pitchFamily="50" charset="-127"/>
                <a:cs typeface="Arial" pitchFamily="34" charset="0"/>
              </a:rPr>
              <a:t>	{the overall objective of the analysis} 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ko-KR" sz="180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with respect to</a:t>
            </a:r>
            <a:r>
              <a:rPr lang="en-US" altLang="ko-KR" sz="1800">
                <a:latin typeface="Arial" pitchFamily="34" charset="0"/>
                <a:ea typeface="굴림" pitchFamily="50" charset="-127"/>
                <a:cs typeface="Arial" pitchFamily="34" charset="0"/>
              </a:rPr>
              <a:t> </a:t>
            </a:r>
          </a:p>
          <a:p>
            <a:pPr lvl="1"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altLang="ko-KR" sz="1800">
                <a:latin typeface="Arial" pitchFamily="34" charset="0"/>
                <a:ea typeface="굴림" pitchFamily="50" charset="-127"/>
                <a:cs typeface="Arial" pitchFamily="34" charset="0"/>
              </a:rPr>
              <a:t>	{the aspect of the activity or attribute that is considered} 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ko-KR" sz="180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from the viewpoint of</a:t>
            </a:r>
            <a:r>
              <a:rPr lang="en-US" altLang="ko-KR" sz="1800">
                <a:latin typeface="Arial" pitchFamily="34" charset="0"/>
                <a:ea typeface="굴림" pitchFamily="50" charset="-127"/>
                <a:cs typeface="Arial" pitchFamily="34" charset="0"/>
              </a:rPr>
              <a:t> </a:t>
            </a:r>
          </a:p>
          <a:p>
            <a:pPr lvl="1"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altLang="ko-KR" sz="1800">
                <a:latin typeface="Arial" pitchFamily="34" charset="0"/>
                <a:ea typeface="굴림" pitchFamily="50" charset="-127"/>
                <a:cs typeface="Arial" pitchFamily="34" charset="0"/>
              </a:rPr>
              <a:t>	{the people who have an interest in the measurement} 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ko-KR" sz="180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in the context of</a:t>
            </a:r>
            <a:r>
              <a:rPr lang="en-US" altLang="ko-KR" sz="1800">
                <a:latin typeface="Arial" pitchFamily="34" charset="0"/>
                <a:ea typeface="굴림" pitchFamily="50" charset="-127"/>
                <a:cs typeface="Arial" pitchFamily="34" charset="0"/>
              </a:rPr>
              <a:t> </a:t>
            </a:r>
          </a:p>
          <a:p>
            <a:pPr lvl="1"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altLang="ko-KR" sz="1800">
                <a:latin typeface="Arial" pitchFamily="34" charset="0"/>
                <a:ea typeface="굴림" pitchFamily="50" charset="-127"/>
                <a:cs typeface="Arial" pitchFamily="34" charset="0"/>
              </a:rPr>
              <a:t>	{the environment in which the measurement takes place}.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바닥글 개체 틀 3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/>
          <a:p>
            <a:endParaRPr lang="en-US" altLang="ko-KR" dirty="0"/>
          </a:p>
        </p:txBody>
      </p:sp>
      <p:sp>
        <p:nvSpPr>
          <p:cNvPr id="10243" name="슬라이드 번호 개체 틀 4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726E8818-88D2-4503-B89A-3B7B4F96F239}" type="slidenum">
              <a:rPr lang="ko-KR" altLang="en-US" smtClean="0"/>
              <a:pPr/>
              <a:t>7</a:t>
            </a:fld>
            <a:endParaRPr lang="en-US" altLang="ko-KR"/>
          </a:p>
        </p:txBody>
      </p:sp>
      <p:sp>
        <p:nvSpPr>
          <p:cNvPr id="1320962" name="Rectangle 2"/>
          <p:cNvSpPr>
            <a:spLocks noGrp="1" noRot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>
                <a:latin typeface="Arial" pitchFamily="34" charset="0"/>
                <a:ea typeface="굴림" pitchFamily="50" charset="-127"/>
                <a:cs typeface="Arial" pitchFamily="34" charset="0"/>
              </a:rPr>
              <a:t>Ex&gt; Goal definition for SafeHome</a:t>
            </a:r>
          </a:p>
        </p:txBody>
      </p:sp>
      <p:sp>
        <p:nvSpPr>
          <p:cNvPr id="1320963" name="Rectangle 3"/>
          <p:cNvSpPr>
            <a:spLocks noGrp="1" noRot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sz="2000" b="1" dirty="0">
                <a:latin typeface="Arial" pitchFamily="34" charset="0"/>
                <a:ea typeface="굴림" pitchFamily="50" charset="-127"/>
                <a:cs typeface="Arial" pitchFamily="34" charset="0"/>
              </a:rPr>
              <a:t>Analyze</a:t>
            </a: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 the </a:t>
            </a:r>
            <a:r>
              <a:rPr lang="en-US" altLang="ko-KR" sz="2000" dirty="0" err="1">
                <a:latin typeface="Arial" pitchFamily="34" charset="0"/>
                <a:ea typeface="굴림" pitchFamily="50" charset="-127"/>
                <a:cs typeface="Arial" pitchFamily="34" charset="0"/>
              </a:rPr>
              <a:t>Safehome</a:t>
            </a: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 SW architecture</a:t>
            </a:r>
          </a:p>
          <a:p>
            <a:pPr eaLnBrk="1" hangingPunct="1">
              <a:defRPr/>
            </a:pPr>
            <a:r>
              <a:rPr lang="en-US" altLang="ko-KR" sz="2000" b="1" dirty="0">
                <a:latin typeface="Arial" pitchFamily="34" charset="0"/>
                <a:ea typeface="굴림" pitchFamily="50" charset="-127"/>
                <a:cs typeface="Arial" pitchFamily="34" charset="0"/>
              </a:rPr>
              <a:t>for the purpose of</a:t>
            </a: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 evaluating architectural components </a:t>
            </a:r>
          </a:p>
          <a:p>
            <a:pPr eaLnBrk="1" hangingPunct="1">
              <a:defRPr/>
            </a:pPr>
            <a:r>
              <a:rPr lang="en-US" altLang="ko-KR" sz="2000" b="1" dirty="0">
                <a:latin typeface="Arial" pitchFamily="34" charset="0"/>
                <a:ea typeface="굴림" pitchFamily="50" charset="-127"/>
                <a:cs typeface="Arial" pitchFamily="34" charset="0"/>
              </a:rPr>
              <a:t>with respect to</a:t>
            </a: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 the ability to make </a:t>
            </a:r>
            <a:r>
              <a:rPr lang="en-US" altLang="ko-KR" sz="2000" dirty="0" err="1">
                <a:latin typeface="Arial" pitchFamily="34" charset="0"/>
                <a:ea typeface="굴림" pitchFamily="50" charset="-127"/>
                <a:cs typeface="Arial" pitchFamily="34" charset="0"/>
              </a:rPr>
              <a:t>Safehome</a:t>
            </a: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 more extensible </a:t>
            </a:r>
          </a:p>
          <a:p>
            <a:pPr eaLnBrk="1" hangingPunct="1">
              <a:defRPr/>
            </a:pPr>
            <a:r>
              <a:rPr lang="en-US" altLang="ko-KR" sz="2000" b="1" dirty="0">
                <a:latin typeface="Arial" pitchFamily="34" charset="0"/>
                <a:ea typeface="굴림" pitchFamily="50" charset="-127"/>
                <a:cs typeface="Arial" pitchFamily="34" charset="0"/>
              </a:rPr>
              <a:t>from the viewpoint of</a:t>
            </a: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 the SW engineers performing the work </a:t>
            </a:r>
          </a:p>
          <a:p>
            <a:pPr eaLnBrk="1" hangingPunct="1">
              <a:defRPr/>
            </a:pPr>
            <a:r>
              <a:rPr lang="en-US" altLang="ko-KR" sz="2000" b="1" dirty="0">
                <a:latin typeface="Arial" pitchFamily="34" charset="0"/>
                <a:ea typeface="굴림" pitchFamily="50" charset="-127"/>
                <a:cs typeface="Arial" pitchFamily="34" charset="0"/>
              </a:rPr>
              <a:t>in the context of</a:t>
            </a: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 enhancement over the next 3 years</a:t>
            </a:r>
          </a:p>
          <a:p>
            <a:pPr eaLnBrk="1" hangingPunct="1">
              <a:defRPr/>
            </a:pP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Questions</a:t>
            </a:r>
          </a:p>
          <a:p>
            <a:pPr lvl="1" eaLnBrk="1" hangingPunct="1">
              <a:defRPr/>
            </a:pP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Q1: Are architectural components characterized in a manner that compartmentalizes function and related data?</a:t>
            </a:r>
          </a:p>
          <a:p>
            <a:pPr lvl="2" eaLnBrk="1" hangingPunct="1">
              <a:defRPr/>
            </a:pPr>
            <a:r>
              <a:rPr lang="en-US" altLang="ko-KR" sz="1600" dirty="0">
                <a:latin typeface="Arial" pitchFamily="34" charset="0"/>
                <a:ea typeface="굴림" pitchFamily="50" charset="-127"/>
                <a:cs typeface="Arial" pitchFamily="34" charset="0"/>
              </a:rPr>
              <a:t>Answer: 0 … 10</a:t>
            </a:r>
          </a:p>
          <a:p>
            <a:pPr lvl="1" eaLnBrk="1" hangingPunct="1">
              <a:defRPr/>
            </a:pP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Q2: Is the complexity of each component within bounds that will facilitate modification and extension?</a:t>
            </a:r>
          </a:p>
          <a:p>
            <a:pPr lvl="2" eaLnBrk="1" hangingPunct="1">
              <a:defRPr/>
            </a:pPr>
            <a:r>
              <a:rPr lang="en-US" altLang="ko-KR" sz="1600" dirty="0">
                <a:latin typeface="Arial" pitchFamily="34" charset="0"/>
                <a:ea typeface="굴림" pitchFamily="50" charset="-127"/>
                <a:cs typeface="Arial" pitchFamily="34" charset="0"/>
              </a:rPr>
              <a:t>Answer: 0 … 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바닥글 개체 틀 3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/>
          <a:p>
            <a:endParaRPr lang="en-US" altLang="ko-KR" dirty="0"/>
          </a:p>
        </p:txBody>
      </p:sp>
      <p:sp>
        <p:nvSpPr>
          <p:cNvPr id="11267" name="슬라이드 번호 개체 틀 4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DA06DAB7-C4AA-40F3-AA8B-5EEB90E21A1F}" type="slidenum">
              <a:rPr lang="ko-KR" altLang="en-US" smtClean="0"/>
              <a:pPr/>
              <a:t>8</a:t>
            </a:fld>
            <a:endParaRPr lang="en-US" altLang="ko-KR"/>
          </a:p>
        </p:txBody>
      </p:sp>
      <p:sp>
        <p:nvSpPr>
          <p:cNvPr id="1303554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2514600" y="244475"/>
            <a:ext cx="4127500" cy="600075"/>
          </a:xfrm>
        </p:spPr>
        <p:txBody>
          <a:bodyPr wrap="none" lIns="63500" tIns="25400" rIns="63500" bIns="25400" anchor="t">
            <a:spAutoFit/>
          </a:bodyPr>
          <a:lstStyle/>
          <a:p>
            <a:pPr eaLnBrk="1" hangingPunct="1">
              <a:defRPr/>
            </a:pPr>
            <a:r>
              <a:rPr lang="en-US" altLang="ko-KR">
                <a:latin typeface="Arial" pitchFamily="34" charset="0"/>
                <a:ea typeface="굴림" pitchFamily="50" charset="-127"/>
                <a:cs typeface="Arial" pitchFamily="34" charset="0"/>
              </a:rPr>
              <a:t>Metrics Attributes</a:t>
            </a:r>
          </a:p>
        </p:txBody>
      </p:sp>
      <p:sp>
        <p:nvSpPr>
          <p:cNvPr id="1303555" name="Rectangle 3"/>
          <p:cNvSpPr>
            <a:spLocks noGrp="1" noRot="1" noChangeArrowheads="1"/>
          </p:cNvSpPr>
          <p:nvPr>
            <p:ph type="body" idx="1"/>
          </p:nvPr>
        </p:nvSpPr>
        <p:spPr>
          <a:xfrm>
            <a:off x="696913" y="917575"/>
            <a:ext cx="7772400" cy="3657600"/>
          </a:xfrm>
        </p:spPr>
        <p:txBody>
          <a:bodyPr lIns="90487" tIns="44450" rIns="90487" bIns="44450"/>
          <a:lstStyle/>
          <a:p>
            <a:pPr eaLnBrk="1" hangingPunct="1">
              <a:lnSpc>
                <a:spcPct val="90000"/>
              </a:lnSpc>
              <a:defRPr/>
            </a:pPr>
            <a:r>
              <a:rPr lang="en-US" altLang="ko-KR" sz="2000" i="1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Simple and computable.</a:t>
            </a:r>
            <a:r>
              <a:rPr lang="en-US" altLang="ko-KR" sz="2000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 </a:t>
            </a:r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	It should be relatively easy to learn how to derive the metric, and its computation should not demand inordinate effort or time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ko-KR" sz="2000" i="1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Empirically and intuitively persuasive.</a:t>
            </a: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 </a:t>
            </a:r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	The metric should satisfy the engineer’s intuitive notions about the product attribute under consideration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ko-KR" sz="2000" i="1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Consistent and objective.</a:t>
            </a:r>
            <a:r>
              <a:rPr lang="en-US" altLang="ko-KR" sz="2000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  </a:t>
            </a:r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	The metric should always yield results that are unambiguous. 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ko-KR" sz="2000" i="1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Consistent in its use of units and dimensions.</a:t>
            </a: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 </a:t>
            </a:r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	The mathematical computation of the metric should use measures that do not lead to bizarre combinations of unit. </a:t>
            </a:r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	ex. MZ measure of a software complexity: kg x </a:t>
            </a:r>
            <a:r>
              <a:rPr lang="en-US" altLang="ko-KR" sz="2000" dirty="0">
                <a:ea typeface="굴림" pitchFamily="50" charset="-127"/>
                <a:cs typeface="Arial" pitchFamily="34" charset="0"/>
              </a:rPr>
              <a:t>m</a:t>
            </a:r>
            <a:r>
              <a:rPr lang="en-US" altLang="ko-KR" sz="2000" baseline="30000" dirty="0">
                <a:latin typeface="Arial"/>
                <a:ea typeface="굴림" pitchFamily="50" charset="-127"/>
                <a:cs typeface="Arial" pitchFamily="34" charset="0"/>
              </a:rPr>
              <a:t>4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ko-KR" sz="2000" i="1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An effective mechanism for quality feedback.</a:t>
            </a: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 </a:t>
            </a:r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	That is, the metric should provide a software engineer with </a:t>
            </a:r>
            <a:r>
              <a:rPr lang="en-US" altLang="ko-KR" sz="2000" dirty="0">
                <a:solidFill>
                  <a:srgbClr val="FF0000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information that can lead to a higher quality end product</a:t>
            </a:r>
          </a:p>
        </p:txBody>
      </p:sp>
    </p:spTree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바닥글 개체 틀 3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/>
          <a:p>
            <a:endParaRPr lang="en-US" altLang="ko-KR" dirty="0"/>
          </a:p>
        </p:txBody>
      </p:sp>
      <p:sp>
        <p:nvSpPr>
          <p:cNvPr id="12291" name="슬라이드 번호 개체 틀 4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A2E0DD66-72AF-483D-A55B-46197E31E236}" type="slidenum">
              <a:rPr lang="ko-KR" altLang="en-US" smtClean="0"/>
              <a:pPr/>
              <a:t>9</a:t>
            </a:fld>
            <a:endParaRPr lang="en-US" altLang="ko-KR"/>
          </a:p>
        </p:txBody>
      </p:sp>
      <p:sp>
        <p:nvSpPr>
          <p:cNvPr id="1304578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790575" y="355600"/>
            <a:ext cx="7747000" cy="600075"/>
          </a:xfrm>
        </p:spPr>
        <p:txBody>
          <a:bodyPr wrap="none" lIns="63500" tIns="25400" rIns="63500" bIns="25400" anchor="t">
            <a:spAutoFit/>
          </a:bodyPr>
          <a:lstStyle/>
          <a:p>
            <a:pPr eaLnBrk="1" hangingPunct="1">
              <a:defRPr/>
            </a:pPr>
            <a:r>
              <a:rPr lang="en-US" altLang="ko-KR">
                <a:latin typeface="Arial" pitchFamily="34" charset="0"/>
                <a:ea typeface="굴림" pitchFamily="50" charset="-127"/>
                <a:cs typeface="Arial" pitchFamily="34" charset="0"/>
              </a:rPr>
              <a:t>Collection and Analysis Principles</a:t>
            </a:r>
          </a:p>
        </p:txBody>
      </p:sp>
      <p:sp>
        <p:nvSpPr>
          <p:cNvPr id="1304579" name="Rectangle 3"/>
          <p:cNvSpPr>
            <a:spLocks noGrp="1" noRot="1" noChangeArrowheads="1"/>
          </p:cNvSpPr>
          <p:nvPr>
            <p:ph type="body" idx="1"/>
          </p:nvPr>
        </p:nvSpPr>
        <p:spPr/>
        <p:txBody>
          <a:bodyPr lIns="90487" tIns="44450" rIns="90487" bIns="44450"/>
          <a:lstStyle/>
          <a:p>
            <a:pPr eaLnBrk="1" hangingPunct="1"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Whenever possible, data collection and analysis should be </a:t>
            </a:r>
            <a:r>
              <a:rPr lang="en-US" altLang="ko-KR" dirty="0">
                <a:solidFill>
                  <a:srgbClr val="FF0000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automated</a:t>
            </a:r>
            <a:endParaRPr lang="en-US" altLang="ko-KR" dirty="0">
              <a:latin typeface="Arial" pitchFamily="34" charset="0"/>
              <a:ea typeface="굴림" pitchFamily="50" charset="-127"/>
              <a:cs typeface="Arial" pitchFamily="34" charset="0"/>
            </a:endParaRPr>
          </a:p>
          <a:p>
            <a:pPr eaLnBrk="1" hangingPunct="1"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Valid statistical techniques should be applied to establish relationship between internal product attributes and external quality characteristics </a:t>
            </a:r>
          </a:p>
          <a:p>
            <a:pPr eaLnBrk="1" hangingPunct="1"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Interpretative guidelines and recommendations should be established for each metric</a:t>
            </a:r>
          </a:p>
          <a:p>
            <a:pPr lvl="1" eaLnBrk="1" hangingPunct="1"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Ex. Fat metric greater than 0.5 indicates obesity.  A person who has more than 0.7 fat metric should consult a doctor.</a:t>
            </a:r>
          </a:p>
        </p:txBody>
      </p: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바닥글 개체 틀 3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/>
          <a:p>
            <a:endParaRPr lang="en-US" altLang="ko-KR" dirty="0"/>
          </a:p>
        </p:txBody>
      </p:sp>
      <p:sp>
        <p:nvSpPr>
          <p:cNvPr id="4099" name="슬라이드 번호 개체 틀 4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E586CD57-263F-4460-9972-C0FCB7F31EBA}" type="slidenum">
              <a:rPr lang="ko-KR" altLang="en-US" smtClean="0"/>
              <a:pPr/>
              <a:t>10</a:t>
            </a:fld>
            <a:endParaRPr lang="en-US" altLang="ko-KR"/>
          </a:p>
        </p:txBody>
      </p:sp>
      <p:sp>
        <p:nvSpPr>
          <p:cNvPr id="1190914" name="Rectangle 2"/>
          <p:cNvSpPr>
            <a:spLocks noGrp="1" noRot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Overview of Ch23. Product Metrics</a:t>
            </a:r>
          </a:p>
        </p:txBody>
      </p:sp>
      <p:sp>
        <p:nvSpPr>
          <p:cNvPr id="1190915" name="Rectangle 3"/>
          <p:cNvSpPr>
            <a:spLocks noGrp="1" noRot="1" noChangeArrowheads="1"/>
          </p:cNvSpPr>
          <p:nvPr>
            <p:ph type="body" idx="1"/>
          </p:nvPr>
        </p:nvSpPr>
        <p:spPr>
          <a:xfrm>
            <a:off x="515938" y="1214438"/>
            <a:ext cx="8229600" cy="3998912"/>
          </a:xfrm>
        </p:spPr>
        <p:txBody>
          <a:bodyPr/>
          <a:lstStyle/>
          <a:p>
            <a:pPr eaLnBrk="1" hangingPunct="1">
              <a:lnSpc>
                <a:spcPct val="80000"/>
              </a:lnSpc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23.3.1 Metrics for the Requirement</a:t>
            </a:r>
            <a:r>
              <a:rPr lang="ko-KR" altLang="en-US" dirty="0">
                <a:latin typeface="Arial" pitchFamily="34" charset="0"/>
                <a:ea typeface="굴림" pitchFamily="50" charset="-127"/>
                <a:cs typeface="Arial" pitchFamily="34" charset="0"/>
              </a:rPr>
              <a:t> </a:t>
            </a: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(Analysis) Model 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Function point metrics</a:t>
            </a:r>
          </a:p>
          <a:p>
            <a:pPr eaLnBrk="1" hangingPunct="1">
              <a:lnSpc>
                <a:spcPct val="80000"/>
              </a:lnSpc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23.3.2 Design Metrics for Conventional Software</a:t>
            </a:r>
          </a:p>
          <a:p>
            <a:pPr eaLnBrk="1" hangingPunct="1">
              <a:lnSpc>
                <a:spcPct val="80000"/>
              </a:lnSpc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23.3.3 Design Metrics for OO Software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Class-oriented metrics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Component-level design metrics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Operation oriented metrics</a:t>
            </a:r>
          </a:p>
          <a:p>
            <a:pPr eaLnBrk="1" hangingPunct="1">
              <a:lnSpc>
                <a:spcPct val="80000"/>
              </a:lnSpc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23.3.4 User Interface Design Metrics </a:t>
            </a:r>
          </a:p>
          <a:p>
            <a:pPr eaLnBrk="1" hangingPunct="1">
              <a:lnSpc>
                <a:spcPct val="80000"/>
              </a:lnSpc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23.3.5 Metrics for Source Code</a:t>
            </a:r>
          </a:p>
          <a:p>
            <a:pPr eaLnBrk="1" hangingPunct="1">
              <a:lnSpc>
                <a:spcPct val="80000"/>
              </a:lnSpc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23.4 Metrics for Testing</a:t>
            </a:r>
          </a:p>
          <a:p>
            <a:pPr eaLnBrk="1" hangingPunct="1">
              <a:lnSpc>
                <a:spcPct val="80000"/>
              </a:lnSpc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23.5 Metrics for Maintenance</a:t>
            </a:r>
          </a:p>
          <a:p>
            <a:pPr eaLnBrk="1" hangingPunct="1">
              <a:lnSpc>
                <a:spcPct val="80000"/>
              </a:lnSpc>
              <a:defRPr/>
            </a:pPr>
            <a:endParaRPr lang="en-US" altLang="ko-KR" dirty="0">
              <a:latin typeface="Arial" pitchFamily="34" charset="0"/>
              <a:ea typeface="굴림" pitchFamily="50" charset="-127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4205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latin typeface="Arial" charset="0"/>
                <a:ea typeface="굴림" pitchFamily="50" charset="-127"/>
                <a:cs typeface="Arial" charset="0"/>
              </a:rPr>
              <a:t>Metrics for the Analysis Model</a:t>
            </a:r>
            <a:endParaRPr lang="ko-KR" altLang="en-US">
              <a:latin typeface="Arial" charset="0"/>
              <a:ea typeface="굴림" pitchFamily="50" charset="-127"/>
              <a:cs typeface="Arial" charset="0"/>
            </a:endParaRP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latin typeface="Arial" charset="0"/>
                <a:ea typeface="굴림" pitchFamily="50" charset="-127"/>
                <a:cs typeface="Arial" charset="0"/>
              </a:rPr>
              <a:t>These metrics examine the analysis model with the intent of predicting the “</a:t>
            </a:r>
            <a:r>
              <a:rPr lang="en-US" altLang="ko-KR">
                <a:solidFill>
                  <a:srgbClr val="FF0000"/>
                </a:solidFill>
                <a:latin typeface="Arial" charset="0"/>
                <a:ea typeface="굴림" pitchFamily="50" charset="-127"/>
                <a:cs typeface="Arial" charset="0"/>
              </a:rPr>
              <a:t>size</a:t>
            </a:r>
            <a:r>
              <a:rPr lang="en-US" altLang="ko-KR">
                <a:latin typeface="Arial" charset="0"/>
                <a:ea typeface="굴림" pitchFamily="50" charset="-127"/>
                <a:cs typeface="Arial" charset="0"/>
              </a:rPr>
              <a:t>” of the resultant system</a:t>
            </a:r>
          </a:p>
          <a:p>
            <a:pPr>
              <a:defRPr/>
            </a:pPr>
            <a:r>
              <a:rPr lang="en-US" altLang="ko-KR">
                <a:latin typeface="Arial" charset="0"/>
                <a:ea typeface="굴림" pitchFamily="50" charset="-127"/>
                <a:cs typeface="Arial" charset="0"/>
              </a:rPr>
              <a:t>Size can be one indicator of </a:t>
            </a:r>
            <a:r>
              <a:rPr lang="en-US" altLang="ko-KR">
                <a:solidFill>
                  <a:srgbClr val="FF0000"/>
                </a:solidFill>
                <a:latin typeface="Arial" charset="0"/>
                <a:ea typeface="굴림" pitchFamily="50" charset="-127"/>
                <a:cs typeface="Arial" charset="0"/>
              </a:rPr>
              <a:t>design complexity</a:t>
            </a:r>
          </a:p>
          <a:p>
            <a:pPr>
              <a:defRPr/>
            </a:pPr>
            <a:r>
              <a:rPr lang="en-US" altLang="ko-KR">
                <a:latin typeface="Arial" charset="0"/>
                <a:ea typeface="굴림" pitchFamily="50" charset="-127"/>
                <a:cs typeface="Arial" charset="0"/>
              </a:rPr>
              <a:t>Size can always an indicator of </a:t>
            </a:r>
            <a:r>
              <a:rPr lang="en-US" altLang="ko-KR">
                <a:solidFill>
                  <a:srgbClr val="FF0000"/>
                </a:solidFill>
                <a:latin typeface="Arial" charset="0"/>
                <a:ea typeface="굴림" pitchFamily="50" charset="-127"/>
                <a:cs typeface="Arial" charset="0"/>
              </a:rPr>
              <a:t>increased coding, integration, and testing efforts</a:t>
            </a:r>
          </a:p>
          <a:p>
            <a:pPr>
              <a:defRPr/>
            </a:pPr>
            <a:r>
              <a:rPr lang="en-US" altLang="ko-KR">
                <a:latin typeface="Arial" charset="0"/>
                <a:ea typeface="굴림" pitchFamily="50" charset="-127"/>
                <a:cs typeface="Arial" charset="0"/>
              </a:rPr>
              <a:t>Example</a:t>
            </a:r>
          </a:p>
          <a:p>
            <a:pPr lvl="1">
              <a:defRPr/>
            </a:pPr>
            <a:r>
              <a:rPr lang="en-US" altLang="ko-KR">
                <a:latin typeface="Arial" charset="0"/>
                <a:ea typeface="굴림" pitchFamily="50" charset="-127"/>
                <a:cs typeface="Arial" charset="0"/>
              </a:rPr>
              <a:t>Function-based metrics</a:t>
            </a:r>
          </a:p>
          <a:p>
            <a:pPr lvl="1">
              <a:defRPr/>
            </a:pPr>
            <a:r>
              <a:rPr lang="en-US" altLang="ko-KR">
                <a:latin typeface="Arial" charset="0"/>
                <a:ea typeface="굴림" pitchFamily="50" charset="-127"/>
                <a:cs typeface="Arial" charset="0"/>
              </a:rPr>
              <a:t>Metrics for specification quality</a:t>
            </a:r>
            <a:endParaRPr lang="ko-KR" altLang="en-US">
              <a:latin typeface="Arial" charset="0"/>
              <a:ea typeface="굴림" pitchFamily="50" charset="-127"/>
              <a:cs typeface="Arial" charset="0"/>
            </a:endParaRPr>
          </a:p>
        </p:txBody>
      </p:sp>
      <p:sp>
        <p:nvSpPr>
          <p:cNvPr id="13316" name="바닥글 개체 틀 3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/>
          <a:p>
            <a:endParaRPr lang="en-US" altLang="ko-KR" dirty="0"/>
          </a:p>
        </p:txBody>
      </p:sp>
      <p:sp>
        <p:nvSpPr>
          <p:cNvPr id="13317" name="슬라이드 번호 개체 틀 4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59F55E49-2590-4213-A70F-B17A3E051E30}" type="slidenum">
              <a:rPr lang="ko-KR" altLang="en-US" smtClean="0"/>
              <a:pPr/>
              <a:t>11</a:t>
            </a:fld>
            <a:endParaRPr lang="en-US" altLang="ko-K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바닥글 개체 틀 3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/>
          <a:p>
            <a:endParaRPr lang="en-US" altLang="ko-KR" dirty="0"/>
          </a:p>
        </p:txBody>
      </p:sp>
      <p:sp>
        <p:nvSpPr>
          <p:cNvPr id="14339" name="슬라이드 번호 개체 틀 4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3071CECB-D79E-4C89-9F3F-2D4D83371C8C}" type="slidenum">
              <a:rPr lang="ko-KR" altLang="en-US" smtClean="0"/>
              <a:pPr/>
              <a:t>12</a:t>
            </a:fld>
            <a:endParaRPr lang="en-US" altLang="ko-KR"/>
          </a:p>
        </p:txBody>
      </p:sp>
      <p:sp>
        <p:nvSpPr>
          <p:cNvPr id="1306626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1219200" y="244475"/>
            <a:ext cx="6724650" cy="10160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Function-Based Metrics</a:t>
            </a:r>
          </a:p>
        </p:txBody>
      </p:sp>
      <p:sp>
        <p:nvSpPr>
          <p:cNvPr id="1306627" name="Rectangle 3"/>
          <p:cNvSpPr>
            <a:spLocks noGrp="1" noRot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The </a:t>
            </a:r>
            <a:r>
              <a:rPr lang="en-US" altLang="ko-KR" sz="2000" i="1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function point metric</a:t>
            </a:r>
            <a:r>
              <a:rPr lang="en-US" altLang="ko-KR" sz="2000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 (FP),</a:t>
            </a: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 first proposed by Albrecht [ALB79], can be used effectively as a means for measuring the functionality delivered by a system.</a:t>
            </a:r>
          </a:p>
          <a:p>
            <a:pPr eaLnBrk="1" hangingPunct="1">
              <a:defRPr/>
            </a:pP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Function points are derived using an empirical relationship based on countable (direct) measures of software's </a:t>
            </a:r>
            <a:r>
              <a:rPr lang="en-US" altLang="ko-KR" sz="2000" dirty="0">
                <a:solidFill>
                  <a:srgbClr val="FF0000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information domain </a:t>
            </a: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and assessments of </a:t>
            </a:r>
            <a:r>
              <a:rPr lang="en-US" altLang="ko-KR" sz="2000" dirty="0">
                <a:solidFill>
                  <a:srgbClr val="FF0000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software complexity</a:t>
            </a:r>
          </a:p>
          <a:p>
            <a:pPr eaLnBrk="1" hangingPunct="1">
              <a:spcBef>
                <a:spcPts val="300"/>
              </a:spcBef>
              <a:defRPr/>
            </a:pP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Information domain values are defined in the following manner:</a:t>
            </a:r>
          </a:p>
          <a:p>
            <a:pPr lvl="1" eaLnBrk="1" hangingPunct="1">
              <a:spcBef>
                <a:spcPts val="300"/>
              </a:spcBef>
              <a:defRPr/>
            </a:pP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number of external inputs (EIs) </a:t>
            </a:r>
          </a:p>
          <a:p>
            <a:pPr lvl="2" eaLnBrk="1" hangingPunct="1">
              <a:spcBef>
                <a:spcPts val="300"/>
              </a:spcBef>
              <a:defRPr/>
            </a:pPr>
            <a:r>
              <a:rPr lang="en-US" altLang="ko-KR" sz="1600" dirty="0">
                <a:latin typeface="Arial" pitchFamily="34" charset="0"/>
                <a:ea typeface="굴림" pitchFamily="50" charset="-127"/>
                <a:cs typeface="Arial" pitchFamily="34" charset="0"/>
              </a:rPr>
              <a:t>often used to update internal logical files</a:t>
            </a:r>
          </a:p>
          <a:p>
            <a:pPr lvl="1" eaLnBrk="1" hangingPunct="1">
              <a:spcBef>
                <a:spcPts val="300"/>
              </a:spcBef>
              <a:defRPr/>
            </a:pP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number of external outputs (EOs)</a:t>
            </a:r>
          </a:p>
          <a:p>
            <a:pPr lvl="1" eaLnBrk="1" hangingPunct="1">
              <a:spcBef>
                <a:spcPts val="300"/>
              </a:spcBef>
              <a:defRPr/>
            </a:pP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number of external inquiries (EQs)</a:t>
            </a:r>
          </a:p>
          <a:p>
            <a:pPr lvl="1" eaLnBrk="1" hangingPunct="1">
              <a:spcBef>
                <a:spcPts val="300"/>
              </a:spcBef>
              <a:defRPr/>
            </a:pP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number of internal logical files (ILFs)</a:t>
            </a:r>
          </a:p>
          <a:p>
            <a:pPr lvl="1" eaLnBrk="1" hangingPunct="1">
              <a:spcBef>
                <a:spcPts val="300"/>
              </a:spcBef>
              <a:defRPr/>
            </a:pP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Number of external interface files (EIFs) (</a:t>
            </a:r>
          </a:p>
          <a:p>
            <a:pPr lvl="2" eaLnBrk="1" hangingPunct="1">
              <a:spcBef>
                <a:spcPts val="300"/>
              </a:spcBef>
              <a:defRPr/>
            </a:pPr>
            <a:endParaRPr lang="en-US" altLang="ko-KR" sz="2200" dirty="0">
              <a:latin typeface="Arial" pitchFamily="34" charset="0"/>
              <a:ea typeface="굴림" pitchFamily="50" charset="-127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바닥글 개체 틀 3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/>
          <a:p>
            <a:endParaRPr lang="en-US" altLang="ko-KR" dirty="0"/>
          </a:p>
        </p:txBody>
      </p:sp>
      <p:sp>
        <p:nvSpPr>
          <p:cNvPr id="15363" name="슬라이드 번호 개체 틀 4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EB2FB848-EA81-4922-B734-92D8F891FA91}" type="slidenum">
              <a:rPr lang="ko-KR" altLang="en-US" smtClean="0"/>
              <a:pPr/>
              <a:t>13</a:t>
            </a:fld>
            <a:endParaRPr lang="en-US" altLang="ko-KR"/>
          </a:p>
        </p:txBody>
      </p:sp>
      <p:sp>
        <p:nvSpPr>
          <p:cNvPr id="1307651" name="Rectangle 3"/>
          <p:cNvSpPr>
            <a:spLocks noGrp="1" noRot="1" noChangeArrowheads="1"/>
          </p:cNvSpPr>
          <p:nvPr>
            <p:ph type="title"/>
          </p:nvPr>
        </p:nvSpPr>
        <p:spPr>
          <a:xfrm>
            <a:off x="2411413" y="244475"/>
            <a:ext cx="4335462" cy="10160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ko-KR">
                <a:latin typeface="Arial" pitchFamily="34" charset="0"/>
                <a:ea typeface="굴림" pitchFamily="50" charset="-127"/>
                <a:cs typeface="Arial" pitchFamily="34" charset="0"/>
              </a:rPr>
              <a:t>Function Points</a:t>
            </a:r>
          </a:p>
        </p:txBody>
      </p:sp>
      <p:pic>
        <p:nvPicPr>
          <p:cNvPr id="15365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04813" y="1204913"/>
            <a:ext cx="8385175" cy="3336925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</p:pic>
      <p:sp>
        <p:nvSpPr>
          <p:cNvPr id="15366" name="Text Box 5"/>
          <p:cNvSpPr txBox="1">
            <a:spLocks noChangeArrowheads="1"/>
          </p:cNvSpPr>
          <p:nvPr/>
        </p:nvSpPr>
        <p:spPr bwMode="auto">
          <a:xfrm>
            <a:off x="1654175" y="4689475"/>
            <a:ext cx="6734175" cy="942975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ea typeface="굴림" pitchFamily="50" charset="-127"/>
              </a:rPr>
              <a:t>FP = count total x (0.65 + 0.01 x ∑(F</a:t>
            </a:r>
            <a:r>
              <a:rPr lang="en-US" altLang="ko-KR" sz="2400" baseline="-25000" dirty="0">
                <a:solidFill>
                  <a:schemeClr val="bg1"/>
                </a:solidFill>
                <a:ea typeface="굴림" pitchFamily="50" charset="-127"/>
              </a:rPr>
              <a:t>i</a:t>
            </a:r>
            <a:r>
              <a:rPr lang="en-US" altLang="ko-KR" sz="2400" dirty="0">
                <a:solidFill>
                  <a:schemeClr val="bg1"/>
                </a:solidFill>
                <a:ea typeface="굴림" pitchFamily="50" charset="-127"/>
              </a:rPr>
              <a:t>)) </a:t>
            </a:r>
          </a:p>
          <a:p>
            <a:r>
              <a:rPr lang="en-US" altLang="ko-KR" sz="2000" dirty="0">
                <a:solidFill>
                  <a:schemeClr val="bg1"/>
                </a:solidFill>
                <a:ea typeface="굴림" pitchFamily="50" charset="-127"/>
              </a:rPr>
              <a:t>where </a:t>
            </a:r>
            <a:r>
              <a:rPr lang="en-US" altLang="ko-KR" dirty="0" err="1">
                <a:solidFill>
                  <a:schemeClr val="bg1"/>
                </a:solidFill>
                <a:ea typeface="굴림" pitchFamily="50" charset="-127"/>
              </a:rPr>
              <a:t>Fi’s</a:t>
            </a:r>
            <a:r>
              <a:rPr lang="en-US" altLang="ko-KR" dirty="0">
                <a:solidFill>
                  <a:schemeClr val="bg1"/>
                </a:solidFill>
                <a:ea typeface="굴림" pitchFamily="50" charset="-127"/>
              </a:rPr>
              <a:t> are value adjustment factors based on responses to the 14 questions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바닥글 개체 틀 3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/>
          <a:p>
            <a:endParaRPr lang="en-US" altLang="ko-KR" dirty="0"/>
          </a:p>
        </p:txBody>
      </p:sp>
      <p:sp>
        <p:nvSpPr>
          <p:cNvPr id="16387" name="슬라이드 번호 개체 틀 4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BCB3B44E-8A7A-4576-912B-FF97E1D783DB}" type="slidenum">
              <a:rPr lang="ko-KR" altLang="en-US" smtClean="0"/>
              <a:pPr/>
              <a:t>14</a:t>
            </a:fld>
            <a:endParaRPr lang="en-US" altLang="ko-KR"/>
          </a:p>
        </p:txBody>
      </p:sp>
      <p:pic>
        <p:nvPicPr>
          <p:cNvPr id="16388" name="Picture 4"/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1455738" y="-236538"/>
            <a:ext cx="6194425" cy="3681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6389" name="Picture 5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679575" y="3359150"/>
            <a:ext cx="5827713" cy="2736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latin typeface="Arial" charset="0"/>
                <a:ea typeface="굴림" pitchFamily="50" charset="-127"/>
                <a:cs typeface="Arial" charset="0"/>
              </a:rPr>
              <a:t>Value Adjustment Factors (F</a:t>
            </a:r>
            <a:r>
              <a:rPr lang="en-US" altLang="ko-KR" baseline="-25000">
                <a:latin typeface="Arial" charset="0"/>
                <a:ea typeface="굴림" pitchFamily="50" charset="-127"/>
                <a:cs typeface="Arial" charset="0"/>
              </a:rPr>
              <a:t>i</a:t>
            </a:r>
            <a:r>
              <a:rPr lang="en-US" altLang="ko-KR">
                <a:latin typeface="Arial" charset="0"/>
                <a:ea typeface="굴림" pitchFamily="50" charset="-127"/>
                <a:cs typeface="Arial" charset="0"/>
              </a:rPr>
              <a:t>)</a:t>
            </a:r>
            <a:endParaRPr lang="ko-KR" altLang="en-US" baseline="-25000">
              <a:latin typeface="Arial" charset="0"/>
              <a:ea typeface="굴림" pitchFamily="50" charset="-127"/>
              <a:cs typeface="Arial" charset="0"/>
            </a:endParaRP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01613" y="1308100"/>
            <a:ext cx="8686800" cy="3998913"/>
          </a:xfrm>
        </p:spPr>
        <p:txBody>
          <a:bodyPr/>
          <a:lstStyle/>
          <a:p>
            <a:pPr>
              <a:defRPr/>
            </a:pPr>
            <a:r>
              <a:rPr lang="en-US" altLang="ko-KR" dirty="0">
                <a:latin typeface="Arial" pitchFamily="34" charset="0"/>
                <a:cs typeface="Arial" pitchFamily="34" charset="0"/>
              </a:rPr>
              <a:t>Following questions should be answered using a scale that ranges from 0 (not important) to 5 (absolutely essential)</a:t>
            </a:r>
          </a:p>
          <a:p>
            <a:pPr lvl="1">
              <a:defRPr/>
            </a:pPr>
            <a:r>
              <a:rPr lang="en-US" altLang="ko-KR" dirty="0">
                <a:latin typeface="Arial" pitchFamily="34" charset="0"/>
                <a:cs typeface="Arial" pitchFamily="34" charset="0"/>
              </a:rPr>
              <a:t>Does the system require reliable backup and recovery?</a:t>
            </a:r>
          </a:p>
          <a:p>
            <a:pPr lvl="1">
              <a:defRPr/>
            </a:pPr>
            <a:r>
              <a:rPr lang="en-US" altLang="ko-KR" dirty="0">
                <a:latin typeface="Arial" pitchFamily="34" charset="0"/>
                <a:cs typeface="Arial" pitchFamily="34" charset="0"/>
              </a:rPr>
              <a:t>Are specialized data communications required to transfer information to or from the application?</a:t>
            </a:r>
          </a:p>
          <a:p>
            <a:pPr lvl="1">
              <a:defRPr/>
            </a:pPr>
            <a:r>
              <a:rPr lang="en-US" altLang="ko-KR" dirty="0">
                <a:latin typeface="Arial" pitchFamily="34" charset="0"/>
                <a:cs typeface="Arial" pitchFamily="34" charset="0"/>
              </a:rPr>
              <a:t>Are there distributed processing functions?</a:t>
            </a:r>
          </a:p>
          <a:p>
            <a:pPr lvl="1">
              <a:defRPr/>
            </a:pPr>
            <a:r>
              <a:rPr lang="en-US" altLang="ko-KR" dirty="0">
                <a:latin typeface="Arial" pitchFamily="34" charset="0"/>
                <a:cs typeface="Arial" pitchFamily="34" charset="0"/>
              </a:rPr>
              <a:t>Is performance critical?</a:t>
            </a:r>
          </a:p>
          <a:p>
            <a:pPr lvl="1">
              <a:defRPr/>
            </a:pPr>
            <a:r>
              <a:rPr lang="en-US" altLang="ko-KR" dirty="0">
                <a:latin typeface="Arial" pitchFamily="34" charset="0"/>
                <a:cs typeface="Arial" pitchFamily="34" charset="0"/>
              </a:rPr>
              <a:t>Will the system run in an existing, heavily utilized operational environment?</a:t>
            </a:r>
          </a:p>
          <a:p>
            <a:pPr lvl="1">
              <a:defRPr/>
            </a:pPr>
            <a:r>
              <a:rPr lang="en-US" altLang="ko-KR" dirty="0">
                <a:latin typeface="Arial" pitchFamily="34" charset="0"/>
                <a:cs typeface="Arial" pitchFamily="34" charset="0"/>
              </a:rPr>
              <a:t>Does the system require on-line data entry?</a:t>
            </a:r>
          </a:p>
          <a:p>
            <a:pPr lvl="1">
              <a:defRPr/>
            </a:pPr>
            <a:r>
              <a:rPr lang="en-US" altLang="ko-KR" dirty="0">
                <a:latin typeface="Arial" pitchFamily="34" charset="0"/>
                <a:cs typeface="Arial" pitchFamily="34" charset="0"/>
              </a:rPr>
              <a:t>Does the on-line data entry require the input transaction to be built over multiple screens or operations?</a:t>
            </a:r>
          </a:p>
        </p:txBody>
      </p:sp>
      <p:sp>
        <p:nvSpPr>
          <p:cNvPr id="17412" name="바닥글 개체 틀 3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/>
          <a:p>
            <a:endParaRPr lang="en-US" altLang="ko-KR" dirty="0"/>
          </a:p>
        </p:txBody>
      </p:sp>
      <p:sp>
        <p:nvSpPr>
          <p:cNvPr id="17413" name="슬라이드 번호 개체 틀 4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EA6A1BC9-BCDB-4210-9FF4-22B7153484FF}" type="slidenum">
              <a:rPr lang="ko-KR" altLang="en-US" smtClean="0"/>
              <a:pPr/>
              <a:t>15</a:t>
            </a:fld>
            <a:endParaRPr lang="en-US" altLang="ko-K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바닥글 개체 틀 3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/>
          <a:p>
            <a:endParaRPr lang="en-US" altLang="ko-KR" dirty="0"/>
          </a:p>
        </p:txBody>
      </p:sp>
      <p:sp>
        <p:nvSpPr>
          <p:cNvPr id="18435" name="슬라이드 번호 개체 틀 4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DFADC29B-451A-44F0-9B62-6C1B6E8E0C6E}" type="slidenum">
              <a:rPr lang="ko-KR" altLang="en-US" smtClean="0"/>
              <a:pPr/>
              <a:t>16</a:t>
            </a:fld>
            <a:endParaRPr lang="en-US" altLang="ko-KR"/>
          </a:p>
        </p:txBody>
      </p:sp>
      <p:sp>
        <p:nvSpPr>
          <p:cNvPr id="1323010" name="Rectangle 2"/>
          <p:cNvSpPr>
            <a:spLocks noGrp="1" noRot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Usage of Function Points</a:t>
            </a:r>
          </a:p>
        </p:txBody>
      </p:sp>
      <p:sp>
        <p:nvSpPr>
          <p:cNvPr id="1323011" name="Rectangle 3"/>
          <p:cNvSpPr>
            <a:spLocks noGrp="1" noRot="1" noChangeArrowheads="1"/>
          </p:cNvSpPr>
          <p:nvPr>
            <p:ph type="body" idx="1"/>
          </p:nvPr>
        </p:nvSpPr>
        <p:spPr>
          <a:xfrm>
            <a:off x="457200" y="1152525"/>
            <a:ext cx="8229600" cy="3998913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Assume that </a:t>
            </a:r>
          </a:p>
          <a:p>
            <a:pPr lvl="1" eaLnBrk="1" hangingPunct="1">
              <a:defRPr/>
            </a:pPr>
            <a:r>
              <a:rPr lang="en-US" altLang="ko-KR" sz="1600" dirty="0">
                <a:solidFill>
                  <a:srgbClr val="FF0000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past data </a:t>
            </a:r>
            <a:r>
              <a:rPr lang="en-US" altLang="ko-KR" sz="1600" dirty="0">
                <a:latin typeface="Arial" pitchFamily="34" charset="0"/>
                <a:ea typeface="굴림" pitchFamily="50" charset="-127"/>
                <a:cs typeface="Arial" pitchFamily="34" charset="0"/>
              </a:rPr>
              <a:t>indicates that one FP translates into 60 lines of code</a:t>
            </a:r>
          </a:p>
          <a:p>
            <a:pPr lvl="1" eaLnBrk="1" hangingPunct="1">
              <a:defRPr/>
            </a:pPr>
            <a:r>
              <a:rPr lang="en-US" altLang="ko-KR" sz="1600" dirty="0">
                <a:latin typeface="Arial" pitchFamily="34" charset="0"/>
                <a:ea typeface="굴림" pitchFamily="50" charset="-127"/>
                <a:cs typeface="Arial" pitchFamily="34" charset="0"/>
              </a:rPr>
              <a:t>12 FPs are produced for each person-month of effort</a:t>
            </a:r>
          </a:p>
          <a:p>
            <a:pPr lvl="1" eaLnBrk="1" hangingPunct="1">
              <a:defRPr/>
            </a:pPr>
            <a:r>
              <a:rPr lang="en-US" altLang="ko-KR" sz="1600" dirty="0">
                <a:latin typeface="Arial" pitchFamily="34" charset="0"/>
                <a:ea typeface="굴림" pitchFamily="50" charset="-127"/>
                <a:cs typeface="Arial" pitchFamily="34" charset="0"/>
              </a:rPr>
              <a:t>Past projects have found an average of 3 errors per FP during analysis and design reviews</a:t>
            </a:r>
          </a:p>
          <a:p>
            <a:pPr lvl="1" eaLnBrk="1" hangingPunct="1">
              <a:defRPr/>
            </a:pPr>
            <a:r>
              <a:rPr lang="en-US" altLang="ko-KR" sz="1600" dirty="0">
                <a:latin typeface="Arial" pitchFamily="34" charset="0"/>
                <a:ea typeface="굴림" pitchFamily="50" charset="-127"/>
                <a:cs typeface="Arial" pitchFamily="34" charset="0"/>
              </a:rPr>
              <a:t>4 errors per FP during unit and integration testing</a:t>
            </a:r>
          </a:p>
          <a:p>
            <a:pPr eaLnBrk="1" hangingPunct="1">
              <a:defRPr/>
            </a:pP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These data can help SW engineers assess the completeness of their review and testing activities.  </a:t>
            </a:r>
          </a:p>
          <a:p>
            <a:pPr eaLnBrk="1" hangingPunct="1">
              <a:defRPr/>
            </a:pP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Suppose that </a:t>
            </a:r>
            <a:r>
              <a:rPr lang="en-US" altLang="ko-KR" sz="1800" dirty="0" err="1">
                <a:latin typeface="Arial" pitchFamily="34" charset="0"/>
                <a:ea typeface="굴림" pitchFamily="50" charset="-127"/>
                <a:cs typeface="Arial" pitchFamily="34" charset="0"/>
              </a:rPr>
              <a:t>Safehome</a:t>
            </a: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 has 56 FPs </a:t>
            </a:r>
          </a:p>
          <a:p>
            <a:pPr lvl="1" eaLnBrk="1" hangingPunct="1">
              <a:defRPr/>
            </a:pPr>
            <a:r>
              <a:rPr lang="en-US" altLang="ko-KR" sz="1600" dirty="0">
                <a:latin typeface="Arial" pitchFamily="34" charset="0"/>
                <a:ea typeface="굴림" pitchFamily="50" charset="-127"/>
                <a:cs typeface="Arial" pitchFamily="34" charset="0"/>
              </a:rPr>
              <a:t>56 =50 x [0.65 +0.01 x </a:t>
            </a:r>
            <a:r>
              <a:rPr lang="en-US" altLang="ko-KR" sz="1600" b="1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∑(</a:t>
            </a:r>
            <a:r>
              <a:rPr lang="en-US" altLang="ko-KR" sz="1600" b="1" dirty="0" err="1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F</a:t>
            </a:r>
            <a:r>
              <a:rPr lang="en-US" altLang="ko-KR" sz="1600" b="1" baseline="-25000" dirty="0" err="1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i</a:t>
            </a:r>
            <a:r>
              <a:rPr lang="en-US" altLang="ko-KR" sz="1600" b="1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)</a:t>
            </a:r>
            <a:r>
              <a:rPr lang="en-US" altLang="ko-KR" sz="1600" dirty="0">
                <a:latin typeface="Arial" pitchFamily="34" charset="0"/>
                <a:ea typeface="굴림" pitchFamily="50" charset="-127"/>
                <a:cs typeface="Arial" pitchFamily="34" charset="0"/>
              </a:rPr>
              <a:t> (= 46)]</a:t>
            </a:r>
          </a:p>
          <a:p>
            <a:pPr eaLnBrk="1" hangingPunct="1">
              <a:defRPr/>
            </a:pPr>
            <a:r>
              <a:rPr lang="en-US" altLang="ko-KR" sz="2000" dirty="0" err="1">
                <a:latin typeface="Arial" pitchFamily="34" charset="0"/>
                <a:ea typeface="굴림" pitchFamily="50" charset="-127"/>
                <a:cs typeface="Arial" pitchFamily="34" charset="0"/>
              </a:rPr>
              <a:t>Safehome</a:t>
            </a: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 will be</a:t>
            </a:r>
          </a:p>
          <a:p>
            <a:pPr lvl="1" eaLnBrk="1" hangingPunct="1">
              <a:defRPr/>
            </a:pPr>
            <a:r>
              <a:rPr lang="en-US" altLang="ko-KR" sz="1600" dirty="0">
                <a:latin typeface="Arial" pitchFamily="34" charset="0"/>
                <a:ea typeface="굴림" pitchFamily="50" charset="-127"/>
                <a:cs typeface="Arial" pitchFamily="34" charset="0"/>
              </a:rPr>
              <a:t>Expected size: 60 lines * 56 =3360 lines</a:t>
            </a:r>
          </a:p>
          <a:p>
            <a:pPr lvl="1" eaLnBrk="1" hangingPunct="1">
              <a:defRPr/>
            </a:pPr>
            <a:r>
              <a:rPr lang="en-US" altLang="ko-KR" sz="1600" dirty="0">
                <a:latin typeface="Arial" pitchFamily="34" charset="0"/>
                <a:ea typeface="굴림" pitchFamily="50" charset="-127"/>
                <a:cs typeface="Arial" pitchFamily="34" charset="0"/>
              </a:rPr>
              <a:t>Expected required man-month:  1/12 MM * 56 = 4.7 MM</a:t>
            </a:r>
          </a:p>
          <a:p>
            <a:pPr lvl="1" eaLnBrk="1" hangingPunct="1">
              <a:defRPr/>
            </a:pPr>
            <a:r>
              <a:rPr lang="en-US" altLang="ko-KR" sz="1600" dirty="0">
                <a:latin typeface="Arial" pitchFamily="34" charset="0"/>
                <a:ea typeface="굴림" pitchFamily="50" charset="-127"/>
                <a:cs typeface="Arial" pitchFamily="34" charset="0"/>
              </a:rPr>
              <a:t>Total analysis/design errors expected: 3 * 56 = 168 errors</a:t>
            </a:r>
          </a:p>
          <a:p>
            <a:pPr lvl="1" eaLnBrk="1" hangingPunct="1">
              <a:defRPr/>
            </a:pPr>
            <a:r>
              <a:rPr lang="en-US" altLang="ko-KR" sz="1600" dirty="0">
                <a:latin typeface="Arial" pitchFamily="34" charset="0"/>
                <a:ea typeface="굴림" pitchFamily="50" charset="-127"/>
                <a:cs typeface="Arial" pitchFamily="34" charset="0"/>
              </a:rPr>
              <a:t>Total testing errors expected: 4 * 56 = 224 errors</a:t>
            </a:r>
          </a:p>
          <a:p>
            <a:pPr lvl="1" eaLnBrk="1" hangingPunct="1">
              <a:defRPr/>
            </a:pPr>
            <a:endParaRPr lang="en-US" altLang="ko-KR" sz="1600" dirty="0">
              <a:latin typeface="Arial" pitchFamily="34" charset="0"/>
              <a:ea typeface="굴림" pitchFamily="50" charset="-127"/>
              <a:cs typeface="Arial" pitchFamily="34" charset="0"/>
            </a:endParaRPr>
          </a:p>
          <a:p>
            <a:pPr lvl="2" eaLnBrk="1" hangingPunct="1">
              <a:defRPr/>
            </a:pPr>
            <a:endParaRPr lang="en-US" altLang="ko-KR" sz="1800" dirty="0">
              <a:latin typeface="Arial" pitchFamily="34" charset="0"/>
              <a:ea typeface="굴림" pitchFamily="50" charset="-127"/>
              <a:cs typeface="Arial" pitchFamily="34" charset="0"/>
            </a:endParaRPr>
          </a:p>
          <a:p>
            <a:pPr lvl="1" eaLnBrk="1" hangingPunct="1">
              <a:defRPr/>
            </a:pPr>
            <a:endParaRPr lang="en-US" altLang="ko-KR" sz="1600" dirty="0">
              <a:latin typeface="Arial" pitchFamily="34" charset="0"/>
              <a:ea typeface="굴림" pitchFamily="50" charset="-127"/>
              <a:cs typeface="Arial" pitchFamily="34" charset="0"/>
            </a:endParaRPr>
          </a:p>
          <a:p>
            <a:pPr eaLnBrk="1" hangingPunct="1">
              <a:defRPr/>
            </a:pPr>
            <a:endParaRPr lang="en-US" altLang="ko-KR" sz="1800" dirty="0">
              <a:latin typeface="Arial" pitchFamily="34" charset="0"/>
              <a:ea typeface="굴림" pitchFamily="50" charset="-127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바닥글 개체 틀 3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/>
          <a:p>
            <a:endParaRPr lang="en-US" altLang="ko-KR" dirty="0"/>
          </a:p>
        </p:txBody>
      </p:sp>
      <p:sp>
        <p:nvSpPr>
          <p:cNvPr id="19459" name="슬라이드 번호 개체 틀 4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7F665BCB-32EF-4346-938A-4333279B8AF8}" type="slidenum">
              <a:rPr lang="ko-KR" altLang="en-US" smtClean="0"/>
              <a:pPr/>
              <a:t>17</a:t>
            </a:fld>
            <a:endParaRPr lang="en-US" altLang="ko-KR"/>
          </a:p>
        </p:txBody>
      </p:sp>
      <p:sp>
        <p:nvSpPr>
          <p:cNvPr id="1308674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550863" y="244475"/>
            <a:ext cx="8062912" cy="10160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ko-KR" sz="3200" dirty="0">
                <a:latin typeface="Arial" pitchFamily="34" charset="0"/>
                <a:ea typeface="굴림" pitchFamily="50" charset="-127"/>
                <a:cs typeface="Arial" pitchFamily="34" charset="0"/>
              </a:rPr>
              <a:t>Metrics for the Design Model</a:t>
            </a:r>
          </a:p>
        </p:txBody>
      </p:sp>
      <p:sp>
        <p:nvSpPr>
          <p:cNvPr id="1308675" name="Rectangle 3"/>
          <p:cNvSpPr>
            <a:spLocks noGrp="1" noRot="1" noChangeArrowheads="1"/>
          </p:cNvSpPr>
          <p:nvPr>
            <p:ph type="body" idx="1"/>
          </p:nvPr>
        </p:nvSpPr>
        <p:spPr>
          <a:xfrm>
            <a:off x="280988" y="1319213"/>
            <a:ext cx="8686800" cy="3352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The design of engineering products (i.e. a new aircraft, a new computer chip, or a new building) is conducted with well-defined design metrics for various design qualities</a:t>
            </a:r>
          </a:p>
          <a:p>
            <a:pPr lvl="1" eaLnBrk="1" hangingPunct="1"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Ex 1. Quality does matter, see AMD’s success </a:t>
            </a:r>
            <a:r>
              <a:rPr lang="en-US" altLang="ko-KR">
                <a:latin typeface="Arial" pitchFamily="34" charset="0"/>
                <a:ea typeface="굴림" pitchFamily="50" charset="-127"/>
                <a:cs typeface="Arial" pitchFamily="34" charset="0"/>
              </a:rPr>
              <a:t>in 2000~2006.</a:t>
            </a:r>
            <a:endParaRPr lang="en-US" altLang="ko-KR" dirty="0">
              <a:latin typeface="Arial" pitchFamily="34" charset="0"/>
              <a:ea typeface="굴림" pitchFamily="50" charset="-127"/>
              <a:cs typeface="Arial" pitchFamily="34" charset="0"/>
            </a:endParaRPr>
          </a:p>
          <a:p>
            <a:pPr lvl="1" eaLnBrk="1" hangingPunct="1"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Ex 2. Pentium X should have </a:t>
            </a:r>
          </a:p>
          <a:p>
            <a:pPr lvl="2" eaLnBrk="1" hangingPunct="1">
              <a:defRPr/>
            </a:pP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Heat dispense ratio &lt; 100 Kcal/s</a:t>
            </a:r>
          </a:p>
          <a:p>
            <a:pPr lvl="2" eaLnBrk="1" hangingPunct="1">
              <a:defRPr/>
            </a:pP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Should operate 99.99% time correctly at 10 </a:t>
            </a:r>
            <a:r>
              <a:rPr lang="en-US" altLang="ko-KR" sz="1800" dirty="0" err="1">
                <a:latin typeface="Arial" pitchFamily="34" charset="0"/>
                <a:ea typeface="굴림" pitchFamily="50" charset="-127"/>
                <a:cs typeface="Arial" pitchFamily="34" charset="0"/>
              </a:rPr>
              <a:t>Ghz</a:t>
            </a:r>
            <a:endParaRPr lang="en-US" altLang="ko-KR" sz="1800" dirty="0">
              <a:latin typeface="Arial" pitchFamily="34" charset="0"/>
              <a:ea typeface="굴림" pitchFamily="50" charset="-127"/>
              <a:cs typeface="Arial" pitchFamily="34" charset="0"/>
            </a:endParaRPr>
          </a:p>
          <a:p>
            <a:pPr lvl="2" eaLnBrk="1" hangingPunct="1">
              <a:defRPr/>
            </a:pP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Should consume less than 100 watts/h electric power </a:t>
            </a:r>
          </a:p>
          <a:p>
            <a:pPr eaLnBrk="1" hangingPunct="1"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The design of complex software, however, often proceeds with virtually no metric measurement</a:t>
            </a:r>
          </a:p>
          <a:p>
            <a:pPr lvl="1" eaLnBrk="1" hangingPunct="1"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Although design metric is </a:t>
            </a:r>
            <a:r>
              <a:rPr lang="en-US" altLang="ko-KR" dirty="0">
                <a:solidFill>
                  <a:srgbClr val="FF0000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not</a:t>
            </a: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 perfect, design without metric is </a:t>
            </a:r>
            <a:r>
              <a:rPr lang="en-US" altLang="ko-KR" dirty="0">
                <a:solidFill>
                  <a:srgbClr val="FF0000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not</a:t>
            </a: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 acceptable.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altLang="ko-KR" dirty="0">
              <a:latin typeface="Arial" pitchFamily="34" charset="0"/>
              <a:ea typeface="굴림" pitchFamily="50" charset="-127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바닥글 개체 틀 3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/>
          <a:p>
            <a:endParaRPr lang="en-US" altLang="ko-KR" dirty="0"/>
          </a:p>
        </p:txBody>
      </p:sp>
      <p:sp>
        <p:nvSpPr>
          <p:cNvPr id="20483" name="슬라이드 번호 개체 틀 4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814B73D4-B9CD-448C-90B0-47D917316730}" type="slidenum">
              <a:rPr lang="ko-KR" altLang="en-US" smtClean="0"/>
              <a:pPr/>
              <a:t>18</a:t>
            </a:fld>
            <a:endParaRPr lang="en-US" altLang="ko-KR"/>
          </a:p>
        </p:txBody>
      </p:sp>
      <p:sp>
        <p:nvSpPr>
          <p:cNvPr id="1308674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550863" y="244475"/>
            <a:ext cx="8062912" cy="10160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ko-KR" sz="3200" dirty="0">
                <a:latin typeface="Arial" pitchFamily="34" charset="0"/>
                <a:ea typeface="굴림" pitchFamily="50" charset="-127"/>
                <a:cs typeface="Arial" pitchFamily="34" charset="0"/>
              </a:rPr>
              <a:t>Architectural Design Metrics</a:t>
            </a:r>
          </a:p>
        </p:txBody>
      </p:sp>
      <p:sp>
        <p:nvSpPr>
          <p:cNvPr id="1308675" name="Rectangle 3"/>
          <p:cNvSpPr>
            <a:spLocks noGrp="1" noRot="1" noChangeArrowheads="1"/>
          </p:cNvSpPr>
          <p:nvPr>
            <p:ph type="body" idx="1"/>
          </p:nvPr>
        </p:nvSpPr>
        <p:spPr>
          <a:xfrm>
            <a:off x="457200" y="1033463"/>
            <a:ext cx="8229600" cy="3998912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 Architectural design metrics put emphasis on the effectiveness of modules or components within the architecture</a:t>
            </a:r>
          </a:p>
          <a:p>
            <a:pPr lvl="1" eaLnBrk="1" hangingPunct="1"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These metrics are “black box”</a:t>
            </a:r>
          </a:p>
          <a:p>
            <a:pPr eaLnBrk="1" hangingPunct="1"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Architectural design metrics</a:t>
            </a:r>
          </a:p>
          <a:p>
            <a:pPr lvl="1" eaLnBrk="1" hangingPunct="1"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Structural complexity of a module m= (# of fan-out of module m)</a:t>
            </a:r>
            <a:r>
              <a:rPr lang="en-US" altLang="ko-KR" baseline="30000" dirty="0">
                <a:latin typeface="Arial" pitchFamily="34" charset="0"/>
                <a:ea typeface="굴림" pitchFamily="50" charset="-127"/>
                <a:cs typeface="Arial" pitchFamily="34" charset="0"/>
              </a:rPr>
              <a:t>2</a:t>
            </a:r>
          </a:p>
          <a:p>
            <a:pPr lvl="2" eaLnBrk="1" hangingPunct="1">
              <a:defRPr/>
            </a:pP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Fan-out is the number of modules immediately subordinate to the module</a:t>
            </a:r>
          </a:p>
          <a:p>
            <a:pPr lvl="3" eaLnBrk="1" hangingPunct="1"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i.e. the # of modules that are directly invoked by the module</a:t>
            </a:r>
          </a:p>
          <a:p>
            <a:pPr lvl="1" eaLnBrk="1" hangingPunct="1"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Data complexity = (# of input &amp; output variables)/ (fan-out+1)</a:t>
            </a:r>
          </a:p>
          <a:p>
            <a:pPr lvl="1" eaLnBrk="1" hangingPunct="1"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System complexity = structural complexity + data complexity </a:t>
            </a:r>
          </a:p>
          <a:p>
            <a:pPr eaLnBrk="1" hangingPunct="1">
              <a:defRPr/>
            </a:pPr>
            <a:endParaRPr lang="en-US" altLang="ko-KR" dirty="0">
              <a:latin typeface="Arial" pitchFamily="34" charset="0"/>
              <a:ea typeface="굴림" pitchFamily="50" charset="-127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바닥글 개체 틀 3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/>
          <a:p>
            <a:endParaRPr lang="en-US" altLang="ko-KR" dirty="0"/>
          </a:p>
        </p:txBody>
      </p:sp>
      <p:sp>
        <p:nvSpPr>
          <p:cNvPr id="21507" name="슬라이드 번호 개체 틀 4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AB5727C6-5048-4D2B-A3F4-C07DE618E46C}" type="slidenum">
              <a:rPr lang="ko-KR" altLang="en-US" smtClean="0"/>
              <a:pPr/>
              <a:t>19</a:t>
            </a:fld>
            <a:endParaRPr lang="en-US" altLang="ko-KR"/>
          </a:p>
        </p:txBody>
      </p:sp>
      <p:sp>
        <p:nvSpPr>
          <p:cNvPr id="1308674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550863" y="244475"/>
            <a:ext cx="8062912" cy="10160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ko-KR" sz="3200" dirty="0">
                <a:latin typeface="Arial" pitchFamily="34" charset="0"/>
                <a:ea typeface="굴림" pitchFamily="50" charset="-127"/>
                <a:cs typeface="Arial" pitchFamily="34" charset="0"/>
              </a:rPr>
              <a:t>Morphology Metrics</a:t>
            </a:r>
          </a:p>
        </p:txBody>
      </p:sp>
      <p:sp>
        <p:nvSpPr>
          <p:cNvPr id="1308675" name="Rectangle 3"/>
          <p:cNvSpPr>
            <a:spLocks noGrp="1" noRot="1" noChangeArrowheads="1"/>
          </p:cNvSpPr>
          <p:nvPr>
            <p:ph type="body" idx="1"/>
          </p:nvPr>
        </p:nvSpPr>
        <p:spPr>
          <a:xfrm>
            <a:off x="457200" y="1033463"/>
            <a:ext cx="8229600" cy="3998912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ko-KR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Morphology metrics:</a:t>
            </a: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 a function of the number of modules and the number of interfaces between modules</a:t>
            </a:r>
          </a:p>
          <a:p>
            <a:pPr lvl="1" eaLnBrk="1" hangingPunct="1"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Size = n + a </a:t>
            </a:r>
          </a:p>
          <a:p>
            <a:pPr lvl="1" eaLnBrk="1" hangingPunct="1"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Depth = the longest path from the root node to a leaf node</a:t>
            </a:r>
          </a:p>
          <a:p>
            <a:pPr lvl="1" eaLnBrk="1" hangingPunct="1"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Width =maximum # of nodes at any one level of the architecture</a:t>
            </a:r>
          </a:p>
          <a:p>
            <a:pPr lvl="1" eaLnBrk="1" hangingPunct="1"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Arc-to-node ratio</a:t>
            </a:r>
          </a:p>
        </p:txBody>
      </p:sp>
      <p:pic>
        <p:nvPicPr>
          <p:cNvPr id="21510" name="Picture 4"/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1206500" y="3074988"/>
            <a:ext cx="6916738" cy="2871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A27190A1-26B2-9311-C95E-5D8DB9E159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353" y="2237955"/>
            <a:ext cx="4559451" cy="973504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62610" y="-118138"/>
            <a:ext cx="8560676" cy="1016000"/>
          </a:xfrm>
        </p:spPr>
        <p:txBody>
          <a:bodyPr/>
          <a:lstStyle/>
          <a:p>
            <a:r>
              <a:rPr lang="en-US" altLang="ko-KR" dirty="0">
                <a:latin typeface="Arial" charset="0"/>
                <a:ea typeface="굴림" pitchFamily="50" charset="-127"/>
                <a:cs typeface="Arial" charset="0"/>
              </a:rPr>
              <a:t>Design Structure Quality Index (DSQI)</a:t>
            </a:r>
            <a:endParaRPr lang="ko-KR" altLang="en-US" dirty="0">
              <a:latin typeface="Arial" charset="0"/>
              <a:ea typeface="굴림" pitchFamily="50" charset="-127"/>
              <a:cs typeface="Arial" charset="0"/>
            </a:endParaRP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8732" y="807535"/>
            <a:ext cx="8434554" cy="3998913"/>
          </a:xfrm>
        </p:spPr>
        <p:txBody>
          <a:bodyPr/>
          <a:lstStyle/>
          <a:p>
            <a:r>
              <a:rPr lang="en-US" altLang="ko-KR" dirty="0">
                <a:latin typeface="Arial" charset="0"/>
                <a:ea typeface="굴림" pitchFamily="50" charset="-127"/>
                <a:cs typeface="Arial" charset="0"/>
              </a:rPr>
              <a:t>Developed by U.S. Air Force Systems Command </a:t>
            </a:r>
          </a:p>
          <a:p>
            <a:r>
              <a:rPr lang="en-US" altLang="ko-KR" dirty="0">
                <a:latin typeface="Arial" charset="0"/>
                <a:ea typeface="굴림" pitchFamily="50" charset="-127"/>
                <a:cs typeface="Arial" charset="0"/>
              </a:rPr>
              <a:t>It rates how well a SW design is 1) structured, 2) modularized, and 3) maintainable, producing a score from 0 (worst) to 1 (best) from the following factors:</a:t>
            </a:r>
          </a:p>
          <a:p>
            <a:pPr lvl="1"/>
            <a:endParaRPr lang="ko-KR" altLang="en-US" baseline="-25000" dirty="0">
              <a:latin typeface="Arial" charset="0"/>
              <a:ea typeface="굴림" pitchFamily="50" charset="-127"/>
              <a:cs typeface="Arial" charset="0"/>
            </a:endParaRPr>
          </a:p>
        </p:txBody>
      </p:sp>
      <p:sp>
        <p:nvSpPr>
          <p:cNvPr id="36868" name="바닥글 개체 틀 3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/>
          <a:p>
            <a:endParaRPr lang="en-US" altLang="ko-KR" dirty="0">
              <a:latin typeface="Arial" charset="0"/>
              <a:cs typeface="Arial" charset="0"/>
            </a:endParaRPr>
          </a:p>
        </p:txBody>
      </p:sp>
      <p:sp>
        <p:nvSpPr>
          <p:cNvPr id="36869" name="슬라이드 번호 개체 틀 4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0D2238F1-06EE-4E68-971F-D49DA5C5FD69}" type="slidenum">
              <a:rPr lang="ko-KR" altLang="en-US" smtClean="0">
                <a:cs typeface="Arial" charset="0"/>
              </a:rPr>
              <a:pPr/>
              <a:t>20</a:t>
            </a:fld>
            <a:endParaRPr lang="en-US" altLang="ko-KR">
              <a:cs typeface="Arial" charset="0"/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F3809FD-8952-46E5-E010-645E1C5D0F3A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3238976"/>
          <a:ext cx="8229600" cy="36576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4268287535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398292035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/>
                        <a:t>Evaluation Factor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Meaning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3402922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95937A68-1EF1-D09E-70C6-EB5D2AFB1371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3238976"/>
          <a:ext cx="8229600" cy="36576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72024908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354104994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/>
                        <a:t>Interfaces between modules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Dependency complexity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787357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007638BA-5A0A-9C0B-2D4F-F3233EFE64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0780865"/>
              </p:ext>
            </p:extLst>
          </p:nvPr>
        </p:nvGraphicFramePr>
        <p:xfrm>
          <a:off x="914400" y="3222081"/>
          <a:ext cx="8229600" cy="2560320"/>
        </p:xfrm>
        <a:graphic>
          <a:graphicData uri="http://schemas.openxmlformats.org/drawingml/2006/table">
            <a:tbl>
              <a:tblPr/>
              <a:tblGrid>
                <a:gridCol w="3131946">
                  <a:extLst>
                    <a:ext uri="{9D8B030D-6E8A-4147-A177-3AD203B41FA5}">
                      <a16:colId xmlns:a16="http://schemas.microsoft.com/office/drawing/2014/main" val="2167606324"/>
                    </a:ext>
                  </a:extLst>
                </a:gridCol>
                <a:gridCol w="5097654">
                  <a:extLst>
                    <a:ext uri="{9D8B030D-6E8A-4147-A177-3AD203B41FA5}">
                      <a16:colId xmlns:a16="http://schemas.microsoft.com/office/drawing/2014/main" val="43750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/>
                          </a:solidFill>
                        </a:rPr>
                        <a:t>Evaluation Factor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/>
                          </a:solidFill>
                        </a:rPr>
                        <a:t>Meaning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80177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/>
                          </a:solidFill>
                        </a:rPr>
                        <a:t># of modules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/>
                          </a:solidFill>
                        </a:rPr>
                        <a:t>Design modularity and separation of concerns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02049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bg2"/>
                          </a:solidFill>
                        </a:rPr>
                        <a:t>Interfaces between modules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/>
                          </a:solidFill>
                        </a:rPr>
                        <a:t>Dependency complexity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45044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bg2"/>
                          </a:solidFill>
                        </a:rPr>
                        <a:t>Data structures used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/>
                          </a:solidFill>
                        </a:rPr>
                        <a:t>Data clarity and organization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446435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bg2"/>
                          </a:solidFill>
                        </a:rPr>
                        <a:t>Global/shared data usage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/>
                          </a:solidFill>
                        </a:rPr>
                        <a:t>Risk of side-effects / tight coupling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893123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bg2"/>
                          </a:solidFill>
                        </a:rPr>
                        <a:t>Component reuse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/>
                          </a:solidFill>
                        </a:rPr>
                        <a:t>Efficiency and maintainability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265406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bg2"/>
                          </a:solidFill>
                        </a:rPr>
                        <a:t>Known design flaws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/>
                          </a:solidFill>
                        </a:rPr>
                        <a:t>Problems found during review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9886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789612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바닥글 개체 틀 3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/>
          <a:p>
            <a:endParaRPr lang="en-US" altLang="ko-KR" dirty="0"/>
          </a:p>
        </p:txBody>
      </p:sp>
      <p:sp>
        <p:nvSpPr>
          <p:cNvPr id="22531" name="슬라이드 번호 개체 틀 4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EB7F04BE-429E-4650-A0EF-F9E9EE9E4234}" type="slidenum">
              <a:rPr lang="ko-KR" altLang="en-US" smtClean="0"/>
              <a:pPr/>
              <a:t>21</a:t>
            </a:fld>
            <a:endParaRPr lang="en-US" altLang="ko-KR"/>
          </a:p>
        </p:txBody>
      </p:sp>
      <p:sp>
        <p:nvSpPr>
          <p:cNvPr id="1309698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1231900" y="244475"/>
            <a:ext cx="6702425" cy="10160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ko-KR">
                <a:latin typeface="Arial" pitchFamily="34" charset="0"/>
                <a:ea typeface="굴림" pitchFamily="50" charset="-127"/>
                <a:cs typeface="Arial" pitchFamily="34" charset="0"/>
              </a:rPr>
              <a:t>Metrics for OO Design-I</a:t>
            </a:r>
          </a:p>
        </p:txBody>
      </p:sp>
      <p:sp>
        <p:nvSpPr>
          <p:cNvPr id="1309699" name="Rectangle 3"/>
          <p:cNvSpPr>
            <a:spLocks noGrp="1" noRot="1" noChangeArrowheads="1"/>
          </p:cNvSpPr>
          <p:nvPr>
            <p:ph type="body" idx="1"/>
          </p:nvPr>
        </p:nvSpPr>
        <p:spPr>
          <a:xfrm>
            <a:off x="395288" y="1006475"/>
            <a:ext cx="8486775" cy="3657600"/>
          </a:xfrm>
        </p:spPr>
        <p:txBody>
          <a:bodyPr/>
          <a:lstStyle/>
          <a:p>
            <a:pPr eaLnBrk="1" hangingPunct="1">
              <a:lnSpc>
                <a:spcPct val="90000"/>
              </a:lnSpc>
              <a:defRPr/>
            </a:pPr>
            <a:r>
              <a:rPr lang="en-US" altLang="ko-KR" sz="2000" dirty="0" err="1">
                <a:latin typeface="Arial" pitchFamily="34" charset="0"/>
                <a:ea typeface="굴림" pitchFamily="50" charset="-127"/>
                <a:cs typeface="Arial" pitchFamily="34" charset="0"/>
              </a:rPr>
              <a:t>Whitmire</a:t>
            </a: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 [WHI97] describes nine distinct and measurable characteristics of an OO design: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ko-KR" sz="1800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Size</a:t>
            </a:r>
          </a:p>
          <a:p>
            <a:pPr lvl="2" eaLnBrk="1" hangingPunct="1">
              <a:lnSpc>
                <a:spcPct val="90000"/>
              </a:lnSpc>
              <a:defRPr/>
            </a:pPr>
            <a:r>
              <a:rPr lang="en-US" altLang="ko-KR" sz="1600" dirty="0">
                <a:latin typeface="Arial" pitchFamily="34" charset="0"/>
                <a:ea typeface="굴림" pitchFamily="50" charset="-127"/>
                <a:cs typeface="Arial" pitchFamily="34" charset="0"/>
              </a:rPr>
              <a:t>Size is defined in terms of the following four views:</a:t>
            </a:r>
          </a:p>
          <a:p>
            <a:pPr lvl="2" eaLnBrk="1" hangingPunct="1">
              <a:lnSpc>
                <a:spcPct val="90000"/>
              </a:lnSpc>
              <a:defRPr/>
            </a:pPr>
            <a:r>
              <a:rPr lang="en-US" altLang="ko-KR" sz="1600" dirty="0">
                <a:latin typeface="Arial" pitchFamily="34" charset="0"/>
                <a:ea typeface="굴림" pitchFamily="50" charset="-127"/>
                <a:cs typeface="Arial" pitchFamily="34" charset="0"/>
              </a:rPr>
              <a:t>Population: a static count of OO entities such as classes</a:t>
            </a:r>
          </a:p>
          <a:p>
            <a:pPr lvl="2" eaLnBrk="1" hangingPunct="1">
              <a:lnSpc>
                <a:spcPct val="90000"/>
              </a:lnSpc>
              <a:defRPr/>
            </a:pPr>
            <a:r>
              <a:rPr lang="en-US" altLang="ko-KR" sz="1600" dirty="0">
                <a:latin typeface="Arial" pitchFamily="34" charset="0"/>
                <a:ea typeface="굴림" pitchFamily="50" charset="-127"/>
                <a:cs typeface="Arial" pitchFamily="34" charset="0"/>
              </a:rPr>
              <a:t>Volume: a dynamic count of OO entities such as objects</a:t>
            </a:r>
          </a:p>
          <a:p>
            <a:pPr lvl="2" eaLnBrk="1" hangingPunct="1">
              <a:lnSpc>
                <a:spcPct val="90000"/>
              </a:lnSpc>
              <a:defRPr/>
            </a:pPr>
            <a:r>
              <a:rPr lang="en-US" altLang="ko-KR" sz="1600" dirty="0">
                <a:latin typeface="Arial" pitchFamily="34" charset="0"/>
                <a:ea typeface="굴림" pitchFamily="50" charset="-127"/>
                <a:cs typeface="Arial" pitchFamily="34" charset="0"/>
              </a:rPr>
              <a:t>Length: a measure of a chain of interconnected design elements</a:t>
            </a:r>
          </a:p>
          <a:p>
            <a:pPr lvl="2" eaLnBrk="1" hangingPunct="1">
              <a:lnSpc>
                <a:spcPct val="90000"/>
              </a:lnSpc>
              <a:defRPr/>
            </a:pPr>
            <a:r>
              <a:rPr lang="en-US" altLang="ko-KR" sz="1600" dirty="0">
                <a:latin typeface="Arial" pitchFamily="34" charset="0"/>
                <a:ea typeface="굴림" pitchFamily="50" charset="-127"/>
                <a:cs typeface="Arial" pitchFamily="34" charset="0"/>
              </a:rPr>
              <a:t>Functionality: value delivered to the customer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ko-KR" sz="1800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Complexity</a:t>
            </a:r>
          </a:p>
          <a:p>
            <a:pPr lvl="2" eaLnBrk="1" hangingPunct="1">
              <a:lnSpc>
                <a:spcPct val="90000"/>
              </a:lnSpc>
              <a:defRPr/>
            </a:pPr>
            <a:r>
              <a:rPr lang="en-US" altLang="ko-KR" sz="1600" dirty="0">
                <a:latin typeface="Arial" pitchFamily="34" charset="0"/>
                <a:ea typeface="굴림" pitchFamily="50" charset="-127"/>
                <a:cs typeface="Arial" pitchFamily="34" charset="0"/>
              </a:rPr>
              <a:t>How classes of an OO design are interrelated to one another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ko-KR" sz="1800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Coupling</a:t>
            </a:r>
          </a:p>
          <a:p>
            <a:pPr lvl="2" eaLnBrk="1" hangingPunct="1">
              <a:lnSpc>
                <a:spcPct val="90000"/>
              </a:lnSpc>
              <a:defRPr/>
            </a:pPr>
            <a:r>
              <a:rPr lang="en-US" altLang="ko-KR" sz="1600" dirty="0">
                <a:latin typeface="Arial" pitchFamily="34" charset="0"/>
                <a:ea typeface="굴림" pitchFamily="50" charset="-127"/>
                <a:cs typeface="Arial" pitchFamily="34" charset="0"/>
              </a:rPr>
              <a:t>The physical connections between elements of the OO design</a:t>
            </a:r>
          </a:p>
          <a:p>
            <a:pPr lvl="3" eaLnBrk="1" hangingPunct="1">
              <a:lnSpc>
                <a:spcPct val="90000"/>
              </a:lnSpc>
              <a:defRPr/>
            </a:pPr>
            <a:r>
              <a:rPr lang="en-US" altLang="ko-KR" sz="1400" dirty="0">
                <a:latin typeface="Arial" pitchFamily="34" charset="0"/>
                <a:ea typeface="굴림" pitchFamily="50" charset="-127"/>
                <a:cs typeface="Arial" pitchFamily="34" charset="0"/>
              </a:rPr>
              <a:t>The # of collaborations between classes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ko-KR" sz="1800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Sufficiency</a:t>
            </a:r>
          </a:p>
          <a:p>
            <a:pPr lvl="2" eaLnBrk="1" hangingPunct="1">
              <a:lnSpc>
                <a:spcPct val="90000"/>
              </a:lnSpc>
              <a:defRPr/>
            </a:pPr>
            <a:r>
              <a:rPr lang="en-US" altLang="ko-KR" sz="1600" dirty="0">
                <a:latin typeface="Arial" pitchFamily="34" charset="0"/>
                <a:ea typeface="굴림" pitchFamily="50" charset="-127"/>
                <a:cs typeface="Arial" pitchFamily="34" charset="0"/>
              </a:rPr>
              <a:t>“the degree to which an </a:t>
            </a:r>
            <a:r>
              <a:rPr lang="en-US" altLang="ko-KR" sz="1600" u="sng" dirty="0">
                <a:latin typeface="Arial" pitchFamily="34" charset="0"/>
                <a:ea typeface="굴림" pitchFamily="50" charset="-127"/>
                <a:cs typeface="Arial" pitchFamily="34" charset="0"/>
              </a:rPr>
              <a:t>abstraction</a:t>
            </a:r>
            <a:r>
              <a:rPr lang="en-US" altLang="ko-KR" sz="1600" dirty="0">
                <a:latin typeface="Arial" pitchFamily="34" charset="0"/>
                <a:ea typeface="굴림" pitchFamily="50" charset="-127"/>
                <a:cs typeface="Arial" pitchFamily="34" charset="0"/>
              </a:rPr>
              <a:t> possesses the features required of it, ... from the point of view of the current application.”</a:t>
            </a:r>
          </a:p>
          <a:p>
            <a:pPr lvl="2" eaLnBrk="1" hangingPunct="1">
              <a:lnSpc>
                <a:spcPct val="90000"/>
              </a:lnSpc>
              <a:defRPr/>
            </a:pPr>
            <a:r>
              <a:rPr lang="en-US" altLang="ko-KR" sz="1600" dirty="0">
                <a:latin typeface="Arial" pitchFamily="34" charset="0"/>
                <a:ea typeface="굴림" pitchFamily="50" charset="-127"/>
                <a:cs typeface="Arial" pitchFamily="34" charset="0"/>
              </a:rPr>
              <a:t>Whether the abstraction (class) possesses the features required of it </a:t>
            </a:r>
          </a:p>
          <a:p>
            <a:pPr lvl="2" eaLnBrk="1" hangingPunct="1">
              <a:lnSpc>
                <a:spcPct val="90000"/>
              </a:lnSpc>
              <a:defRPr/>
            </a:pPr>
            <a:endParaRPr lang="en-US" altLang="ko-KR" sz="1600" dirty="0">
              <a:latin typeface="Arial" pitchFamily="34" charset="0"/>
              <a:ea typeface="굴림" pitchFamily="50" charset="-127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바닥글 개체 틀 3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/>
          <a:p>
            <a:endParaRPr lang="en-US" altLang="ko-KR" dirty="0"/>
          </a:p>
        </p:txBody>
      </p:sp>
      <p:sp>
        <p:nvSpPr>
          <p:cNvPr id="23555" name="슬라이드 번호 개체 틀 4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F59B9788-B838-44D4-A79D-786271C8F04B}" type="slidenum">
              <a:rPr lang="ko-KR" altLang="en-US" smtClean="0"/>
              <a:pPr/>
              <a:t>22</a:t>
            </a:fld>
            <a:endParaRPr lang="en-US" altLang="ko-KR"/>
          </a:p>
        </p:txBody>
      </p:sp>
      <p:sp>
        <p:nvSpPr>
          <p:cNvPr id="1310722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1139825" y="244475"/>
            <a:ext cx="6864350" cy="10160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Metrics for OO Design-II</a:t>
            </a:r>
          </a:p>
        </p:txBody>
      </p:sp>
      <p:sp>
        <p:nvSpPr>
          <p:cNvPr id="1310723" name="Rectangle 3"/>
          <p:cNvSpPr>
            <a:spLocks noGrp="1" noRot="1" noChangeArrowheads="1"/>
          </p:cNvSpPr>
          <p:nvPr>
            <p:ph type="body" idx="1"/>
          </p:nvPr>
        </p:nvSpPr>
        <p:spPr>
          <a:xfrm>
            <a:off x="457200" y="1203325"/>
            <a:ext cx="8229600" cy="3998913"/>
          </a:xfrm>
        </p:spPr>
        <p:txBody>
          <a:bodyPr/>
          <a:lstStyle/>
          <a:p>
            <a:pPr lvl="1" eaLnBrk="1" hangingPunct="1">
              <a:lnSpc>
                <a:spcPct val="90000"/>
              </a:lnSpc>
              <a:defRPr/>
            </a:pPr>
            <a:r>
              <a:rPr lang="en-US" altLang="ko-KR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Completeness</a:t>
            </a:r>
          </a:p>
          <a:p>
            <a:pPr lvl="2" eaLnBrk="1" hangingPunct="1">
              <a:lnSpc>
                <a:spcPct val="90000"/>
              </a:lnSpc>
              <a:defRPr/>
            </a:pP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An indirect implication about the degree to which the abstraction or design component can be reused</a:t>
            </a:r>
          </a:p>
          <a:p>
            <a:pPr lvl="1" eaLnBrk="1" hangingPunct="1">
              <a:defRPr/>
            </a:pPr>
            <a:r>
              <a:rPr lang="en-US" altLang="ko-KR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Cohesion</a:t>
            </a:r>
          </a:p>
          <a:p>
            <a:pPr lvl="2" eaLnBrk="1" hangingPunct="1">
              <a:defRPr/>
            </a:pP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The degree to which all operations working together to achieve a single, well-defined purpose</a:t>
            </a:r>
          </a:p>
          <a:p>
            <a:pPr lvl="1" eaLnBrk="1" hangingPunct="1">
              <a:defRPr/>
            </a:pPr>
            <a:r>
              <a:rPr lang="en-US" altLang="ko-KR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Primitiveness</a:t>
            </a:r>
          </a:p>
          <a:p>
            <a:pPr lvl="2" eaLnBrk="1" hangingPunct="1">
              <a:defRPr/>
            </a:pP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Applied to both operations and classes, the degree to which an operation is atomic</a:t>
            </a:r>
          </a:p>
          <a:p>
            <a:pPr lvl="1" eaLnBrk="1" hangingPunct="1">
              <a:defRPr/>
            </a:pPr>
            <a:r>
              <a:rPr lang="en-US" altLang="ko-KR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Similarity</a:t>
            </a:r>
          </a:p>
          <a:p>
            <a:pPr lvl="2" eaLnBrk="1" hangingPunct="1">
              <a:defRPr/>
            </a:pP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The degree to which two or more classes are similar in terms of their structure, function, behavior, or purpose</a:t>
            </a:r>
          </a:p>
          <a:p>
            <a:pPr lvl="1" eaLnBrk="1" hangingPunct="1">
              <a:defRPr/>
            </a:pPr>
            <a:r>
              <a:rPr lang="en-US" altLang="ko-KR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Volatility</a:t>
            </a:r>
          </a:p>
          <a:p>
            <a:pPr lvl="2" eaLnBrk="1" hangingPunct="1">
              <a:defRPr/>
            </a:pP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Measures the likelihood that a change will occur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바닥글 개체 틀 3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/>
          <a:p>
            <a:endParaRPr lang="en-US" altLang="ko-KR" dirty="0"/>
          </a:p>
        </p:txBody>
      </p:sp>
      <p:sp>
        <p:nvSpPr>
          <p:cNvPr id="24579" name="슬라이드 번호 개체 틀 4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632BD879-C753-42D5-9E0F-33E6635F129B}" type="slidenum">
              <a:rPr lang="ko-KR" altLang="en-US" smtClean="0"/>
              <a:pPr/>
              <a:t>23</a:t>
            </a:fld>
            <a:endParaRPr lang="en-US" altLang="ko-KR"/>
          </a:p>
        </p:txBody>
      </p:sp>
      <p:sp>
        <p:nvSpPr>
          <p:cNvPr id="1311746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1244600" y="355600"/>
            <a:ext cx="6832600" cy="600075"/>
          </a:xfrm>
        </p:spPr>
        <p:txBody>
          <a:bodyPr wrap="none" lIns="63500" tIns="25400" rIns="63500" bIns="25400" anchor="t">
            <a:spAutoFit/>
          </a:bodyPr>
          <a:lstStyle/>
          <a:p>
            <a:pPr eaLnBrk="1" hangingPunct="1">
              <a:defRPr/>
            </a:pPr>
            <a:r>
              <a:rPr lang="en-US" altLang="ko-KR">
                <a:latin typeface="Arial" pitchFamily="34" charset="0"/>
                <a:ea typeface="굴림" pitchFamily="50" charset="-127"/>
                <a:cs typeface="Arial" pitchFamily="34" charset="0"/>
              </a:rPr>
              <a:t>Distinguishing Characteristics</a:t>
            </a:r>
          </a:p>
        </p:txBody>
      </p:sp>
      <p:sp>
        <p:nvSpPr>
          <p:cNvPr id="1311747" name="Rectangle 3"/>
          <p:cNvSpPr>
            <a:spLocks noGrp="1" noRot="1" noChangeArrowheads="1"/>
          </p:cNvSpPr>
          <p:nvPr>
            <p:ph type="body" idx="1"/>
          </p:nvPr>
        </p:nvSpPr>
        <p:spPr>
          <a:xfrm>
            <a:off x="244475" y="1447800"/>
            <a:ext cx="8710613" cy="2874963"/>
          </a:xfrm>
        </p:spPr>
        <p:txBody>
          <a:bodyPr lIns="90487" tIns="44450" rIns="90487" bIns="44450"/>
          <a:lstStyle/>
          <a:p>
            <a:pPr eaLnBrk="1" hangingPunct="1">
              <a:defRPr/>
            </a:pPr>
            <a:r>
              <a:rPr lang="en-US" altLang="ko-KR" sz="2000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Encapsulation</a:t>
            </a:r>
            <a:endParaRPr lang="en-US" altLang="ko-KR" sz="2000" dirty="0">
              <a:latin typeface="Arial" pitchFamily="34" charset="0"/>
              <a:ea typeface="굴림" pitchFamily="50" charset="-127"/>
              <a:cs typeface="Arial" pitchFamily="34" charset="0"/>
            </a:endParaRPr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	the packaging of data and processing</a:t>
            </a:r>
          </a:p>
          <a:p>
            <a:pPr eaLnBrk="1" hangingPunct="1">
              <a:defRPr/>
            </a:pPr>
            <a:r>
              <a:rPr lang="en-US" altLang="ko-KR" sz="2000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Information hiding</a:t>
            </a:r>
            <a:endParaRPr lang="en-US" altLang="ko-KR" sz="2000" dirty="0">
              <a:latin typeface="Arial" pitchFamily="34" charset="0"/>
              <a:ea typeface="굴림" pitchFamily="50" charset="-127"/>
              <a:cs typeface="Arial" pitchFamily="34" charset="0"/>
            </a:endParaRPr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	the way in which information about operational details is hidden by a secure interface</a:t>
            </a:r>
          </a:p>
          <a:p>
            <a:pPr eaLnBrk="1" hangingPunct="1">
              <a:defRPr/>
            </a:pPr>
            <a:r>
              <a:rPr lang="en-US" altLang="ko-KR" sz="2000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Inheritance</a:t>
            </a:r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	the manner in which the responsibilities of one class are propagated to another</a:t>
            </a:r>
          </a:p>
          <a:p>
            <a:pPr eaLnBrk="1" hangingPunct="1">
              <a:defRPr/>
            </a:pPr>
            <a:r>
              <a:rPr lang="en-US" altLang="ko-KR" sz="2000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Abstraction</a:t>
            </a:r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	the mechanism that allows a design to focus on essential details</a:t>
            </a:r>
          </a:p>
          <a:p>
            <a:pPr eaLnBrk="1" hangingPunct="1">
              <a:defRPr/>
            </a:pPr>
            <a:r>
              <a:rPr lang="en-US" altLang="ko-KR" sz="2000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Localization</a:t>
            </a:r>
            <a:endParaRPr lang="en-US" altLang="ko-KR" sz="2000" dirty="0">
              <a:latin typeface="Arial" pitchFamily="34" charset="0"/>
              <a:ea typeface="굴림" pitchFamily="50" charset="-127"/>
              <a:cs typeface="Arial" pitchFamily="34" charset="0"/>
            </a:endParaRPr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	the way in which information is concentrated in a program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altLang="ko-KR" sz="2000" dirty="0">
              <a:latin typeface="Arial" pitchFamily="34" charset="0"/>
              <a:ea typeface="굴림" pitchFamily="50" charset="-127"/>
              <a:cs typeface="Arial" pitchFamily="34" charset="0"/>
            </a:endParaRPr>
          </a:p>
        </p:txBody>
      </p:sp>
      <p:sp>
        <p:nvSpPr>
          <p:cNvPr id="24582" name="Rectangle 4"/>
          <p:cNvSpPr>
            <a:spLocks noChangeArrowheads="1"/>
          </p:cNvSpPr>
          <p:nvPr/>
        </p:nvSpPr>
        <p:spPr bwMode="auto">
          <a:xfrm>
            <a:off x="1039813" y="950913"/>
            <a:ext cx="7216775" cy="584200"/>
          </a:xfrm>
          <a:prstGeom prst="rect">
            <a:avLst/>
          </a:prstGeom>
          <a:noFill/>
          <a:ln w="25400">
            <a:noFill/>
            <a:miter lim="800000"/>
            <a:headEnd/>
            <a:tailEnd/>
          </a:ln>
        </p:spPr>
        <p:txBody>
          <a:bodyPr wrap="none" lIns="90487" tIns="44450" rIns="90487" bIns="44450">
            <a:spAutoFit/>
          </a:bodyPr>
          <a:lstStyle/>
          <a:p>
            <a:r>
              <a:rPr lang="en-US" altLang="ko-KR">
                <a:solidFill>
                  <a:schemeClr val="bg1"/>
                </a:solidFill>
                <a:ea typeface="굴림" pitchFamily="50" charset="-127"/>
              </a:rPr>
              <a:t>Berard [BER95] argues that the following characteristics require </a:t>
            </a:r>
          </a:p>
          <a:p>
            <a:r>
              <a:rPr lang="en-US" altLang="ko-KR">
                <a:solidFill>
                  <a:schemeClr val="bg1"/>
                </a:solidFill>
                <a:ea typeface="굴림" pitchFamily="50" charset="-127"/>
              </a:rPr>
              <a:t>that special OO metrics be developed:</a:t>
            </a:r>
          </a:p>
        </p:txBody>
      </p:sp>
    </p:spTree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바닥글 개체 틀 3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/>
          <a:p>
            <a:endParaRPr lang="en-US" altLang="ko-KR" dirty="0"/>
          </a:p>
        </p:txBody>
      </p:sp>
      <p:sp>
        <p:nvSpPr>
          <p:cNvPr id="25603" name="슬라이드 번호 개체 틀 4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CB8C72E9-7C2D-496D-920D-78E301EA50E6}" type="slidenum">
              <a:rPr lang="ko-KR" altLang="en-US" smtClean="0"/>
              <a:pPr/>
              <a:t>24</a:t>
            </a:fld>
            <a:endParaRPr lang="en-US" altLang="ko-KR"/>
          </a:p>
        </p:txBody>
      </p:sp>
      <p:sp>
        <p:nvSpPr>
          <p:cNvPr id="1312770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1992313" y="244475"/>
            <a:ext cx="5156200" cy="600075"/>
          </a:xfrm>
        </p:spPr>
        <p:txBody>
          <a:bodyPr wrap="none" lIns="63500" tIns="25400" rIns="63500" bIns="25400" anchor="t">
            <a:spAutoFit/>
          </a:bodyPr>
          <a:lstStyle/>
          <a:p>
            <a:pPr eaLnBrk="1" hangingPunct="1">
              <a:defRPr/>
            </a:pPr>
            <a:r>
              <a:rPr lang="en-US" altLang="ko-KR">
                <a:latin typeface="Arial" pitchFamily="34" charset="0"/>
                <a:ea typeface="굴림" pitchFamily="50" charset="-127"/>
                <a:cs typeface="Arial" pitchFamily="34" charset="0"/>
              </a:rPr>
              <a:t>Class-Oriented Metrics</a:t>
            </a:r>
          </a:p>
        </p:txBody>
      </p:sp>
      <p:sp>
        <p:nvSpPr>
          <p:cNvPr id="1312771" name="Rectangle 3"/>
          <p:cNvSpPr>
            <a:spLocks noGrp="1" noRot="1" noChangeArrowheads="1"/>
          </p:cNvSpPr>
          <p:nvPr>
            <p:ph type="body" idx="1"/>
          </p:nvPr>
        </p:nvSpPr>
        <p:spPr>
          <a:xfrm>
            <a:off x="650875" y="1519238"/>
            <a:ext cx="7778750" cy="3082925"/>
          </a:xfrm>
        </p:spPr>
        <p:txBody>
          <a:bodyPr lIns="90487" tIns="44450" rIns="90487" bIns="44450"/>
          <a:lstStyle/>
          <a:p>
            <a:pPr eaLnBrk="1" hangingPunct="1">
              <a:defRPr/>
            </a:pPr>
            <a:r>
              <a:rPr lang="en-US" altLang="ko-KR" sz="2800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Weighted Methods per Class (WMC)</a:t>
            </a:r>
          </a:p>
          <a:p>
            <a:pPr lvl="1" eaLnBrk="1" hangingPunct="1">
              <a:defRPr/>
            </a:pPr>
            <a:r>
              <a:rPr lang="en-US" altLang="ko-KR" sz="1800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Weighted methods per class ∑C</a:t>
            </a:r>
            <a:r>
              <a:rPr lang="en-US" altLang="ko-KR" sz="1800" baseline="-25000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i</a:t>
            </a:r>
            <a:r>
              <a:rPr lang="en-US" altLang="ko-KR" sz="1800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 where C</a:t>
            </a:r>
            <a:r>
              <a:rPr lang="en-US" altLang="ko-KR" sz="1800" baseline="-25000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i </a:t>
            </a:r>
            <a:r>
              <a:rPr lang="en-US" altLang="ko-KR" sz="1800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is a normalized complexity 0~1 for method </a:t>
            </a:r>
            <a:r>
              <a:rPr lang="en-US" altLang="ko-KR" sz="1800" dirty="0" err="1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i</a:t>
            </a:r>
            <a:r>
              <a:rPr lang="en-US" altLang="ko-KR" sz="1800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 (e.g., cyclometric complexity) </a:t>
            </a:r>
          </a:p>
          <a:p>
            <a:pPr lvl="1" eaLnBrk="1" hangingPunct="1">
              <a:defRPr/>
            </a:pPr>
            <a:r>
              <a:rPr lang="en-US" altLang="ko-KR" sz="1800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The # of methods and their complexity are reasonable indicators of the amount of effort required to implement and test a class</a:t>
            </a:r>
          </a:p>
          <a:p>
            <a:pPr lvl="1" eaLnBrk="1" hangingPunct="1">
              <a:defRPr/>
            </a:pPr>
            <a:r>
              <a:rPr lang="en-US" altLang="ko-KR" sz="1800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As the # of methods grows for a given class, it is likely to become more application specific -&gt; less reusability</a:t>
            </a:r>
          </a:p>
          <a:p>
            <a:pPr lvl="1" eaLnBrk="1" hangingPunct="1">
              <a:defRPr/>
            </a:pPr>
            <a:r>
              <a:rPr lang="en-US" altLang="ko-KR" sz="1800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Counting the # of methods is not trivial</a:t>
            </a:r>
            <a:endParaRPr lang="en-US" altLang="ko-KR" sz="2400" baseline="-25000" dirty="0">
              <a:latin typeface="Arial" pitchFamily="34" charset="0"/>
              <a:ea typeface="굴림" pitchFamily="50" charset="-127"/>
              <a:cs typeface="Arial" pitchFamily="34" charset="0"/>
            </a:endParaRPr>
          </a:p>
          <a:p>
            <a:pPr eaLnBrk="1" hangingPunct="1">
              <a:defRPr/>
            </a:pPr>
            <a:r>
              <a:rPr lang="en-US" altLang="ko-KR" sz="2800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Depth of the inheritance tree (DIT)</a:t>
            </a:r>
          </a:p>
          <a:p>
            <a:pPr lvl="1" eaLnBrk="1" hangingPunct="1">
              <a:defRPr/>
            </a:pP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As DIT grow, potential difficulties when attempting to predict the behavior of a class</a:t>
            </a:r>
          </a:p>
        </p:txBody>
      </p:sp>
      <p:sp>
        <p:nvSpPr>
          <p:cNvPr id="1312772" name="Rectangle 4"/>
          <p:cNvSpPr>
            <a:spLocks noChangeArrowheads="1"/>
          </p:cNvSpPr>
          <p:nvPr/>
        </p:nvSpPr>
        <p:spPr bwMode="auto">
          <a:xfrm>
            <a:off x="963613" y="977900"/>
            <a:ext cx="7202355" cy="422167"/>
          </a:xfrm>
          <a:prstGeom prst="rect">
            <a:avLst/>
          </a:prstGeom>
          <a:noFill/>
          <a:ln w="25400">
            <a:noFill/>
            <a:miter lim="800000"/>
            <a:headEnd/>
            <a:tailEnd/>
          </a:ln>
          <a:effectLst/>
        </p:spPr>
        <p:txBody>
          <a:bodyPr wrap="none" lIns="90487" tIns="44450" rIns="90487" bIns="44450">
            <a:spAutoFit/>
          </a:bodyPr>
          <a:lstStyle/>
          <a:p>
            <a:pPr>
              <a:defRPr/>
            </a:pPr>
            <a:r>
              <a:rPr lang="en-US" altLang="ko-KR" sz="2400" b="0" i="1" dirty="0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Palatino" charset="0"/>
                <a:ea typeface="굴림" pitchFamily="50" charset="-127"/>
              </a:rPr>
              <a:t>Proposed by </a:t>
            </a:r>
            <a:r>
              <a:rPr lang="en-US" altLang="ko-KR" sz="2400" b="0" i="1" dirty="0" err="1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Palatino" charset="0"/>
                <a:ea typeface="굴림" pitchFamily="50" charset="-127"/>
              </a:rPr>
              <a:t>Chidamber</a:t>
            </a:r>
            <a:r>
              <a:rPr lang="en-US" altLang="ko-KR" sz="2400" b="0" i="1" dirty="0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Palatino" charset="0"/>
                <a:ea typeface="굴림" pitchFamily="50" charset="-127"/>
              </a:rPr>
              <a:t> and </a:t>
            </a:r>
            <a:r>
              <a:rPr lang="en-US" altLang="ko-KR" sz="2400" b="0" i="1" dirty="0" err="1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Palatino" charset="0"/>
                <a:ea typeface="굴림" pitchFamily="50" charset="-127"/>
              </a:rPr>
              <a:t>Kemerer</a:t>
            </a:r>
            <a:r>
              <a:rPr lang="en-US" altLang="ko-KR" sz="2400" b="0" i="1" dirty="0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Palatino" charset="0"/>
                <a:ea typeface="굴림" pitchFamily="50" charset="-127"/>
              </a:rPr>
              <a:t> (CK metrics suite)</a:t>
            </a:r>
            <a:r>
              <a:rPr lang="en-US" altLang="ko-KR" sz="2400" b="0" i="1" dirty="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Palatino" charset="0"/>
                <a:ea typeface="굴림" pitchFamily="50" charset="-127"/>
              </a:rPr>
              <a:t>:</a:t>
            </a:r>
            <a:endParaRPr lang="en-US" altLang="ko-KR" sz="2400" b="0" dirty="0">
              <a:ea typeface="굴림" pitchFamily="50" charset="-127"/>
            </a:endParaRPr>
          </a:p>
        </p:txBody>
      </p:sp>
    </p:spTree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330950" y="2736850"/>
            <a:ext cx="2813050" cy="3359150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</p:pic>
      <p:sp>
        <p:nvSpPr>
          <p:cNvPr id="26627" name="바닥글 개체 틀 3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/>
          <a:p>
            <a:endParaRPr lang="en-US" altLang="ko-KR" dirty="0"/>
          </a:p>
        </p:txBody>
      </p:sp>
      <p:sp>
        <p:nvSpPr>
          <p:cNvPr id="26628" name="슬라이드 번호 개체 틀 4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4500D9FF-0805-40FA-8FF0-04FE9B7591E0}" type="slidenum">
              <a:rPr lang="ko-KR" altLang="en-US" smtClean="0"/>
              <a:pPr/>
              <a:t>25</a:t>
            </a:fld>
            <a:endParaRPr lang="en-US" altLang="ko-KR"/>
          </a:p>
        </p:txBody>
      </p:sp>
      <p:sp>
        <p:nvSpPr>
          <p:cNvPr id="1312770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1992313" y="244475"/>
            <a:ext cx="5156200" cy="600075"/>
          </a:xfrm>
        </p:spPr>
        <p:txBody>
          <a:bodyPr wrap="none" lIns="63500" tIns="25400" rIns="63500" bIns="25400" anchor="t">
            <a:spAutoFit/>
          </a:bodyPr>
          <a:lstStyle/>
          <a:p>
            <a:pPr eaLnBrk="1" hangingPunct="1">
              <a:defRPr/>
            </a:pPr>
            <a:r>
              <a:rPr lang="en-US" altLang="ko-KR">
                <a:latin typeface="Arial" pitchFamily="34" charset="0"/>
                <a:ea typeface="굴림" pitchFamily="50" charset="-127"/>
                <a:cs typeface="Arial" pitchFamily="34" charset="0"/>
              </a:rPr>
              <a:t>Class-Oriented Metrics</a:t>
            </a:r>
          </a:p>
        </p:txBody>
      </p:sp>
      <p:sp>
        <p:nvSpPr>
          <p:cNvPr id="1312771" name="Rectangle 3"/>
          <p:cNvSpPr>
            <a:spLocks noGrp="1" noRot="1" noChangeArrowheads="1"/>
          </p:cNvSpPr>
          <p:nvPr>
            <p:ph type="body" idx="1"/>
          </p:nvPr>
        </p:nvSpPr>
        <p:spPr>
          <a:xfrm>
            <a:off x="176213" y="1054268"/>
            <a:ext cx="8694737" cy="3082925"/>
          </a:xfrm>
        </p:spPr>
        <p:txBody>
          <a:bodyPr lIns="90487" tIns="44450" rIns="90487" bIns="44450"/>
          <a:lstStyle/>
          <a:p>
            <a:pPr eaLnBrk="1" hangingPunct="1"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Number of children/subclasses (NOC)</a:t>
            </a:r>
          </a:p>
          <a:p>
            <a:pPr lvl="1" eaLnBrk="1" hangingPunct="1">
              <a:defRPr/>
            </a:pP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As NOC grows, more reuse, but the abstraction of the parent class is diluted</a:t>
            </a:r>
          </a:p>
          <a:p>
            <a:pPr lvl="1" eaLnBrk="1" hangingPunct="1">
              <a:defRPr/>
            </a:pP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As NOC grows, the amount of testing will also increase</a:t>
            </a:r>
          </a:p>
          <a:p>
            <a:pPr eaLnBrk="1" hangingPunct="1"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Coupling between object classes (CBO)</a:t>
            </a:r>
          </a:p>
          <a:p>
            <a:pPr lvl="1" eaLnBrk="1" hangingPunct="1">
              <a:defRPr/>
            </a:pP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CBO is the # of collaborations listed on CRC index cards </a:t>
            </a:r>
          </a:p>
          <a:p>
            <a:pPr lvl="1" eaLnBrk="1" hangingPunct="1">
              <a:defRPr/>
            </a:pP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As CBO increases, reusability decreases</a:t>
            </a:r>
          </a:p>
          <a:p>
            <a:pPr eaLnBrk="1" hangingPunct="1"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Response for a class (RFC)</a:t>
            </a:r>
          </a:p>
          <a:p>
            <a:pPr lvl="1" eaLnBrk="1" hangingPunct="1">
              <a:defRPr/>
            </a:pP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A set of methods that can be executed in response </a:t>
            </a:r>
          </a:p>
          <a:p>
            <a:pPr lvl="1" eaLnBrk="1" hangingPunct="1">
              <a:buFont typeface="Wingdings" pitchFamily="2" charset="2"/>
              <a:buNone/>
              <a:defRPr/>
            </a:pP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	to a request</a:t>
            </a:r>
          </a:p>
          <a:p>
            <a:pPr lvl="1" eaLnBrk="1" hangingPunct="1">
              <a:defRPr/>
            </a:pP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As RFC increases, test sequence grows</a:t>
            </a:r>
          </a:p>
          <a:p>
            <a:pPr eaLnBrk="1" hangingPunct="1"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Lack of cohesion in methods (LCOM)</a:t>
            </a:r>
          </a:p>
          <a:p>
            <a:pPr lvl="1" eaLnBrk="1" hangingPunct="1">
              <a:defRPr/>
            </a:pPr>
            <a:r>
              <a:rPr lang="en-US" altLang="ko-KR" sz="1600" dirty="0">
                <a:latin typeface="Arial" pitchFamily="34" charset="0"/>
                <a:ea typeface="굴림" pitchFamily="50" charset="-127"/>
                <a:cs typeface="Arial" pitchFamily="34" charset="0"/>
              </a:rPr>
              <a:t>A # of methods that access same attributes</a:t>
            </a:r>
          </a:p>
        </p:txBody>
      </p:sp>
    </p:spTree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바닥글 개체 틀 1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/>
          <a:p>
            <a:endParaRPr lang="en-US" altLang="ko-KR" dirty="0"/>
          </a:p>
        </p:txBody>
      </p:sp>
      <p:sp>
        <p:nvSpPr>
          <p:cNvPr id="27651" name="슬라이드 번호 개체 틀 2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3E212B29-2760-469A-885E-EFEB0D04B71D}" type="slidenum">
              <a:rPr lang="ko-KR" altLang="en-US" smtClean="0"/>
              <a:pPr/>
              <a:t>26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 idx="4294967295"/>
          </p:nvPr>
        </p:nvSpPr>
        <p:spPr>
          <a:xfrm>
            <a:off x="457200" y="244475"/>
            <a:ext cx="8229600" cy="560388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altLang="ko-KR" sz="2900" i="1" dirty="0">
                <a:latin typeface="Arial" pitchFamily="34" charset="0"/>
                <a:ea typeface="굴림" pitchFamily="50" charset="-127"/>
                <a:cs typeface="Arial" pitchFamily="34" charset="0"/>
              </a:rPr>
              <a:t>Applying CK Metrics</a:t>
            </a:r>
            <a:endParaRPr lang="ko-KR" altLang="en-US" sz="2900" dirty="0">
              <a:latin typeface="Arial" pitchFamily="34" charset="0"/>
              <a:ea typeface="굴림" pitchFamily="50" charset="-127"/>
              <a:cs typeface="Arial" pitchFamily="34" charset="0"/>
            </a:endParaRPr>
          </a:p>
        </p:txBody>
      </p:sp>
      <p:sp>
        <p:nvSpPr>
          <p:cNvPr id="3" name="내용 개체 틀 2"/>
          <p:cNvSpPr>
            <a:spLocks noGrp="1"/>
          </p:cNvSpPr>
          <p:nvPr>
            <p:ph sz="half" idx="4294967295"/>
          </p:nvPr>
        </p:nvSpPr>
        <p:spPr>
          <a:xfrm>
            <a:off x="457200" y="795338"/>
            <a:ext cx="4164013" cy="4625975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ko-KR" sz="1800" b="1">
                <a:latin typeface="Arial" pitchFamily="34" charset="0"/>
                <a:ea typeface="굴림" pitchFamily="50" charset="-127"/>
                <a:cs typeface="Arial" pitchFamily="34" charset="0"/>
              </a:rPr>
              <a:t>The scene: </a:t>
            </a:r>
          </a:p>
          <a:p>
            <a:pPr lvl="1" eaLnBrk="1" hangingPunct="1">
              <a:defRPr/>
            </a:pPr>
            <a:r>
              <a:rPr lang="en-US" altLang="ko-KR" sz="1400">
                <a:latin typeface="Arial" pitchFamily="34" charset="0"/>
                <a:ea typeface="굴림" pitchFamily="50" charset="-127"/>
                <a:cs typeface="Arial" pitchFamily="34" charset="0"/>
              </a:rPr>
              <a:t>Vinod's cubicle.</a:t>
            </a:r>
            <a:endParaRPr lang="ko-KR" altLang="en-US" sz="1400">
              <a:latin typeface="Arial" pitchFamily="34" charset="0"/>
              <a:ea typeface="굴림" pitchFamily="50" charset="-127"/>
              <a:cs typeface="Arial" pitchFamily="34" charset="0"/>
            </a:endParaRPr>
          </a:p>
          <a:p>
            <a:pPr eaLnBrk="1" hangingPunct="1">
              <a:defRPr/>
            </a:pPr>
            <a:r>
              <a:rPr lang="en-US" altLang="ko-KR" sz="1800" b="1">
                <a:latin typeface="Arial" pitchFamily="34" charset="0"/>
                <a:ea typeface="굴림" pitchFamily="50" charset="-127"/>
                <a:cs typeface="Arial" pitchFamily="34" charset="0"/>
              </a:rPr>
              <a:t>The players: </a:t>
            </a:r>
          </a:p>
          <a:p>
            <a:pPr lvl="1" eaLnBrk="1" hangingPunct="1">
              <a:defRPr/>
            </a:pPr>
            <a:r>
              <a:rPr lang="en-US" altLang="ko-KR" sz="1400">
                <a:solidFill>
                  <a:srgbClr val="FF6699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Vinod</a:t>
            </a:r>
            <a:r>
              <a:rPr lang="en-US" altLang="ko-KR" sz="1400">
                <a:latin typeface="Arial" pitchFamily="34" charset="0"/>
                <a:ea typeface="굴림" pitchFamily="50" charset="-127"/>
                <a:cs typeface="Arial" pitchFamily="34" charset="0"/>
              </a:rPr>
              <a:t>, </a:t>
            </a:r>
            <a:r>
              <a:rPr lang="en-US" altLang="ko-KR" sz="1400">
                <a:solidFill>
                  <a:srgbClr val="FF6699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Jamie</a:t>
            </a:r>
            <a:r>
              <a:rPr lang="en-US" altLang="ko-KR" sz="1400">
                <a:latin typeface="Arial" pitchFamily="34" charset="0"/>
                <a:ea typeface="굴림" pitchFamily="50" charset="-127"/>
                <a:cs typeface="Arial" pitchFamily="34" charset="0"/>
              </a:rPr>
              <a:t>, </a:t>
            </a:r>
            <a:r>
              <a:rPr lang="en-US" altLang="ko-KR" sz="1400">
                <a:solidFill>
                  <a:srgbClr val="FF6699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Shakira</a:t>
            </a:r>
            <a:r>
              <a:rPr lang="en-US" altLang="ko-KR" sz="1400">
                <a:latin typeface="Arial" pitchFamily="34" charset="0"/>
                <a:ea typeface="굴림" pitchFamily="50" charset="-127"/>
                <a:cs typeface="Arial" pitchFamily="34" charset="0"/>
              </a:rPr>
              <a:t>, </a:t>
            </a:r>
            <a:r>
              <a:rPr lang="en-US" altLang="ko-KR" sz="1400">
                <a:solidFill>
                  <a:srgbClr val="FF6699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Ed</a:t>
            </a:r>
          </a:p>
          <a:p>
            <a:pPr lvl="1" eaLnBrk="1" hangingPunct="1">
              <a:buFont typeface="Wingdings" pitchFamily="2" charset="2"/>
              <a:buNone/>
              <a:defRPr/>
            </a:pPr>
            <a:r>
              <a:rPr lang="en-US" altLang="ko-KR" sz="1400">
                <a:latin typeface="Arial" pitchFamily="34" charset="0"/>
                <a:ea typeface="굴림" pitchFamily="50" charset="-127"/>
                <a:cs typeface="Arial" pitchFamily="34" charset="0"/>
              </a:rPr>
              <a:t>	members of the </a:t>
            </a:r>
            <a:r>
              <a:rPr lang="en-US" altLang="ko-KR" sz="1400" i="1">
                <a:latin typeface="Arial" pitchFamily="34" charset="0"/>
                <a:ea typeface="굴림" pitchFamily="50" charset="-127"/>
                <a:cs typeface="Arial" pitchFamily="34" charset="0"/>
              </a:rPr>
              <a:t>SafeHome </a:t>
            </a:r>
            <a:r>
              <a:rPr lang="en-US" altLang="ko-KR" sz="1400">
                <a:latin typeface="Arial" pitchFamily="34" charset="0"/>
                <a:ea typeface="굴림" pitchFamily="50" charset="-127"/>
                <a:cs typeface="Arial" pitchFamily="34" charset="0"/>
              </a:rPr>
              <a:t>software engineering team, who are continuing work on component-level design and test case design.</a:t>
            </a:r>
            <a:endParaRPr lang="ko-KR" altLang="en-US" sz="1400">
              <a:latin typeface="Arial" pitchFamily="34" charset="0"/>
              <a:ea typeface="굴림" pitchFamily="50" charset="-127"/>
              <a:cs typeface="Arial" pitchFamily="34" charset="0"/>
            </a:endParaRPr>
          </a:p>
          <a:p>
            <a:pPr eaLnBrk="1" hangingPunct="1">
              <a:defRPr/>
            </a:pPr>
            <a:r>
              <a:rPr lang="en-US" altLang="ko-KR" sz="1800" b="1">
                <a:latin typeface="Arial" pitchFamily="34" charset="0"/>
                <a:ea typeface="굴림" pitchFamily="50" charset="-127"/>
                <a:cs typeface="Arial" pitchFamily="34" charset="0"/>
              </a:rPr>
              <a:t>The conversation:</a:t>
            </a:r>
            <a:endParaRPr lang="ko-KR" altLang="en-US" sz="1800">
              <a:latin typeface="Arial" pitchFamily="34" charset="0"/>
              <a:ea typeface="굴림" pitchFamily="50" charset="-127"/>
              <a:cs typeface="Arial" pitchFamily="34" charset="0"/>
            </a:endParaRPr>
          </a:p>
          <a:p>
            <a:pPr eaLnBrk="1" hangingPunct="1">
              <a:defRPr/>
            </a:pPr>
            <a:r>
              <a:rPr lang="en-US" altLang="ko-KR" sz="1800" b="1">
                <a:solidFill>
                  <a:srgbClr val="FF6699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Vinod</a:t>
            </a:r>
            <a:r>
              <a:rPr lang="en-US" altLang="ko-KR" sz="1800" b="1">
                <a:latin typeface="Arial" pitchFamily="34" charset="0"/>
                <a:ea typeface="굴림" pitchFamily="50" charset="-127"/>
                <a:cs typeface="Arial" pitchFamily="34" charset="0"/>
              </a:rPr>
              <a:t>: </a:t>
            </a:r>
            <a:r>
              <a:rPr lang="en-US" altLang="ko-KR" sz="1800">
                <a:latin typeface="Arial" pitchFamily="34" charset="0"/>
                <a:ea typeface="굴림" pitchFamily="50" charset="-127"/>
                <a:cs typeface="Arial" pitchFamily="34" charset="0"/>
              </a:rPr>
              <a:t>Did you guys get a chance to read the description of the CK metrics suite I sent you on Wednesday and make those measurements?</a:t>
            </a:r>
            <a:endParaRPr lang="ko-KR" altLang="en-US" sz="1800">
              <a:latin typeface="Arial" pitchFamily="34" charset="0"/>
              <a:ea typeface="굴림" pitchFamily="50" charset="-127"/>
              <a:cs typeface="Arial" pitchFamily="34" charset="0"/>
            </a:endParaRPr>
          </a:p>
          <a:p>
            <a:pPr eaLnBrk="1" hangingPunct="1">
              <a:defRPr/>
            </a:pPr>
            <a:endParaRPr lang="ko-KR" altLang="en-US" sz="1800">
              <a:latin typeface="Arial" pitchFamily="34" charset="0"/>
              <a:ea typeface="굴림" pitchFamily="50" charset="-127"/>
              <a:cs typeface="Arial" pitchFamily="34" charset="0"/>
            </a:endParaRPr>
          </a:p>
        </p:txBody>
      </p:sp>
      <p:sp>
        <p:nvSpPr>
          <p:cNvPr id="4" name="내용 개체 틀 3"/>
          <p:cNvSpPr>
            <a:spLocks noGrp="1"/>
          </p:cNvSpPr>
          <p:nvPr>
            <p:ph sz="half" idx="4294967295"/>
          </p:nvPr>
        </p:nvSpPr>
        <p:spPr>
          <a:xfrm>
            <a:off x="4648200" y="795338"/>
            <a:ext cx="4167188" cy="4625975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ko-KR" sz="1800" b="1" dirty="0" err="1">
                <a:solidFill>
                  <a:srgbClr val="FF6699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Shakira</a:t>
            </a:r>
            <a:r>
              <a:rPr lang="en-US" altLang="ko-KR" sz="1800" b="1" dirty="0">
                <a:latin typeface="Arial" pitchFamily="34" charset="0"/>
                <a:ea typeface="굴림" pitchFamily="50" charset="-127"/>
                <a:cs typeface="Arial" pitchFamily="34" charset="0"/>
              </a:rPr>
              <a:t>: </a:t>
            </a: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Wasn't too complicated. I went back to my UML class and sequence diagrams, like you suggested, and got rough counts for DIT, RFC, and LCOM. I couldn't find the CRC model, so I didn't count CBO.</a:t>
            </a:r>
            <a:endParaRPr lang="ko-KR" altLang="en-US" sz="1800" dirty="0">
              <a:latin typeface="Arial" pitchFamily="34" charset="0"/>
              <a:ea typeface="굴림" pitchFamily="50" charset="-127"/>
              <a:cs typeface="Arial" pitchFamily="34" charset="0"/>
            </a:endParaRPr>
          </a:p>
          <a:p>
            <a:pPr eaLnBrk="1" hangingPunct="1">
              <a:defRPr/>
            </a:pPr>
            <a:r>
              <a:rPr lang="en-US" altLang="ko-KR" sz="1800" b="1" dirty="0">
                <a:solidFill>
                  <a:srgbClr val="FF6699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Jamie</a:t>
            </a:r>
            <a:r>
              <a:rPr lang="en-US" altLang="ko-KR" sz="1800" b="1" dirty="0">
                <a:latin typeface="Arial" pitchFamily="34" charset="0"/>
                <a:ea typeface="굴림" pitchFamily="50" charset="-127"/>
                <a:cs typeface="Arial" pitchFamily="34" charset="0"/>
              </a:rPr>
              <a:t> (smiling): </a:t>
            </a: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You couldn't find the CRC model because I had it.</a:t>
            </a:r>
            <a:endParaRPr lang="ko-KR" altLang="en-US" sz="1800" dirty="0">
              <a:latin typeface="Arial" pitchFamily="34" charset="0"/>
              <a:ea typeface="굴림" pitchFamily="50" charset="-127"/>
              <a:cs typeface="Arial" pitchFamily="34" charset="0"/>
            </a:endParaRPr>
          </a:p>
          <a:p>
            <a:pPr eaLnBrk="1" hangingPunct="1">
              <a:defRPr/>
            </a:pPr>
            <a:r>
              <a:rPr lang="en-US" altLang="ko-KR" sz="1800" b="1" dirty="0" err="1">
                <a:solidFill>
                  <a:srgbClr val="FF6699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Shakira</a:t>
            </a:r>
            <a:r>
              <a:rPr lang="en-US" altLang="ko-KR" sz="1800" b="1" dirty="0">
                <a:latin typeface="Arial" pitchFamily="34" charset="0"/>
                <a:ea typeface="굴림" pitchFamily="50" charset="-127"/>
                <a:cs typeface="Arial" pitchFamily="34" charset="0"/>
              </a:rPr>
              <a:t>: </a:t>
            </a: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That's what I love about this team, superb communication.</a:t>
            </a:r>
            <a:endParaRPr lang="ko-KR" altLang="en-US" sz="1800" dirty="0">
              <a:latin typeface="Arial" pitchFamily="34" charset="0"/>
              <a:ea typeface="굴림" pitchFamily="50" charset="-127"/>
              <a:cs typeface="Arial" pitchFamily="34" charset="0"/>
            </a:endParaRPr>
          </a:p>
          <a:p>
            <a:pPr eaLnBrk="1" hangingPunct="1">
              <a:defRPr/>
            </a:pPr>
            <a:r>
              <a:rPr lang="en-US" altLang="ko-KR" sz="1800" b="1" dirty="0" err="1">
                <a:solidFill>
                  <a:srgbClr val="FF6699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Vinod</a:t>
            </a:r>
            <a:r>
              <a:rPr lang="en-US" altLang="ko-KR" sz="1800" b="1" dirty="0">
                <a:latin typeface="Arial" pitchFamily="34" charset="0"/>
                <a:ea typeface="굴림" pitchFamily="50" charset="-127"/>
                <a:cs typeface="Arial" pitchFamily="34" charset="0"/>
              </a:rPr>
              <a:t>: </a:t>
            </a: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I did my counts . . . did you guys develop numbers for the CK metrics?</a:t>
            </a:r>
            <a:endParaRPr lang="ko-KR" altLang="en-US" sz="1800" dirty="0">
              <a:latin typeface="Arial" pitchFamily="34" charset="0"/>
              <a:ea typeface="굴림" pitchFamily="50" charset="-127"/>
              <a:cs typeface="Arial" pitchFamily="34" charset="0"/>
            </a:endParaRPr>
          </a:p>
          <a:p>
            <a:pPr eaLnBrk="1" hangingPunct="1">
              <a:defRPr/>
            </a:pPr>
            <a:endParaRPr lang="ko-KR" altLang="en-US" sz="1800" dirty="0">
              <a:latin typeface="Arial" pitchFamily="34" charset="0"/>
              <a:ea typeface="굴림" pitchFamily="50" charset="-127"/>
              <a:cs typeface="Arial" pitchFamily="34" charset="0"/>
            </a:endParaRPr>
          </a:p>
        </p:txBody>
      </p:sp>
      <p:sp>
        <p:nvSpPr>
          <p:cNvPr id="27655" name="바닥글 개체 틀 4"/>
          <p:cNvSpPr txBox="1">
            <a:spLocks noGrp="1"/>
          </p:cNvSpPr>
          <p:nvPr/>
        </p:nvSpPr>
        <p:spPr bwMode="auto">
          <a:xfrm>
            <a:off x="933450" y="5759450"/>
            <a:ext cx="1500188" cy="249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b"/>
          <a:lstStyle/>
          <a:p>
            <a:pPr>
              <a:spcBef>
                <a:spcPct val="50000"/>
              </a:spcBef>
            </a:pPr>
            <a:endParaRPr lang="en-US" altLang="ko-KR" sz="1000" b="0" dirty="0">
              <a:solidFill>
                <a:schemeClr val="bg1"/>
              </a:solidFill>
              <a:latin typeface="Avant Garde" charset="0"/>
              <a:ea typeface="굴림" pitchFamily="50" charset="-127"/>
            </a:endParaRPr>
          </a:p>
        </p:txBody>
      </p:sp>
      <p:sp>
        <p:nvSpPr>
          <p:cNvPr id="27656" name="슬라이드 번호 개체 틀 5"/>
          <p:cNvSpPr txBox="1">
            <a:spLocks noGrp="1"/>
          </p:cNvSpPr>
          <p:nvPr/>
        </p:nvSpPr>
        <p:spPr bwMode="auto">
          <a:xfrm>
            <a:off x="8239125" y="5554663"/>
            <a:ext cx="631825" cy="422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b"/>
          <a:lstStyle/>
          <a:p>
            <a:pPr algn="r" eaLnBrk="1" hangingPunct="1">
              <a:lnSpc>
                <a:spcPct val="100000"/>
              </a:lnSpc>
            </a:pPr>
            <a:fld id="{AF683BD6-DE8F-486F-AD3D-E48B08BD57CA}" type="slidenum">
              <a:rPr lang="ko-KR" altLang="en-US" sz="1200" b="0">
                <a:latin typeface="Arial" charset="0"/>
                <a:ea typeface="굴림" pitchFamily="50" charset="-127"/>
              </a:rPr>
              <a:pPr algn="r" eaLnBrk="1" hangingPunct="1">
                <a:lnSpc>
                  <a:spcPct val="100000"/>
                </a:lnSpc>
              </a:pPr>
              <a:t>26</a:t>
            </a:fld>
            <a:endParaRPr lang="en-US" altLang="ko-KR" sz="1200" b="0">
              <a:latin typeface="Arial" charset="0"/>
              <a:ea typeface="굴림" pitchFamily="50" charset="-127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바닥글 개체 틀 1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/>
          <a:p>
            <a:endParaRPr lang="en-US" altLang="ko-KR" dirty="0"/>
          </a:p>
        </p:txBody>
      </p:sp>
      <p:sp>
        <p:nvSpPr>
          <p:cNvPr id="28675" name="슬라이드 번호 개체 틀 2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1D194D94-41EE-4A19-80AA-AAAB2A811E40}" type="slidenum">
              <a:rPr lang="ko-KR" altLang="en-US" smtClean="0"/>
              <a:pPr/>
              <a:t>27</a:t>
            </a:fld>
            <a:endParaRPr lang="en-US" altLang="ko-KR"/>
          </a:p>
        </p:txBody>
      </p:sp>
      <p:sp>
        <p:nvSpPr>
          <p:cNvPr id="3" name="내용 개체 틀 2"/>
          <p:cNvSpPr>
            <a:spLocks noGrp="1"/>
          </p:cNvSpPr>
          <p:nvPr>
            <p:ph sz="half" idx="4294967295"/>
          </p:nvPr>
        </p:nvSpPr>
        <p:spPr>
          <a:xfrm>
            <a:off x="317500" y="795338"/>
            <a:ext cx="4433888" cy="4625975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(Jamie and Ed nod in the affirmative.)</a:t>
            </a:r>
            <a:endParaRPr lang="ko-KR" altLang="en-US" sz="1800" dirty="0">
              <a:latin typeface="Arial" pitchFamily="34" charset="0"/>
              <a:ea typeface="굴림" pitchFamily="50" charset="-127"/>
              <a:cs typeface="Arial" pitchFamily="34" charset="0"/>
            </a:endParaRPr>
          </a:p>
          <a:p>
            <a:pPr eaLnBrk="1" hangingPunct="1">
              <a:defRPr/>
            </a:pPr>
            <a:r>
              <a:rPr lang="en-US" altLang="ko-KR" sz="1800" b="1" dirty="0">
                <a:solidFill>
                  <a:srgbClr val="FF6699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Jamie</a:t>
            </a:r>
            <a:r>
              <a:rPr lang="en-US" altLang="ko-KR" sz="1800" b="1" dirty="0">
                <a:latin typeface="Arial" pitchFamily="34" charset="0"/>
                <a:ea typeface="굴림" pitchFamily="50" charset="-127"/>
                <a:cs typeface="Arial" pitchFamily="34" charset="0"/>
              </a:rPr>
              <a:t>: </a:t>
            </a: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Since I had the CRC cards, I took a look at CBO, and it looked pretty uniform across most of the classes. There was one exception, which I noted.</a:t>
            </a:r>
            <a:endParaRPr lang="ko-KR" altLang="en-US" sz="1800" dirty="0">
              <a:latin typeface="Arial" pitchFamily="34" charset="0"/>
              <a:ea typeface="굴림" pitchFamily="50" charset="-127"/>
              <a:cs typeface="Arial" pitchFamily="34" charset="0"/>
            </a:endParaRPr>
          </a:p>
          <a:p>
            <a:pPr eaLnBrk="1" hangingPunct="1">
              <a:defRPr/>
            </a:pPr>
            <a:r>
              <a:rPr lang="en-US" altLang="ko-KR" sz="1800" b="1" dirty="0">
                <a:solidFill>
                  <a:srgbClr val="FF6699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Ed</a:t>
            </a:r>
            <a:r>
              <a:rPr lang="en-US" altLang="ko-KR" sz="1800" b="1" dirty="0">
                <a:latin typeface="Arial" pitchFamily="34" charset="0"/>
                <a:ea typeface="굴림" pitchFamily="50" charset="-127"/>
                <a:cs typeface="Arial" pitchFamily="34" charset="0"/>
              </a:rPr>
              <a:t>: </a:t>
            </a: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There are a few classes where RFC is pretty high, compared with the averages . . . maybe we should take a look at simplifying them.</a:t>
            </a:r>
            <a:endParaRPr lang="ko-KR" altLang="en-US" sz="1800" dirty="0">
              <a:latin typeface="Arial" pitchFamily="34" charset="0"/>
              <a:ea typeface="굴림" pitchFamily="50" charset="-127"/>
              <a:cs typeface="Arial" pitchFamily="34" charset="0"/>
            </a:endParaRPr>
          </a:p>
          <a:p>
            <a:pPr eaLnBrk="1" hangingPunct="1">
              <a:defRPr/>
            </a:pPr>
            <a:r>
              <a:rPr lang="en-US" altLang="ko-KR" sz="1800" b="1" dirty="0">
                <a:solidFill>
                  <a:srgbClr val="FF6699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Jamie</a:t>
            </a:r>
            <a:r>
              <a:rPr lang="en-US" altLang="ko-KR" sz="1800" b="1" dirty="0">
                <a:latin typeface="Arial" pitchFamily="34" charset="0"/>
                <a:ea typeface="굴림" pitchFamily="50" charset="-127"/>
                <a:cs typeface="Arial" pitchFamily="34" charset="0"/>
              </a:rPr>
              <a:t>: </a:t>
            </a: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Maybe yes, maybe no. I'm still concerned about time, and I don't want to fix stuff that isn't really broken.</a:t>
            </a:r>
            <a:endParaRPr lang="ko-KR" altLang="en-US" sz="1800" dirty="0">
              <a:latin typeface="Arial" pitchFamily="34" charset="0"/>
              <a:ea typeface="굴림" pitchFamily="50" charset="-127"/>
              <a:cs typeface="Arial" pitchFamily="34" charset="0"/>
            </a:endParaRPr>
          </a:p>
          <a:p>
            <a:pPr eaLnBrk="1" hangingPunct="1">
              <a:defRPr/>
            </a:pPr>
            <a:r>
              <a:rPr lang="en-US" altLang="ko-KR" sz="1800" b="1" dirty="0" err="1">
                <a:solidFill>
                  <a:srgbClr val="FF6699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Vinod</a:t>
            </a:r>
            <a:r>
              <a:rPr lang="en-US" altLang="ko-KR" sz="1800" b="1" dirty="0">
                <a:latin typeface="Arial" pitchFamily="34" charset="0"/>
                <a:ea typeface="굴림" pitchFamily="50" charset="-127"/>
                <a:cs typeface="Arial" pitchFamily="34" charset="0"/>
              </a:rPr>
              <a:t>: </a:t>
            </a: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I agree with that. Maybe we</a:t>
            </a:r>
            <a:endParaRPr lang="ko-KR" altLang="en-US" sz="1800" dirty="0">
              <a:latin typeface="Arial" pitchFamily="34" charset="0"/>
              <a:ea typeface="굴림" pitchFamily="50" charset="-127"/>
              <a:cs typeface="Arial" pitchFamily="34" charset="0"/>
            </a:endParaRPr>
          </a:p>
        </p:txBody>
      </p:sp>
      <p:sp>
        <p:nvSpPr>
          <p:cNvPr id="4" name="내용 개체 틀 3"/>
          <p:cNvSpPr>
            <a:spLocks noGrp="1"/>
          </p:cNvSpPr>
          <p:nvPr>
            <p:ph sz="half" idx="4294967295"/>
          </p:nvPr>
        </p:nvSpPr>
        <p:spPr>
          <a:xfrm>
            <a:off x="4443413" y="676275"/>
            <a:ext cx="4371975" cy="4625975"/>
          </a:xfrm>
        </p:spPr>
        <p:txBody>
          <a:bodyPr/>
          <a:lstStyle/>
          <a:p>
            <a:pPr eaLnBrk="1" hangingPunct="1">
              <a:buFont typeface="Wingdings" pitchFamily="2" charset="2"/>
              <a:buNone/>
              <a:defRPr/>
            </a:pP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	should look for classes that have bad numbers in </a:t>
            </a:r>
            <a:r>
              <a:rPr lang="en-US" altLang="ko-KR" sz="1800" u="sng" dirty="0">
                <a:latin typeface="Arial" pitchFamily="34" charset="0"/>
                <a:ea typeface="굴림" pitchFamily="50" charset="-127"/>
                <a:cs typeface="Arial" pitchFamily="34" charset="0"/>
              </a:rPr>
              <a:t>at least two or more of the CK metrics</a:t>
            </a: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. Kind of two strikes and you're modified.</a:t>
            </a:r>
            <a:endParaRPr lang="ko-KR" altLang="en-US" sz="1800" dirty="0">
              <a:latin typeface="Arial" pitchFamily="34" charset="0"/>
              <a:ea typeface="굴림" pitchFamily="50" charset="-127"/>
              <a:cs typeface="Arial" pitchFamily="34" charset="0"/>
            </a:endParaRPr>
          </a:p>
          <a:p>
            <a:pPr eaLnBrk="1" hangingPunct="1">
              <a:defRPr/>
            </a:pPr>
            <a:r>
              <a:rPr lang="en-US" altLang="ko-KR" sz="1800" b="1" dirty="0" err="1">
                <a:solidFill>
                  <a:srgbClr val="FF6699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Shakira</a:t>
            </a:r>
            <a:r>
              <a:rPr lang="en-US" altLang="ko-KR" sz="1800" b="1" dirty="0">
                <a:latin typeface="Arial" pitchFamily="34" charset="0"/>
                <a:ea typeface="굴림" pitchFamily="50" charset="-127"/>
                <a:cs typeface="Arial" pitchFamily="34" charset="0"/>
              </a:rPr>
              <a:t> (looking over Ed's list of classes with high RFC): </a:t>
            </a: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Look, see this class? It's got a high LCOM as well as a high RFC. Two strikes?</a:t>
            </a:r>
            <a:endParaRPr lang="ko-KR" altLang="en-US" sz="1800" dirty="0">
              <a:latin typeface="Arial" pitchFamily="34" charset="0"/>
              <a:ea typeface="굴림" pitchFamily="50" charset="-127"/>
              <a:cs typeface="Arial" pitchFamily="34" charset="0"/>
            </a:endParaRPr>
          </a:p>
          <a:p>
            <a:pPr eaLnBrk="1" hangingPunct="1">
              <a:defRPr/>
            </a:pPr>
            <a:r>
              <a:rPr lang="en-US" altLang="ko-KR" sz="1800" b="1" dirty="0" err="1">
                <a:solidFill>
                  <a:srgbClr val="FF6699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Vinod</a:t>
            </a:r>
            <a:r>
              <a:rPr lang="en-US" altLang="ko-KR" sz="1800" b="1" dirty="0">
                <a:latin typeface="Arial" pitchFamily="34" charset="0"/>
                <a:ea typeface="굴림" pitchFamily="50" charset="-127"/>
                <a:cs typeface="Arial" pitchFamily="34" charset="0"/>
              </a:rPr>
              <a:t>: </a:t>
            </a: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Yeah I think so . . . it'll be difficult to implement because of complexity and difficult to test for the same reason. Probably worth designing two separate classes to achieve the same behavior.</a:t>
            </a:r>
            <a:endParaRPr lang="ko-KR" altLang="en-US" sz="1800" dirty="0">
              <a:latin typeface="Arial" pitchFamily="34" charset="0"/>
              <a:ea typeface="굴림" pitchFamily="50" charset="-127"/>
              <a:cs typeface="Arial" pitchFamily="34" charset="0"/>
            </a:endParaRPr>
          </a:p>
          <a:p>
            <a:pPr eaLnBrk="1" hangingPunct="1">
              <a:defRPr/>
            </a:pPr>
            <a:r>
              <a:rPr lang="en-US" altLang="ko-KR" sz="1800" b="1" dirty="0">
                <a:solidFill>
                  <a:srgbClr val="FF6699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Jamie</a:t>
            </a:r>
            <a:r>
              <a:rPr lang="en-US" altLang="ko-KR" sz="1800" b="1" dirty="0">
                <a:latin typeface="Arial" pitchFamily="34" charset="0"/>
                <a:ea typeface="굴림" pitchFamily="50" charset="-127"/>
                <a:cs typeface="Arial" pitchFamily="34" charset="0"/>
              </a:rPr>
              <a:t>: </a:t>
            </a: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You think modifying it'll save us time? </a:t>
            </a:r>
            <a:endParaRPr lang="ko-KR" altLang="en-US" sz="1800" dirty="0">
              <a:latin typeface="Arial" pitchFamily="34" charset="0"/>
              <a:ea typeface="굴림" pitchFamily="50" charset="-127"/>
              <a:cs typeface="Arial" pitchFamily="34" charset="0"/>
            </a:endParaRPr>
          </a:p>
          <a:p>
            <a:pPr eaLnBrk="1" hangingPunct="1">
              <a:defRPr/>
            </a:pPr>
            <a:r>
              <a:rPr lang="en-US" altLang="ko-KR" sz="1800" b="1" dirty="0" err="1">
                <a:solidFill>
                  <a:srgbClr val="FF6699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Vinod</a:t>
            </a:r>
            <a:r>
              <a:rPr lang="en-US" altLang="ko-KR" sz="1800" b="1" dirty="0">
                <a:latin typeface="Arial" pitchFamily="34" charset="0"/>
                <a:ea typeface="굴림" pitchFamily="50" charset="-127"/>
                <a:cs typeface="Arial" pitchFamily="34" charset="0"/>
              </a:rPr>
              <a:t>: </a:t>
            </a:r>
            <a:r>
              <a:rPr lang="en-US" altLang="ko-KR" sz="1800" dirty="0">
                <a:latin typeface="Arial" pitchFamily="34" charset="0"/>
                <a:ea typeface="굴림" pitchFamily="50" charset="-127"/>
                <a:cs typeface="Arial" pitchFamily="34" charset="0"/>
              </a:rPr>
              <a:t>Over the long haul, yes.</a:t>
            </a:r>
            <a:endParaRPr lang="ko-KR" altLang="en-US" sz="1800" dirty="0">
              <a:latin typeface="Arial" pitchFamily="34" charset="0"/>
              <a:ea typeface="굴림" pitchFamily="50" charset="-127"/>
              <a:cs typeface="Arial" pitchFamily="34" charset="0"/>
            </a:endParaRPr>
          </a:p>
          <a:p>
            <a:pPr eaLnBrk="1" hangingPunct="1">
              <a:defRPr/>
            </a:pPr>
            <a:endParaRPr lang="ko-KR" altLang="en-US" sz="1800" dirty="0">
              <a:latin typeface="Arial" pitchFamily="34" charset="0"/>
              <a:ea typeface="굴림" pitchFamily="50" charset="-127"/>
              <a:cs typeface="Arial" pitchFamily="34" charset="0"/>
            </a:endParaRPr>
          </a:p>
        </p:txBody>
      </p:sp>
      <p:sp>
        <p:nvSpPr>
          <p:cNvPr id="28678" name="바닥글 개체 틀 4"/>
          <p:cNvSpPr txBox="1">
            <a:spLocks noGrp="1"/>
          </p:cNvSpPr>
          <p:nvPr/>
        </p:nvSpPr>
        <p:spPr bwMode="auto">
          <a:xfrm>
            <a:off x="933450" y="5759450"/>
            <a:ext cx="1500188" cy="249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b"/>
          <a:lstStyle/>
          <a:p>
            <a:pPr>
              <a:spcBef>
                <a:spcPct val="50000"/>
              </a:spcBef>
            </a:pPr>
            <a:endParaRPr lang="en-US" altLang="ko-KR" sz="1000" b="0" dirty="0">
              <a:solidFill>
                <a:schemeClr val="bg1"/>
              </a:solidFill>
              <a:latin typeface="Avant Garde" charset="0"/>
              <a:ea typeface="굴림" pitchFamily="50" charset="-127"/>
            </a:endParaRPr>
          </a:p>
        </p:txBody>
      </p:sp>
      <p:sp>
        <p:nvSpPr>
          <p:cNvPr id="28679" name="슬라이드 번호 개체 틀 5"/>
          <p:cNvSpPr txBox="1">
            <a:spLocks noGrp="1"/>
          </p:cNvSpPr>
          <p:nvPr/>
        </p:nvSpPr>
        <p:spPr bwMode="auto">
          <a:xfrm>
            <a:off x="8239125" y="5554663"/>
            <a:ext cx="631825" cy="422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b"/>
          <a:lstStyle/>
          <a:p>
            <a:pPr algn="r" eaLnBrk="1" hangingPunct="1">
              <a:lnSpc>
                <a:spcPct val="100000"/>
              </a:lnSpc>
            </a:pPr>
            <a:fld id="{2E822A8D-3C79-409B-93C7-1D49FEC37FF7}" type="slidenum">
              <a:rPr lang="ko-KR" altLang="en-US" sz="1200" b="0">
                <a:latin typeface="Arial" charset="0"/>
                <a:ea typeface="굴림" pitchFamily="50" charset="-127"/>
              </a:rPr>
              <a:pPr algn="r" eaLnBrk="1" hangingPunct="1">
                <a:lnSpc>
                  <a:spcPct val="100000"/>
                </a:lnSpc>
              </a:pPr>
              <a:t>27</a:t>
            </a:fld>
            <a:endParaRPr lang="en-US" altLang="ko-KR" sz="1200" b="0">
              <a:latin typeface="Arial" charset="0"/>
              <a:ea typeface="굴림" pitchFamily="50" charset="-127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바닥글 개체 틀 3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/>
          <a:p>
            <a:endParaRPr lang="en-US" altLang="ko-KR" dirty="0"/>
          </a:p>
        </p:txBody>
      </p:sp>
      <p:sp>
        <p:nvSpPr>
          <p:cNvPr id="29699" name="슬라이드 번호 개체 틀 4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21C72FD7-F16C-4D4C-884D-1FBBAA38372B}" type="slidenum">
              <a:rPr lang="ko-KR" altLang="en-US" smtClean="0"/>
              <a:pPr/>
              <a:t>28</a:t>
            </a:fld>
            <a:endParaRPr lang="en-US" altLang="ko-KR"/>
          </a:p>
        </p:txBody>
      </p:sp>
      <p:sp>
        <p:nvSpPr>
          <p:cNvPr id="1314818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1289050" y="244475"/>
            <a:ext cx="6564313" cy="10160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ko-KR">
                <a:latin typeface="Arial" pitchFamily="34" charset="0"/>
                <a:ea typeface="굴림" pitchFamily="50" charset="-127"/>
                <a:cs typeface="Arial" pitchFamily="34" charset="0"/>
              </a:rPr>
              <a:t>Class-Oriented Metrics</a:t>
            </a:r>
          </a:p>
        </p:txBody>
      </p:sp>
      <p:sp>
        <p:nvSpPr>
          <p:cNvPr id="1314819" name="Rectangle 3"/>
          <p:cNvSpPr>
            <a:spLocks noGrp="1" noRot="1" noChangeArrowheads="1"/>
          </p:cNvSpPr>
          <p:nvPr>
            <p:ph type="body" idx="1"/>
          </p:nvPr>
        </p:nvSpPr>
        <p:spPr>
          <a:xfrm>
            <a:off x="484188" y="2130425"/>
            <a:ext cx="8351837" cy="352425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Method inheritance factor (MIF) MIF = </a:t>
            </a:r>
            <a:r>
              <a:rPr lang="en-US" altLang="ko-KR" sz="2000" b="1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∑ M</a:t>
            </a:r>
            <a:r>
              <a:rPr lang="en-US" altLang="ko-KR" sz="2000" b="1" baseline="-25000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i</a:t>
            </a:r>
            <a:r>
              <a:rPr lang="en-US" altLang="ko-KR" sz="2000" b="1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(</a:t>
            </a:r>
            <a:r>
              <a:rPr lang="en-US" altLang="ko-KR" sz="2000" b="1" dirty="0" err="1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C</a:t>
            </a:r>
            <a:r>
              <a:rPr lang="en-US" altLang="ko-KR" sz="2000" b="1" baseline="-25000" dirty="0" err="1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i</a:t>
            </a:r>
            <a:r>
              <a:rPr lang="en-US" altLang="ko-KR" sz="2000" b="1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)/ ∑M</a:t>
            </a:r>
            <a:r>
              <a:rPr lang="en-US" altLang="ko-KR" sz="2000" b="1" baseline="-25000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a</a:t>
            </a:r>
            <a:r>
              <a:rPr lang="en-US" altLang="ko-KR" sz="2000" b="1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(</a:t>
            </a:r>
            <a:r>
              <a:rPr lang="en-US" altLang="ko-KR" sz="2000" b="1" dirty="0" err="1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C</a:t>
            </a:r>
            <a:r>
              <a:rPr lang="en-US" altLang="ko-KR" sz="2000" b="1" baseline="-25000" dirty="0" err="1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i</a:t>
            </a:r>
            <a:r>
              <a:rPr lang="en-US" altLang="ko-KR" sz="2000" b="1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) </a:t>
            </a:r>
          </a:p>
          <a:p>
            <a:pPr lvl="1" eaLnBrk="1" hangingPunct="1">
              <a:defRPr/>
            </a:pPr>
            <a:r>
              <a:rPr lang="en-US" altLang="ko-KR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M</a:t>
            </a:r>
            <a:r>
              <a:rPr lang="en-US" altLang="ko-KR" baseline="-25000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i</a:t>
            </a:r>
            <a:r>
              <a:rPr lang="en-US" altLang="ko-KR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(</a:t>
            </a:r>
            <a:r>
              <a:rPr lang="en-US" altLang="ko-KR" dirty="0" err="1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C</a:t>
            </a:r>
            <a:r>
              <a:rPr lang="en-US" altLang="ko-KR" baseline="-25000" dirty="0" err="1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i</a:t>
            </a:r>
            <a:r>
              <a:rPr lang="en-US" altLang="ko-KR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) = the # of methods inherited (and not overridden) in </a:t>
            </a:r>
            <a:r>
              <a:rPr lang="en-US" altLang="ko-KR" dirty="0" err="1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C</a:t>
            </a:r>
            <a:r>
              <a:rPr lang="en-US" altLang="ko-KR" baseline="-25000" dirty="0" err="1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i</a:t>
            </a:r>
            <a:endParaRPr lang="en-US" altLang="ko-KR" dirty="0">
              <a:effectLst/>
              <a:latin typeface="Arial" pitchFamily="34" charset="0"/>
              <a:ea typeface="굴림" pitchFamily="50" charset="-127"/>
              <a:cs typeface="Arial" pitchFamily="34" charset="0"/>
            </a:endParaRPr>
          </a:p>
          <a:p>
            <a:pPr lvl="1" eaLnBrk="1" hangingPunct="1">
              <a:defRPr/>
            </a:pPr>
            <a:r>
              <a:rPr lang="en-US" altLang="ko-KR" dirty="0" err="1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M</a:t>
            </a:r>
            <a:r>
              <a:rPr lang="en-US" altLang="ko-KR" baseline="-25000" dirty="0" err="1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d</a:t>
            </a:r>
            <a:r>
              <a:rPr lang="en-US" altLang="ko-KR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(</a:t>
            </a:r>
            <a:r>
              <a:rPr lang="en-US" altLang="ko-KR" dirty="0" err="1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C</a:t>
            </a:r>
            <a:r>
              <a:rPr lang="en-US" altLang="ko-KR" baseline="-25000" dirty="0" err="1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i</a:t>
            </a:r>
            <a:r>
              <a:rPr lang="en-US" altLang="ko-KR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) = the # of methods declared in the class </a:t>
            </a:r>
            <a:r>
              <a:rPr lang="en-US" altLang="ko-KR" dirty="0" err="1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C</a:t>
            </a:r>
            <a:r>
              <a:rPr lang="en-US" altLang="ko-KR" baseline="-25000" dirty="0" err="1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i</a:t>
            </a:r>
            <a:endParaRPr lang="en-US" altLang="ko-KR" baseline="-25000" dirty="0">
              <a:effectLst/>
              <a:latin typeface="Arial" pitchFamily="34" charset="0"/>
              <a:ea typeface="굴림" pitchFamily="50" charset="-127"/>
              <a:cs typeface="Arial" pitchFamily="34" charset="0"/>
            </a:endParaRPr>
          </a:p>
          <a:p>
            <a:pPr lvl="1" eaLnBrk="1" hangingPunct="1">
              <a:defRPr/>
            </a:pPr>
            <a:r>
              <a:rPr lang="en-US" altLang="ko-KR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M</a:t>
            </a:r>
            <a:r>
              <a:rPr lang="en-US" altLang="ko-KR" baseline="-25000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a</a:t>
            </a:r>
            <a:r>
              <a:rPr lang="en-US" altLang="ko-KR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(</a:t>
            </a:r>
            <a:r>
              <a:rPr lang="en-US" altLang="ko-KR" dirty="0" err="1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C</a:t>
            </a:r>
            <a:r>
              <a:rPr lang="en-US" altLang="ko-KR" baseline="-25000" dirty="0" err="1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i</a:t>
            </a:r>
            <a:r>
              <a:rPr lang="en-US" altLang="ko-KR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) = </a:t>
            </a:r>
            <a:r>
              <a:rPr lang="en-US" altLang="ko-KR" dirty="0" err="1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M</a:t>
            </a:r>
            <a:r>
              <a:rPr lang="en-US" altLang="ko-KR" baseline="-25000" dirty="0" err="1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d</a:t>
            </a:r>
            <a:r>
              <a:rPr lang="en-US" altLang="ko-KR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(</a:t>
            </a:r>
            <a:r>
              <a:rPr lang="en-US" altLang="ko-KR" dirty="0" err="1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C</a:t>
            </a:r>
            <a:r>
              <a:rPr lang="en-US" altLang="ko-KR" baseline="-25000" dirty="0" err="1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i</a:t>
            </a:r>
            <a:r>
              <a:rPr lang="en-US" altLang="ko-KR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) + M</a:t>
            </a:r>
            <a:r>
              <a:rPr lang="en-US" altLang="ko-KR" baseline="-25000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i</a:t>
            </a:r>
            <a:r>
              <a:rPr lang="en-US" altLang="ko-KR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(</a:t>
            </a:r>
            <a:r>
              <a:rPr lang="en-US" altLang="ko-KR" dirty="0" err="1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C</a:t>
            </a:r>
            <a:r>
              <a:rPr lang="en-US" altLang="ko-KR" baseline="-25000" dirty="0" err="1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i</a:t>
            </a:r>
            <a:r>
              <a:rPr lang="en-US" altLang="ko-KR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) </a:t>
            </a:r>
          </a:p>
          <a:p>
            <a:pPr eaLnBrk="1" hangingPunct="1"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Coupling factor CF = </a:t>
            </a:r>
            <a:r>
              <a:rPr lang="en-US" altLang="ko-KR" sz="2000" b="1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∑ ∑ </a:t>
            </a:r>
            <a:r>
              <a:rPr lang="en-US" altLang="ko-KR" sz="2000" b="1" dirty="0" err="1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is_client</a:t>
            </a:r>
            <a:r>
              <a:rPr lang="en-US" altLang="ko-KR" sz="2000" b="1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(</a:t>
            </a:r>
            <a:r>
              <a:rPr lang="en-US" altLang="ko-KR" sz="2000" b="1" dirty="0" err="1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C</a:t>
            </a:r>
            <a:r>
              <a:rPr lang="en-US" altLang="ko-KR" sz="2000" b="1" baseline="-25000" dirty="0" err="1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i</a:t>
            </a:r>
            <a:r>
              <a:rPr lang="en-US" altLang="ko-KR" sz="2000" b="1" dirty="0" err="1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,C</a:t>
            </a:r>
            <a:r>
              <a:rPr lang="en-US" altLang="ko-KR" sz="2000" b="1" baseline="-25000" dirty="0" err="1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j</a:t>
            </a:r>
            <a:r>
              <a:rPr lang="en-US" altLang="ko-KR" sz="2000" b="1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)/ (T</a:t>
            </a:r>
            <a:r>
              <a:rPr lang="en-US" altLang="ko-KR" sz="2000" b="1" baseline="-25000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c</a:t>
            </a:r>
            <a:r>
              <a:rPr lang="en-US" altLang="ko-KR" sz="2000" b="1" baseline="30000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2</a:t>
            </a:r>
            <a:r>
              <a:rPr lang="en-US" altLang="ko-KR" sz="2000" b="1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-T</a:t>
            </a:r>
            <a:r>
              <a:rPr lang="en-US" altLang="ko-KR" sz="2000" b="1" baseline="-25000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c</a:t>
            </a:r>
            <a:r>
              <a:rPr lang="en-US" altLang="ko-KR" sz="2000" b="1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)</a:t>
            </a:r>
          </a:p>
          <a:p>
            <a:pPr lvl="1" eaLnBrk="1" hangingPunct="1">
              <a:defRPr/>
            </a:pPr>
            <a:r>
              <a:rPr lang="en-US" altLang="ko-KR" sz="1600" b="1" dirty="0" err="1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Is_client</a:t>
            </a:r>
            <a:r>
              <a:rPr lang="en-US" altLang="ko-KR" sz="1600" b="1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 = 1 if and only if a relationship exists between the client class C</a:t>
            </a:r>
            <a:r>
              <a:rPr lang="en-US" altLang="ko-KR" sz="1600" b="1" baseline="-25000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c </a:t>
            </a:r>
            <a:r>
              <a:rPr lang="en-US" altLang="ko-KR" sz="1600" b="1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and C</a:t>
            </a:r>
            <a:r>
              <a:rPr lang="en-US" altLang="ko-KR" sz="1600" b="1" baseline="-25000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s</a:t>
            </a:r>
            <a:r>
              <a:rPr lang="en-US" altLang="ko-KR" sz="1600" b="1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 (C</a:t>
            </a:r>
            <a:r>
              <a:rPr lang="en-US" altLang="ko-KR" sz="1600" b="1" baseline="-25000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c </a:t>
            </a:r>
            <a:r>
              <a:rPr lang="en-US" altLang="ko-KR" sz="1600" b="1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 != C</a:t>
            </a:r>
            <a:r>
              <a:rPr lang="en-US" altLang="ko-KR" sz="1600" b="1" baseline="-25000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s</a:t>
            </a:r>
            <a:r>
              <a:rPr lang="en-US" altLang="ko-KR" sz="1600" b="1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)</a:t>
            </a:r>
          </a:p>
          <a:p>
            <a:pPr lvl="1" eaLnBrk="1" hangingPunct="1">
              <a:defRPr/>
            </a:pPr>
            <a:r>
              <a:rPr lang="en-US" altLang="ko-KR" sz="1600" b="1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High CF makes trouble to understandability, maintainability and reusability.</a:t>
            </a:r>
          </a:p>
          <a:p>
            <a:pPr lvl="1" eaLnBrk="1" hangingPunct="1">
              <a:defRPr/>
            </a:pPr>
            <a:endParaRPr lang="en-US" altLang="ko-KR" sz="1600" b="1" baseline="-25000" dirty="0">
              <a:effectLst/>
              <a:latin typeface="Arial" pitchFamily="34" charset="0"/>
              <a:ea typeface="굴림" pitchFamily="50" charset="-127"/>
              <a:cs typeface="Arial" pitchFamily="34" charset="0"/>
            </a:endParaRPr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altLang="ko-KR" sz="2000" b="1" dirty="0">
                <a:effectLst/>
                <a:latin typeface="Arial" pitchFamily="34" charset="0"/>
                <a:ea typeface="굴림" pitchFamily="50" charset="-127"/>
                <a:cs typeface="Arial" pitchFamily="34" charset="0"/>
              </a:rPr>
              <a:t>	 </a:t>
            </a:r>
            <a:endParaRPr lang="en-US" altLang="ko-KR" dirty="0">
              <a:latin typeface="Arial" pitchFamily="34" charset="0"/>
              <a:ea typeface="굴림" pitchFamily="50" charset="-127"/>
              <a:cs typeface="Arial" pitchFamily="34" charset="0"/>
            </a:endParaRPr>
          </a:p>
        </p:txBody>
      </p:sp>
      <p:sp>
        <p:nvSpPr>
          <p:cNvPr id="1314820" name="Rectangle 4"/>
          <p:cNvSpPr>
            <a:spLocks noChangeArrowheads="1"/>
          </p:cNvSpPr>
          <p:nvPr/>
        </p:nvSpPr>
        <p:spPr bwMode="auto">
          <a:xfrm>
            <a:off x="1125538" y="1339850"/>
            <a:ext cx="3587750" cy="420688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 sz="2400" b="0" i="1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Palatino" charset="0"/>
                <a:ea typeface="굴림" pitchFamily="50" charset="-127"/>
              </a:rPr>
              <a:t>The MOOD Metrics Suite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바닥글 개체 틀 3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/>
          <a:p>
            <a:endParaRPr lang="en-US" altLang="ko-KR" dirty="0"/>
          </a:p>
        </p:txBody>
      </p:sp>
      <p:sp>
        <p:nvSpPr>
          <p:cNvPr id="31747" name="슬라이드 번호 개체 틀 4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67D3CD11-8914-421A-A7DC-A259B2F3EA9F}" type="slidenum">
              <a:rPr lang="ko-KR" altLang="en-US" smtClean="0"/>
              <a:pPr/>
              <a:t>29</a:t>
            </a:fld>
            <a:endParaRPr lang="en-US" altLang="ko-KR"/>
          </a:p>
        </p:txBody>
      </p:sp>
      <p:sp>
        <p:nvSpPr>
          <p:cNvPr id="1316866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938213" y="352425"/>
            <a:ext cx="7467600" cy="5334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ko-KR">
                <a:latin typeface="Arial" pitchFamily="34" charset="0"/>
                <a:ea typeface="굴림" pitchFamily="50" charset="-127"/>
                <a:cs typeface="Arial" pitchFamily="34" charset="0"/>
              </a:rPr>
              <a:t>Component-Level Design Metrics</a:t>
            </a:r>
          </a:p>
        </p:txBody>
      </p:sp>
      <p:sp>
        <p:nvSpPr>
          <p:cNvPr id="1316867" name="Rectangle 3"/>
          <p:cNvSpPr>
            <a:spLocks noGrp="1" noRot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Cohesion metrics</a:t>
            </a:r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altLang="ko-KR">
                <a:latin typeface="Arial" pitchFamily="34" charset="0"/>
                <a:ea typeface="굴림" pitchFamily="50" charset="-127"/>
                <a:cs typeface="Arial" pitchFamily="34" charset="0"/>
              </a:rPr>
              <a:t>	a function of data objects and the locus of their definition</a:t>
            </a:r>
          </a:p>
          <a:p>
            <a:pPr eaLnBrk="1" hangingPunct="1">
              <a:defRPr/>
            </a:pPr>
            <a:r>
              <a:rPr lang="en-US" altLang="ko-KR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Coupling metrics</a:t>
            </a:r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altLang="ko-KR">
                <a:latin typeface="Arial" pitchFamily="34" charset="0"/>
                <a:ea typeface="굴림" pitchFamily="50" charset="-127"/>
                <a:cs typeface="Arial" pitchFamily="34" charset="0"/>
              </a:rPr>
              <a:t>	a function of input and output parameters, global variables, and modules called</a:t>
            </a:r>
          </a:p>
          <a:p>
            <a:pPr eaLnBrk="1" hangingPunct="1">
              <a:defRPr/>
            </a:pPr>
            <a:r>
              <a:rPr lang="en-US" altLang="ko-KR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Complexity metrics</a:t>
            </a:r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altLang="ko-KR">
                <a:latin typeface="Arial" pitchFamily="34" charset="0"/>
                <a:ea typeface="굴림" pitchFamily="50" charset="-127"/>
                <a:cs typeface="Arial" pitchFamily="34" charset="0"/>
              </a:rPr>
              <a:t>	hundreds have been proposed (e.g., cyclomatic complexity)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바닥글 개체 틀 3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/>
          <a:p>
            <a:endParaRPr lang="en-US" altLang="ko-KR" dirty="0"/>
          </a:p>
        </p:txBody>
      </p:sp>
      <p:sp>
        <p:nvSpPr>
          <p:cNvPr id="32771" name="슬라이드 번호 개체 틀 4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B5627AB8-CA57-47C2-8C52-681555CDC60B}" type="slidenum">
              <a:rPr lang="ko-KR" altLang="en-US" smtClean="0"/>
              <a:pPr/>
              <a:t>30</a:t>
            </a:fld>
            <a:endParaRPr lang="en-US" altLang="ko-KR"/>
          </a:p>
        </p:txBody>
      </p:sp>
      <p:sp>
        <p:nvSpPr>
          <p:cNvPr id="1315842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1479550" y="244475"/>
            <a:ext cx="6184900" cy="600075"/>
          </a:xfrm>
        </p:spPr>
        <p:txBody>
          <a:bodyPr wrap="none" lIns="63500" tIns="25400" rIns="63500" bIns="25400" anchor="t">
            <a:spAutoFit/>
          </a:bodyPr>
          <a:lstStyle/>
          <a:p>
            <a:pPr eaLnBrk="1" hangingPunct="1">
              <a:defRPr/>
            </a:pPr>
            <a:r>
              <a:rPr lang="en-US" altLang="ko-KR">
                <a:latin typeface="Arial" pitchFamily="34" charset="0"/>
                <a:ea typeface="굴림" pitchFamily="50" charset="-127"/>
                <a:cs typeface="Arial" pitchFamily="34" charset="0"/>
              </a:rPr>
              <a:t>Operation-Oriented Metrics</a:t>
            </a:r>
          </a:p>
        </p:txBody>
      </p:sp>
      <p:sp>
        <p:nvSpPr>
          <p:cNvPr id="1315843" name="Rectangle 3"/>
          <p:cNvSpPr>
            <a:spLocks noGrp="1" noRot="1" noChangeArrowheads="1"/>
          </p:cNvSpPr>
          <p:nvPr>
            <p:ph type="body" idx="1"/>
          </p:nvPr>
        </p:nvSpPr>
        <p:spPr>
          <a:xfrm>
            <a:off x="1458913" y="1847850"/>
            <a:ext cx="7239000" cy="1816100"/>
          </a:xfrm>
        </p:spPr>
        <p:txBody>
          <a:bodyPr lIns="90487" tIns="44450" rIns="90487" bIns="44450"/>
          <a:lstStyle/>
          <a:p>
            <a:pPr eaLnBrk="1" hangingPunct="1">
              <a:defRPr/>
            </a:pPr>
            <a:r>
              <a:rPr lang="en-US" altLang="ko-KR">
                <a:latin typeface="Arial" pitchFamily="34" charset="0"/>
                <a:ea typeface="굴림" pitchFamily="50" charset="-127"/>
                <a:cs typeface="Arial" pitchFamily="34" charset="0"/>
              </a:rPr>
              <a:t>average operation size</a:t>
            </a:r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altLang="ko-KR">
                <a:latin typeface="Arial" pitchFamily="34" charset="0"/>
                <a:ea typeface="굴림" pitchFamily="50" charset="-127"/>
                <a:cs typeface="Arial" pitchFamily="34" charset="0"/>
              </a:rPr>
              <a:t>	# of messages sent by the operation</a:t>
            </a:r>
          </a:p>
          <a:p>
            <a:pPr eaLnBrk="1" hangingPunct="1">
              <a:defRPr/>
            </a:pPr>
            <a:r>
              <a:rPr lang="en-US" altLang="ko-KR">
                <a:latin typeface="Arial" pitchFamily="34" charset="0"/>
                <a:ea typeface="굴림" pitchFamily="50" charset="-127"/>
                <a:cs typeface="Arial" pitchFamily="34" charset="0"/>
              </a:rPr>
              <a:t>operation complexity</a:t>
            </a:r>
          </a:p>
          <a:p>
            <a:pPr eaLnBrk="1" hangingPunct="1">
              <a:defRPr/>
            </a:pPr>
            <a:r>
              <a:rPr lang="en-US" altLang="ko-KR">
                <a:latin typeface="Arial" pitchFamily="34" charset="0"/>
                <a:ea typeface="굴림" pitchFamily="50" charset="-127"/>
                <a:cs typeface="Arial" pitchFamily="34" charset="0"/>
              </a:rPr>
              <a:t>average number of parameters per operation</a:t>
            </a:r>
          </a:p>
        </p:txBody>
      </p:sp>
      <p:sp>
        <p:nvSpPr>
          <p:cNvPr id="1315844" name="Rectangle 4"/>
          <p:cNvSpPr>
            <a:spLocks noChangeArrowheads="1"/>
          </p:cNvSpPr>
          <p:nvPr/>
        </p:nvSpPr>
        <p:spPr bwMode="auto">
          <a:xfrm>
            <a:off x="1127125" y="1241425"/>
            <a:ext cx="5503863" cy="417513"/>
          </a:xfrm>
          <a:prstGeom prst="rect">
            <a:avLst/>
          </a:prstGeom>
          <a:noFill/>
          <a:ln w="25400">
            <a:noFill/>
            <a:miter lim="800000"/>
            <a:headEnd/>
            <a:tailEnd/>
          </a:ln>
          <a:effectLst/>
        </p:spPr>
        <p:txBody>
          <a:bodyPr wrap="none" lIns="90487" tIns="44450" rIns="90487" bIns="44450">
            <a:spAutoFit/>
          </a:bodyPr>
          <a:lstStyle/>
          <a:p>
            <a:pPr>
              <a:defRPr/>
            </a:pPr>
            <a:r>
              <a:rPr lang="en-US" altLang="ko-KR" sz="2400" b="0" i="1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Palatino" charset="0"/>
                <a:ea typeface="굴림" pitchFamily="50" charset="-127"/>
              </a:rPr>
              <a:t>Proposed by Lorenz and Kidd [LOR94]:</a:t>
            </a:r>
            <a:endParaRPr lang="en-US" altLang="ko-KR" sz="2400" b="0">
              <a:solidFill>
                <a:srgbClr val="FF9933"/>
              </a:solidFill>
              <a:ea typeface="굴림" pitchFamily="50" charset="-127"/>
            </a:endParaRPr>
          </a:p>
        </p:txBody>
      </p:sp>
    </p:spTree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latin typeface="Arial" pitchFamily="34" charset="0"/>
                <a:cs typeface="Arial" pitchFamily="34" charset="0"/>
              </a:rPr>
              <a:t>Metrics for Source Code</a:t>
            </a:r>
            <a:endParaRPr lang="ko-KR" alt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320802"/>
            <a:ext cx="8229600" cy="3998913"/>
          </a:xfrm>
        </p:spPr>
        <p:txBody>
          <a:bodyPr/>
          <a:lstStyle/>
          <a:p>
            <a:r>
              <a:rPr lang="en-US" altLang="ko-KR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Halstead’s Software Science:  </a:t>
            </a: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a comprehensive collection of metrics based on the number (count and occurrence) of operators and operands within a component or program</a:t>
            </a:r>
          </a:p>
          <a:p>
            <a:pPr lvl="1"/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n</a:t>
            </a:r>
            <a:r>
              <a:rPr lang="en-US" altLang="ko-KR" baseline="-25000" dirty="0">
                <a:latin typeface="Arial" pitchFamily="34" charset="0"/>
                <a:ea typeface="굴림" pitchFamily="50" charset="-127"/>
                <a:cs typeface="Arial" pitchFamily="34" charset="0"/>
              </a:rPr>
              <a:t>1</a:t>
            </a: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: # of distinct operators that appears in a program</a:t>
            </a:r>
          </a:p>
          <a:p>
            <a:pPr lvl="1"/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n</a:t>
            </a:r>
            <a:r>
              <a:rPr lang="en-US" altLang="ko-KR" baseline="-25000" dirty="0">
                <a:latin typeface="Arial" pitchFamily="34" charset="0"/>
                <a:ea typeface="굴림" pitchFamily="50" charset="-127"/>
                <a:cs typeface="Arial" pitchFamily="34" charset="0"/>
              </a:rPr>
              <a:t>2</a:t>
            </a: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: # of distinct operands that appears in a program</a:t>
            </a:r>
          </a:p>
          <a:p>
            <a:pPr lvl="1"/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N</a:t>
            </a:r>
            <a:r>
              <a:rPr lang="en-US" altLang="ko-KR" baseline="-25000" dirty="0">
                <a:latin typeface="Arial" pitchFamily="34" charset="0"/>
                <a:ea typeface="굴림" pitchFamily="50" charset="-127"/>
                <a:cs typeface="Arial" pitchFamily="34" charset="0"/>
              </a:rPr>
              <a:t>1</a:t>
            </a: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: # of operator occurrences</a:t>
            </a:r>
          </a:p>
          <a:p>
            <a:pPr lvl="1"/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N</a:t>
            </a:r>
            <a:r>
              <a:rPr lang="en-US" altLang="ko-KR" baseline="-25000" dirty="0">
                <a:latin typeface="Arial" pitchFamily="34" charset="0"/>
                <a:ea typeface="굴림" pitchFamily="50" charset="-127"/>
                <a:cs typeface="Arial" pitchFamily="34" charset="0"/>
              </a:rPr>
              <a:t>2</a:t>
            </a: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: # of operand occurrences</a:t>
            </a:r>
          </a:p>
          <a:p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Program length N = n</a:t>
            </a:r>
            <a:r>
              <a:rPr lang="en-US" altLang="ko-KR" baseline="-25000" dirty="0">
                <a:latin typeface="Arial" pitchFamily="34" charset="0"/>
                <a:ea typeface="굴림" pitchFamily="50" charset="-127"/>
                <a:cs typeface="Arial" pitchFamily="34" charset="0"/>
              </a:rPr>
              <a:t>1</a:t>
            </a: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 log</a:t>
            </a:r>
            <a:r>
              <a:rPr lang="en-US" altLang="ko-KR" baseline="-25000" dirty="0">
                <a:latin typeface="Arial" pitchFamily="34" charset="0"/>
                <a:ea typeface="굴림" pitchFamily="50" charset="-127"/>
                <a:cs typeface="Arial" pitchFamily="34" charset="0"/>
              </a:rPr>
              <a:t>2</a:t>
            </a: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 n</a:t>
            </a:r>
            <a:r>
              <a:rPr lang="en-US" altLang="ko-KR" baseline="-25000" dirty="0">
                <a:latin typeface="Arial" pitchFamily="34" charset="0"/>
                <a:ea typeface="굴림" pitchFamily="50" charset="-127"/>
                <a:cs typeface="Arial" pitchFamily="34" charset="0"/>
              </a:rPr>
              <a:t>1</a:t>
            </a: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 + n</a:t>
            </a:r>
            <a:r>
              <a:rPr lang="en-US" altLang="ko-KR" baseline="-25000" dirty="0">
                <a:latin typeface="Arial" pitchFamily="34" charset="0"/>
                <a:ea typeface="굴림" pitchFamily="50" charset="-127"/>
                <a:cs typeface="Arial" pitchFamily="34" charset="0"/>
              </a:rPr>
              <a:t>2</a:t>
            </a: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 log</a:t>
            </a:r>
            <a:r>
              <a:rPr lang="en-US" altLang="ko-KR" baseline="-25000" dirty="0">
                <a:latin typeface="Arial" pitchFamily="34" charset="0"/>
                <a:ea typeface="굴림" pitchFamily="50" charset="-127"/>
                <a:cs typeface="Arial" pitchFamily="34" charset="0"/>
              </a:rPr>
              <a:t>2</a:t>
            </a: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 n</a:t>
            </a:r>
            <a:r>
              <a:rPr lang="en-US" altLang="ko-KR" baseline="-25000" dirty="0">
                <a:latin typeface="Arial" pitchFamily="34" charset="0"/>
                <a:ea typeface="굴림" pitchFamily="50" charset="-127"/>
                <a:cs typeface="Arial" pitchFamily="34" charset="0"/>
              </a:rPr>
              <a:t>2</a:t>
            </a:r>
            <a:endParaRPr lang="en-US" altLang="ko-KR" dirty="0">
              <a:latin typeface="Arial" pitchFamily="34" charset="0"/>
              <a:ea typeface="굴림" pitchFamily="50" charset="-127"/>
              <a:cs typeface="Arial" pitchFamily="34" charset="0"/>
            </a:endParaRPr>
          </a:p>
          <a:p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Program volume V</a:t>
            </a:r>
            <a:r>
              <a:rPr lang="en-US" altLang="ko-KR">
                <a:latin typeface="Arial" pitchFamily="34" charset="0"/>
                <a:ea typeface="굴림" pitchFamily="50" charset="-127"/>
                <a:cs typeface="Arial" pitchFamily="34" charset="0"/>
              </a:rPr>
              <a:t>= N </a:t>
            </a: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log</a:t>
            </a:r>
            <a:r>
              <a:rPr lang="en-US" altLang="ko-KR" baseline="-25000" dirty="0">
                <a:latin typeface="Arial" pitchFamily="34" charset="0"/>
                <a:ea typeface="굴림" pitchFamily="50" charset="-127"/>
                <a:cs typeface="Arial" pitchFamily="34" charset="0"/>
              </a:rPr>
              <a:t>2</a:t>
            </a: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 (n</a:t>
            </a:r>
            <a:r>
              <a:rPr lang="en-US" altLang="ko-KR" baseline="-25000" dirty="0">
                <a:latin typeface="Arial" pitchFamily="34" charset="0"/>
                <a:ea typeface="굴림" pitchFamily="50" charset="-127"/>
                <a:cs typeface="Arial" pitchFamily="34" charset="0"/>
              </a:rPr>
              <a:t>1 </a:t>
            </a: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+ n</a:t>
            </a:r>
            <a:r>
              <a:rPr lang="en-US" altLang="ko-KR" baseline="-25000" dirty="0">
                <a:latin typeface="Arial" pitchFamily="34" charset="0"/>
                <a:ea typeface="굴림" pitchFamily="50" charset="-127"/>
                <a:cs typeface="Arial" pitchFamily="34" charset="0"/>
              </a:rPr>
              <a:t>2</a:t>
            </a: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)</a:t>
            </a:r>
          </a:p>
          <a:p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And many more metrics</a:t>
            </a:r>
          </a:p>
          <a:p>
            <a:pPr lvl="1">
              <a:buNone/>
            </a:pPr>
            <a:endParaRPr lang="en-US" altLang="ko-KR" dirty="0">
              <a:latin typeface="Arial" pitchFamily="34" charset="0"/>
              <a:ea typeface="굴림" pitchFamily="50" charset="-127"/>
              <a:cs typeface="Arial" pitchFamily="34" charset="0"/>
            </a:endParaRPr>
          </a:p>
          <a:p>
            <a:pPr lvl="1"/>
            <a:endParaRPr lang="en-US" altLang="ko-KR" dirty="0">
              <a:latin typeface="Arial" pitchFamily="34" charset="0"/>
              <a:ea typeface="굴림" pitchFamily="50" charset="-127"/>
              <a:cs typeface="Arial" pitchFamily="34" charset="0"/>
            </a:endParaRPr>
          </a:p>
          <a:p>
            <a:pPr lvl="1"/>
            <a:endParaRPr lang="en-US" altLang="ko-KR" dirty="0">
              <a:latin typeface="Arial" pitchFamily="34" charset="0"/>
              <a:ea typeface="굴림" pitchFamily="50" charset="-127"/>
              <a:cs typeface="Arial" pitchFamily="34" charset="0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en-US" altLang="ko-KR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C875E70-5D8F-49A8-ADA8-ABFCCCCAF9DD}" type="slidenum">
              <a:rPr lang="ko-KR" altLang="en-US" smtClean="0">
                <a:latin typeface="Arial" pitchFamily="34" charset="0"/>
                <a:cs typeface="Arial" pitchFamily="34" charset="0"/>
              </a:rPr>
              <a:pPr>
                <a:defRPr/>
              </a:pPr>
              <a:t>31</a:t>
            </a:fld>
            <a:endParaRPr lang="en-US" altLang="ko-KR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바닥글 개체 틀 3"/>
          <p:cNvSpPr>
            <a:spLocks noGrp="1"/>
          </p:cNvSpPr>
          <p:nvPr>
            <p:ph type="ftr" sz="quarter" idx="4294967295"/>
          </p:nvPr>
        </p:nvSpPr>
        <p:spPr>
          <a:xfrm>
            <a:off x="933450" y="5759450"/>
            <a:ext cx="1500188" cy="249238"/>
          </a:xfrm>
          <a:prstGeom prst="rect">
            <a:avLst/>
          </a:prstGeom>
          <a:noFill/>
        </p:spPr>
        <p:txBody>
          <a:bodyPr/>
          <a:lstStyle/>
          <a:p>
            <a:r>
              <a:rPr lang="en-US" altLang="ko-KR" dirty="0">
                <a:solidFill>
                  <a:srgbClr val="FFFFFF"/>
                </a:solidFill>
              </a:rPr>
              <a:t>CS350   </a:t>
            </a:r>
          </a:p>
        </p:txBody>
      </p:sp>
      <p:sp>
        <p:nvSpPr>
          <p:cNvPr id="32771" name="슬라이드 번호 개체 틀 4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408D879A-985F-41B7-9982-90C4763A1AAC}" type="slidenum">
              <a:rPr lang="ko-KR" altLang="en-US" smtClean="0">
                <a:solidFill>
                  <a:srgbClr val="003399"/>
                </a:solidFill>
              </a:rPr>
              <a:pPr/>
              <a:t>32</a:t>
            </a:fld>
            <a:endParaRPr lang="en-US" altLang="ko-KR">
              <a:solidFill>
                <a:srgbClr val="003399"/>
              </a:solidFill>
            </a:endParaRPr>
          </a:p>
        </p:txBody>
      </p:sp>
      <p:sp>
        <p:nvSpPr>
          <p:cNvPr id="1242114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1980638" y="308367"/>
            <a:ext cx="5206555" cy="605294"/>
          </a:xfrm>
        </p:spPr>
        <p:txBody>
          <a:bodyPr wrap="none" lIns="63500" tIns="25400" rIns="63500" bIns="25400" anchor="t">
            <a:spAutoFit/>
          </a:bodyPr>
          <a:lstStyle/>
          <a:p>
            <a:pPr eaLnBrk="1" hangingPunct="1">
              <a:defRPr/>
            </a:pPr>
            <a:r>
              <a:rPr lang="en-US" altLang="ko-KR" dirty="0" err="1">
                <a:latin typeface="Arial" pitchFamily="34" charset="0"/>
                <a:ea typeface="굴림" pitchFamily="50" charset="-127"/>
                <a:cs typeface="Arial" pitchFamily="34" charset="0"/>
              </a:rPr>
              <a:t>Cyclometic</a:t>
            </a: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 Complexity</a:t>
            </a:r>
          </a:p>
        </p:txBody>
      </p:sp>
      <p:sp>
        <p:nvSpPr>
          <p:cNvPr id="32773" name="Freeform 3"/>
          <p:cNvSpPr>
            <a:spLocks/>
          </p:cNvSpPr>
          <p:nvPr/>
        </p:nvSpPr>
        <p:spPr bwMode="auto">
          <a:xfrm>
            <a:off x="2046288" y="2727325"/>
            <a:ext cx="455612" cy="455613"/>
          </a:xfrm>
          <a:custGeom>
            <a:avLst/>
            <a:gdLst>
              <a:gd name="T0" fmla="*/ 2147483647 w 287"/>
              <a:gd name="T1" fmla="*/ 0 h 287"/>
              <a:gd name="T2" fmla="*/ 0 w 287"/>
              <a:gd name="T3" fmla="*/ 2147483647 h 287"/>
              <a:gd name="T4" fmla="*/ 2147483647 w 287"/>
              <a:gd name="T5" fmla="*/ 2147483647 h 287"/>
              <a:gd name="T6" fmla="*/ 2147483647 w 287"/>
              <a:gd name="T7" fmla="*/ 2147483647 h 287"/>
              <a:gd name="T8" fmla="*/ 2147483647 w 287"/>
              <a:gd name="T9" fmla="*/ 0 h 28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87"/>
              <a:gd name="T16" fmla="*/ 0 h 287"/>
              <a:gd name="T17" fmla="*/ 287 w 287"/>
              <a:gd name="T18" fmla="*/ 287 h 28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87" h="287">
                <a:moveTo>
                  <a:pt x="143" y="0"/>
                </a:moveTo>
                <a:lnTo>
                  <a:pt x="0" y="143"/>
                </a:lnTo>
                <a:lnTo>
                  <a:pt x="143" y="287"/>
                </a:lnTo>
                <a:lnTo>
                  <a:pt x="287" y="143"/>
                </a:lnTo>
                <a:lnTo>
                  <a:pt x="143" y="0"/>
                </a:lnTo>
                <a:close/>
              </a:path>
            </a:pathLst>
          </a:custGeom>
          <a:solidFill>
            <a:srgbClr val="FFFFFF"/>
          </a:solidFill>
          <a:ln w="9525">
            <a:noFill/>
            <a:round/>
            <a:headEnd/>
            <a:tailEnd/>
          </a:ln>
        </p:spPr>
        <p:txBody>
          <a:bodyPr/>
          <a:lstStyle/>
          <a:p>
            <a:endParaRPr lang="ko-KR" altLang="en-US">
              <a:solidFill>
                <a:srgbClr val="FFFFFF"/>
              </a:solidFill>
              <a:ea typeface="굴림" pitchFamily="50" charset="-127"/>
            </a:endParaRPr>
          </a:p>
        </p:txBody>
      </p:sp>
      <p:sp>
        <p:nvSpPr>
          <p:cNvPr id="32774" name="Freeform 4"/>
          <p:cNvSpPr>
            <a:spLocks/>
          </p:cNvSpPr>
          <p:nvPr/>
        </p:nvSpPr>
        <p:spPr bwMode="auto">
          <a:xfrm>
            <a:off x="2046288" y="2727325"/>
            <a:ext cx="455612" cy="455613"/>
          </a:xfrm>
          <a:custGeom>
            <a:avLst/>
            <a:gdLst>
              <a:gd name="T0" fmla="*/ 2147483647 w 287"/>
              <a:gd name="T1" fmla="*/ 0 h 287"/>
              <a:gd name="T2" fmla="*/ 0 w 287"/>
              <a:gd name="T3" fmla="*/ 2147483647 h 287"/>
              <a:gd name="T4" fmla="*/ 0 w 287"/>
              <a:gd name="T5" fmla="*/ 2147483647 h 287"/>
              <a:gd name="T6" fmla="*/ 2147483647 w 287"/>
              <a:gd name="T7" fmla="*/ 2147483647 h 287"/>
              <a:gd name="T8" fmla="*/ 2147483647 w 287"/>
              <a:gd name="T9" fmla="*/ 2147483647 h 287"/>
              <a:gd name="T10" fmla="*/ 2147483647 w 287"/>
              <a:gd name="T11" fmla="*/ 2147483647 h 287"/>
              <a:gd name="T12" fmla="*/ 2147483647 w 287"/>
              <a:gd name="T13" fmla="*/ 2147483647 h 287"/>
              <a:gd name="T14" fmla="*/ 2147483647 w 287"/>
              <a:gd name="T15" fmla="*/ 0 h 287"/>
              <a:gd name="T16" fmla="*/ 2147483647 w 287"/>
              <a:gd name="T17" fmla="*/ 0 h 287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287"/>
              <a:gd name="T28" fmla="*/ 0 h 287"/>
              <a:gd name="T29" fmla="*/ 287 w 287"/>
              <a:gd name="T30" fmla="*/ 287 h 287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287" h="287">
                <a:moveTo>
                  <a:pt x="143" y="0"/>
                </a:moveTo>
                <a:lnTo>
                  <a:pt x="0" y="143"/>
                </a:lnTo>
                <a:lnTo>
                  <a:pt x="143" y="287"/>
                </a:lnTo>
                <a:lnTo>
                  <a:pt x="287" y="143"/>
                </a:lnTo>
                <a:lnTo>
                  <a:pt x="143" y="0"/>
                </a:lnTo>
                <a:close/>
              </a:path>
            </a:pathLst>
          </a:custGeom>
          <a:noFill/>
          <a:ln w="30163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ko-KR" altLang="en-US">
              <a:solidFill>
                <a:srgbClr val="FFFFFF"/>
              </a:solidFill>
              <a:ea typeface="굴림" pitchFamily="50" charset="-127"/>
            </a:endParaRPr>
          </a:p>
        </p:txBody>
      </p:sp>
      <p:sp>
        <p:nvSpPr>
          <p:cNvPr id="32775" name="Freeform 5"/>
          <p:cNvSpPr>
            <a:spLocks/>
          </p:cNvSpPr>
          <p:nvPr/>
        </p:nvSpPr>
        <p:spPr bwMode="auto">
          <a:xfrm>
            <a:off x="2033588" y="2714625"/>
            <a:ext cx="455612" cy="455613"/>
          </a:xfrm>
          <a:custGeom>
            <a:avLst/>
            <a:gdLst>
              <a:gd name="T0" fmla="*/ 2147483647 w 287"/>
              <a:gd name="T1" fmla="*/ 0 h 287"/>
              <a:gd name="T2" fmla="*/ 0 w 287"/>
              <a:gd name="T3" fmla="*/ 2147483647 h 287"/>
              <a:gd name="T4" fmla="*/ 2147483647 w 287"/>
              <a:gd name="T5" fmla="*/ 2147483647 h 287"/>
              <a:gd name="T6" fmla="*/ 2147483647 w 287"/>
              <a:gd name="T7" fmla="*/ 2147483647 h 287"/>
              <a:gd name="T8" fmla="*/ 2147483647 w 287"/>
              <a:gd name="T9" fmla="*/ 0 h 28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87"/>
              <a:gd name="T16" fmla="*/ 0 h 287"/>
              <a:gd name="T17" fmla="*/ 287 w 287"/>
              <a:gd name="T18" fmla="*/ 287 h 28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87" h="287">
                <a:moveTo>
                  <a:pt x="143" y="0"/>
                </a:moveTo>
                <a:lnTo>
                  <a:pt x="0" y="143"/>
                </a:lnTo>
                <a:lnTo>
                  <a:pt x="143" y="287"/>
                </a:lnTo>
                <a:lnTo>
                  <a:pt x="287" y="143"/>
                </a:lnTo>
                <a:lnTo>
                  <a:pt x="143" y="0"/>
                </a:lnTo>
                <a:close/>
              </a:path>
            </a:pathLst>
          </a:custGeom>
          <a:noFill/>
          <a:ln w="30163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ko-KR" altLang="en-US">
              <a:solidFill>
                <a:srgbClr val="FFFFFF"/>
              </a:solidFill>
              <a:ea typeface="굴림" pitchFamily="50" charset="-127"/>
            </a:endParaRPr>
          </a:p>
        </p:txBody>
      </p:sp>
      <p:sp>
        <p:nvSpPr>
          <p:cNvPr id="32776" name="Oval 6"/>
          <p:cNvSpPr>
            <a:spLocks noChangeArrowheads="1"/>
          </p:cNvSpPr>
          <p:nvPr/>
        </p:nvSpPr>
        <p:spPr bwMode="auto">
          <a:xfrm>
            <a:off x="1474788" y="1335088"/>
            <a:ext cx="139700" cy="165100"/>
          </a:xfrm>
          <a:prstGeom prst="ellipse">
            <a:avLst/>
          </a:prstGeom>
          <a:solidFill>
            <a:srgbClr val="FFFFFF"/>
          </a:solidFill>
          <a:ln w="9525">
            <a:noFill/>
            <a:round/>
            <a:headEnd/>
            <a:tailEnd/>
          </a:ln>
        </p:spPr>
        <p:txBody>
          <a:bodyPr/>
          <a:lstStyle/>
          <a:p>
            <a:endParaRPr lang="ko-KR" altLang="en-US">
              <a:solidFill>
                <a:srgbClr val="FFFFFF"/>
              </a:solidFill>
              <a:ea typeface="굴림" pitchFamily="50" charset="-127"/>
            </a:endParaRPr>
          </a:p>
        </p:txBody>
      </p:sp>
      <p:sp>
        <p:nvSpPr>
          <p:cNvPr id="32777" name="Oval 7"/>
          <p:cNvSpPr>
            <a:spLocks noChangeArrowheads="1"/>
          </p:cNvSpPr>
          <p:nvPr/>
        </p:nvSpPr>
        <p:spPr bwMode="auto">
          <a:xfrm>
            <a:off x="1462088" y="1322388"/>
            <a:ext cx="165100" cy="190500"/>
          </a:xfrm>
          <a:prstGeom prst="ellipse">
            <a:avLst/>
          </a:prstGeom>
          <a:noFill/>
          <a:ln w="30163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ko-KR" altLang="en-US">
              <a:solidFill>
                <a:srgbClr val="FFFFFF"/>
              </a:solidFill>
              <a:ea typeface="굴림" pitchFamily="50" charset="-127"/>
            </a:endParaRPr>
          </a:p>
        </p:txBody>
      </p:sp>
      <p:sp>
        <p:nvSpPr>
          <p:cNvPr id="32778" name="Freeform 8"/>
          <p:cNvSpPr>
            <a:spLocks/>
          </p:cNvSpPr>
          <p:nvPr/>
        </p:nvSpPr>
        <p:spPr bwMode="auto">
          <a:xfrm>
            <a:off x="1335088" y="2233613"/>
            <a:ext cx="457200" cy="455612"/>
          </a:xfrm>
          <a:custGeom>
            <a:avLst/>
            <a:gdLst>
              <a:gd name="T0" fmla="*/ 2147483647 w 288"/>
              <a:gd name="T1" fmla="*/ 0 h 287"/>
              <a:gd name="T2" fmla="*/ 0 w 288"/>
              <a:gd name="T3" fmla="*/ 2147483647 h 287"/>
              <a:gd name="T4" fmla="*/ 2147483647 w 288"/>
              <a:gd name="T5" fmla="*/ 2147483647 h 287"/>
              <a:gd name="T6" fmla="*/ 2147483647 w 288"/>
              <a:gd name="T7" fmla="*/ 2147483647 h 287"/>
              <a:gd name="T8" fmla="*/ 2147483647 w 288"/>
              <a:gd name="T9" fmla="*/ 0 h 28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88"/>
              <a:gd name="T16" fmla="*/ 0 h 287"/>
              <a:gd name="T17" fmla="*/ 288 w 288"/>
              <a:gd name="T18" fmla="*/ 287 h 28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88" h="287">
                <a:moveTo>
                  <a:pt x="144" y="0"/>
                </a:moveTo>
                <a:lnTo>
                  <a:pt x="0" y="143"/>
                </a:lnTo>
                <a:lnTo>
                  <a:pt x="144" y="287"/>
                </a:lnTo>
                <a:lnTo>
                  <a:pt x="288" y="143"/>
                </a:lnTo>
                <a:lnTo>
                  <a:pt x="144" y="0"/>
                </a:lnTo>
                <a:close/>
              </a:path>
            </a:pathLst>
          </a:custGeom>
          <a:solidFill>
            <a:srgbClr val="FFFFFF"/>
          </a:solidFill>
          <a:ln w="9525">
            <a:noFill/>
            <a:round/>
            <a:headEnd/>
            <a:tailEnd/>
          </a:ln>
        </p:spPr>
        <p:txBody>
          <a:bodyPr/>
          <a:lstStyle/>
          <a:p>
            <a:endParaRPr lang="ko-KR" altLang="en-US">
              <a:solidFill>
                <a:srgbClr val="FFFFFF"/>
              </a:solidFill>
              <a:ea typeface="굴림" pitchFamily="50" charset="-127"/>
            </a:endParaRPr>
          </a:p>
        </p:txBody>
      </p:sp>
      <p:sp>
        <p:nvSpPr>
          <p:cNvPr id="32779" name="Freeform 9"/>
          <p:cNvSpPr>
            <a:spLocks/>
          </p:cNvSpPr>
          <p:nvPr/>
        </p:nvSpPr>
        <p:spPr bwMode="auto">
          <a:xfrm>
            <a:off x="1335088" y="2233613"/>
            <a:ext cx="457200" cy="455612"/>
          </a:xfrm>
          <a:custGeom>
            <a:avLst/>
            <a:gdLst>
              <a:gd name="T0" fmla="*/ 2147483647 w 288"/>
              <a:gd name="T1" fmla="*/ 0 h 287"/>
              <a:gd name="T2" fmla="*/ 0 w 288"/>
              <a:gd name="T3" fmla="*/ 2147483647 h 287"/>
              <a:gd name="T4" fmla="*/ 0 w 288"/>
              <a:gd name="T5" fmla="*/ 2147483647 h 287"/>
              <a:gd name="T6" fmla="*/ 2147483647 w 288"/>
              <a:gd name="T7" fmla="*/ 2147483647 h 287"/>
              <a:gd name="T8" fmla="*/ 2147483647 w 288"/>
              <a:gd name="T9" fmla="*/ 2147483647 h 287"/>
              <a:gd name="T10" fmla="*/ 2147483647 w 288"/>
              <a:gd name="T11" fmla="*/ 2147483647 h 287"/>
              <a:gd name="T12" fmla="*/ 2147483647 w 288"/>
              <a:gd name="T13" fmla="*/ 2147483647 h 287"/>
              <a:gd name="T14" fmla="*/ 2147483647 w 288"/>
              <a:gd name="T15" fmla="*/ 0 h 287"/>
              <a:gd name="T16" fmla="*/ 2147483647 w 288"/>
              <a:gd name="T17" fmla="*/ 0 h 287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288"/>
              <a:gd name="T28" fmla="*/ 0 h 287"/>
              <a:gd name="T29" fmla="*/ 288 w 288"/>
              <a:gd name="T30" fmla="*/ 287 h 287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288" h="287">
                <a:moveTo>
                  <a:pt x="144" y="0"/>
                </a:moveTo>
                <a:lnTo>
                  <a:pt x="0" y="143"/>
                </a:lnTo>
                <a:lnTo>
                  <a:pt x="144" y="287"/>
                </a:lnTo>
                <a:lnTo>
                  <a:pt x="288" y="143"/>
                </a:lnTo>
                <a:lnTo>
                  <a:pt x="144" y="0"/>
                </a:lnTo>
                <a:close/>
              </a:path>
            </a:pathLst>
          </a:custGeom>
          <a:noFill/>
          <a:ln w="30163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ko-KR" altLang="en-US">
              <a:solidFill>
                <a:srgbClr val="FFFFFF"/>
              </a:solidFill>
              <a:ea typeface="굴림" pitchFamily="50" charset="-127"/>
            </a:endParaRPr>
          </a:p>
        </p:txBody>
      </p:sp>
      <p:sp>
        <p:nvSpPr>
          <p:cNvPr id="32780" name="Freeform 10"/>
          <p:cNvSpPr>
            <a:spLocks/>
          </p:cNvSpPr>
          <p:nvPr/>
        </p:nvSpPr>
        <p:spPr bwMode="auto">
          <a:xfrm>
            <a:off x="1322388" y="2220913"/>
            <a:ext cx="457200" cy="455612"/>
          </a:xfrm>
          <a:custGeom>
            <a:avLst/>
            <a:gdLst>
              <a:gd name="T0" fmla="*/ 2147483647 w 288"/>
              <a:gd name="T1" fmla="*/ 0 h 287"/>
              <a:gd name="T2" fmla="*/ 0 w 288"/>
              <a:gd name="T3" fmla="*/ 2147483647 h 287"/>
              <a:gd name="T4" fmla="*/ 2147483647 w 288"/>
              <a:gd name="T5" fmla="*/ 2147483647 h 287"/>
              <a:gd name="T6" fmla="*/ 2147483647 w 288"/>
              <a:gd name="T7" fmla="*/ 2147483647 h 287"/>
              <a:gd name="T8" fmla="*/ 2147483647 w 288"/>
              <a:gd name="T9" fmla="*/ 0 h 28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88"/>
              <a:gd name="T16" fmla="*/ 0 h 287"/>
              <a:gd name="T17" fmla="*/ 288 w 288"/>
              <a:gd name="T18" fmla="*/ 287 h 28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88" h="287">
                <a:moveTo>
                  <a:pt x="144" y="0"/>
                </a:moveTo>
                <a:lnTo>
                  <a:pt x="0" y="143"/>
                </a:lnTo>
                <a:lnTo>
                  <a:pt x="144" y="287"/>
                </a:lnTo>
                <a:lnTo>
                  <a:pt x="288" y="143"/>
                </a:lnTo>
                <a:lnTo>
                  <a:pt x="144" y="0"/>
                </a:lnTo>
                <a:close/>
              </a:path>
            </a:pathLst>
          </a:custGeom>
          <a:noFill/>
          <a:ln w="30163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ko-KR" altLang="en-US">
              <a:solidFill>
                <a:srgbClr val="FFFFFF"/>
              </a:solidFill>
              <a:ea typeface="굴림" pitchFamily="50" charset="-127"/>
            </a:endParaRPr>
          </a:p>
        </p:txBody>
      </p:sp>
      <p:sp>
        <p:nvSpPr>
          <p:cNvPr id="32781" name="Freeform 11"/>
          <p:cNvSpPr>
            <a:spLocks/>
          </p:cNvSpPr>
          <p:nvPr/>
        </p:nvSpPr>
        <p:spPr bwMode="auto">
          <a:xfrm>
            <a:off x="1335088" y="3916363"/>
            <a:ext cx="457200" cy="455612"/>
          </a:xfrm>
          <a:custGeom>
            <a:avLst/>
            <a:gdLst>
              <a:gd name="T0" fmla="*/ 2147483647 w 288"/>
              <a:gd name="T1" fmla="*/ 0 h 287"/>
              <a:gd name="T2" fmla="*/ 0 w 288"/>
              <a:gd name="T3" fmla="*/ 2147483647 h 287"/>
              <a:gd name="T4" fmla="*/ 2147483647 w 288"/>
              <a:gd name="T5" fmla="*/ 2147483647 h 287"/>
              <a:gd name="T6" fmla="*/ 2147483647 w 288"/>
              <a:gd name="T7" fmla="*/ 2147483647 h 287"/>
              <a:gd name="T8" fmla="*/ 2147483647 w 288"/>
              <a:gd name="T9" fmla="*/ 0 h 28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88"/>
              <a:gd name="T16" fmla="*/ 0 h 287"/>
              <a:gd name="T17" fmla="*/ 288 w 288"/>
              <a:gd name="T18" fmla="*/ 287 h 28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88" h="287">
                <a:moveTo>
                  <a:pt x="144" y="0"/>
                </a:moveTo>
                <a:lnTo>
                  <a:pt x="0" y="144"/>
                </a:lnTo>
                <a:lnTo>
                  <a:pt x="144" y="287"/>
                </a:lnTo>
                <a:lnTo>
                  <a:pt x="288" y="144"/>
                </a:lnTo>
                <a:lnTo>
                  <a:pt x="144" y="0"/>
                </a:lnTo>
                <a:close/>
              </a:path>
            </a:pathLst>
          </a:custGeom>
          <a:solidFill>
            <a:srgbClr val="FFFFFF"/>
          </a:solidFill>
          <a:ln w="9525">
            <a:noFill/>
            <a:round/>
            <a:headEnd/>
            <a:tailEnd/>
          </a:ln>
        </p:spPr>
        <p:txBody>
          <a:bodyPr/>
          <a:lstStyle/>
          <a:p>
            <a:endParaRPr lang="ko-KR" altLang="en-US">
              <a:solidFill>
                <a:srgbClr val="FFFFFF"/>
              </a:solidFill>
              <a:ea typeface="굴림" pitchFamily="50" charset="-127"/>
            </a:endParaRPr>
          </a:p>
        </p:txBody>
      </p:sp>
      <p:sp>
        <p:nvSpPr>
          <p:cNvPr id="32782" name="Freeform 12"/>
          <p:cNvSpPr>
            <a:spLocks/>
          </p:cNvSpPr>
          <p:nvPr/>
        </p:nvSpPr>
        <p:spPr bwMode="auto">
          <a:xfrm>
            <a:off x="1335088" y="3916363"/>
            <a:ext cx="457200" cy="455612"/>
          </a:xfrm>
          <a:custGeom>
            <a:avLst/>
            <a:gdLst>
              <a:gd name="T0" fmla="*/ 2147483647 w 288"/>
              <a:gd name="T1" fmla="*/ 0 h 287"/>
              <a:gd name="T2" fmla="*/ 0 w 288"/>
              <a:gd name="T3" fmla="*/ 2147483647 h 287"/>
              <a:gd name="T4" fmla="*/ 0 w 288"/>
              <a:gd name="T5" fmla="*/ 2147483647 h 287"/>
              <a:gd name="T6" fmla="*/ 2147483647 w 288"/>
              <a:gd name="T7" fmla="*/ 2147483647 h 287"/>
              <a:gd name="T8" fmla="*/ 2147483647 w 288"/>
              <a:gd name="T9" fmla="*/ 2147483647 h 287"/>
              <a:gd name="T10" fmla="*/ 2147483647 w 288"/>
              <a:gd name="T11" fmla="*/ 2147483647 h 287"/>
              <a:gd name="T12" fmla="*/ 2147483647 w 288"/>
              <a:gd name="T13" fmla="*/ 2147483647 h 287"/>
              <a:gd name="T14" fmla="*/ 2147483647 w 288"/>
              <a:gd name="T15" fmla="*/ 0 h 287"/>
              <a:gd name="T16" fmla="*/ 2147483647 w 288"/>
              <a:gd name="T17" fmla="*/ 0 h 287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288"/>
              <a:gd name="T28" fmla="*/ 0 h 287"/>
              <a:gd name="T29" fmla="*/ 288 w 288"/>
              <a:gd name="T30" fmla="*/ 287 h 287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288" h="287">
                <a:moveTo>
                  <a:pt x="144" y="0"/>
                </a:moveTo>
                <a:lnTo>
                  <a:pt x="0" y="144"/>
                </a:lnTo>
                <a:lnTo>
                  <a:pt x="144" y="287"/>
                </a:lnTo>
                <a:lnTo>
                  <a:pt x="288" y="144"/>
                </a:lnTo>
                <a:lnTo>
                  <a:pt x="144" y="0"/>
                </a:lnTo>
                <a:close/>
              </a:path>
            </a:pathLst>
          </a:custGeom>
          <a:noFill/>
          <a:ln w="30163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ko-KR" altLang="en-US">
              <a:solidFill>
                <a:srgbClr val="FFFFFF"/>
              </a:solidFill>
              <a:ea typeface="굴림" pitchFamily="50" charset="-127"/>
            </a:endParaRPr>
          </a:p>
        </p:txBody>
      </p:sp>
      <p:sp>
        <p:nvSpPr>
          <p:cNvPr id="32783" name="Freeform 13"/>
          <p:cNvSpPr>
            <a:spLocks/>
          </p:cNvSpPr>
          <p:nvPr/>
        </p:nvSpPr>
        <p:spPr bwMode="auto">
          <a:xfrm>
            <a:off x="1322388" y="3903663"/>
            <a:ext cx="457200" cy="455612"/>
          </a:xfrm>
          <a:custGeom>
            <a:avLst/>
            <a:gdLst>
              <a:gd name="T0" fmla="*/ 2147483647 w 288"/>
              <a:gd name="T1" fmla="*/ 0 h 287"/>
              <a:gd name="T2" fmla="*/ 0 w 288"/>
              <a:gd name="T3" fmla="*/ 2147483647 h 287"/>
              <a:gd name="T4" fmla="*/ 2147483647 w 288"/>
              <a:gd name="T5" fmla="*/ 2147483647 h 287"/>
              <a:gd name="T6" fmla="*/ 2147483647 w 288"/>
              <a:gd name="T7" fmla="*/ 2147483647 h 287"/>
              <a:gd name="T8" fmla="*/ 2147483647 w 288"/>
              <a:gd name="T9" fmla="*/ 0 h 28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88"/>
              <a:gd name="T16" fmla="*/ 0 h 287"/>
              <a:gd name="T17" fmla="*/ 288 w 288"/>
              <a:gd name="T18" fmla="*/ 287 h 28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88" h="287">
                <a:moveTo>
                  <a:pt x="144" y="0"/>
                </a:moveTo>
                <a:lnTo>
                  <a:pt x="0" y="144"/>
                </a:lnTo>
                <a:lnTo>
                  <a:pt x="144" y="287"/>
                </a:lnTo>
                <a:lnTo>
                  <a:pt x="288" y="144"/>
                </a:lnTo>
                <a:lnTo>
                  <a:pt x="144" y="0"/>
                </a:lnTo>
                <a:close/>
              </a:path>
            </a:pathLst>
          </a:custGeom>
          <a:noFill/>
          <a:ln w="30163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ko-KR" altLang="en-US">
              <a:solidFill>
                <a:srgbClr val="FFFFFF"/>
              </a:solidFill>
              <a:ea typeface="굴림" pitchFamily="50" charset="-127"/>
            </a:endParaRPr>
          </a:p>
        </p:txBody>
      </p:sp>
      <p:sp>
        <p:nvSpPr>
          <p:cNvPr id="32784" name="Freeform 14"/>
          <p:cNvSpPr>
            <a:spLocks/>
          </p:cNvSpPr>
          <p:nvPr/>
        </p:nvSpPr>
        <p:spPr bwMode="auto">
          <a:xfrm>
            <a:off x="1817688" y="2460625"/>
            <a:ext cx="455612" cy="152400"/>
          </a:xfrm>
          <a:custGeom>
            <a:avLst/>
            <a:gdLst>
              <a:gd name="T0" fmla="*/ 0 w 287"/>
              <a:gd name="T1" fmla="*/ 0 h 96"/>
              <a:gd name="T2" fmla="*/ 2147483647 w 287"/>
              <a:gd name="T3" fmla="*/ 0 h 96"/>
              <a:gd name="T4" fmla="*/ 2147483647 w 287"/>
              <a:gd name="T5" fmla="*/ 0 h 96"/>
              <a:gd name="T6" fmla="*/ 2147483647 w 287"/>
              <a:gd name="T7" fmla="*/ 2147483647 h 96"/>
              <a:gd name="T8" fmla="*/ 2147483647 w 287"/>
              <a:gd name="T9" fmla="*/ 2147483647 h 9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87"/>
              <a:gd name="T16" fmla="*/ 0 h 96"/>
              <a:gd name="T17" fmla="*/ 287 w 287"/>
              <a:gd name="T18" fmla="*/ 96 h 9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87" h="96">
                <a:moveTo>
                  <a:pt x="0" y="0"/>
                </a:moveTo>
                <a:lnTo>
                  <a:pt x="287" y="0"/>
                </a:lnTo>
                <a:lnTo>
                  <a:pt x="287" y="96"/>
                </a:lnTo>
              </a:path>
            </a:pathLst>
          </a:custGeom>
          <a:noFill/>
          <a:ln w="30163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ko-KR" altLang="en-US">
              <a:solidFill>
                <a:srgbClr val="FFFFFF"/>
              </a:solidFill>
              <a:ea typeface="굴림" pitchFamily="50" charset="-127"/>
            </a:endParaRPr>
          </a:p>
        </p:txBody>
      </p:sp>
      <p:sp>
        <p:nvSpPr>
          <p:cNvPr id="32785" name="Freeform 15"/>
          <p:cNvSpPr>
            <a:spLocks/>
          </p:cNvSpPr>
          <p:nvPr/>
        </p:nvSpPr>
        <p:spPr bwMode="auto">
          <a:xfrm>
            <a:off x="1804988" y="2447925"/>
            <a:ext cx="455612" cy="152400"/>
          </a:xfrm>
          <a:custGeom>
            <a:avLst/>
            <a:gdLst>
              <a:gd name="T0" fmla="*/ 0 w 287"/>
              <a:gd name="T1" fmla="*/ 0 h 96"/>
              <a:gd name="T2" fmla="*/ 2147483647 w 287"/>
              <a:gd name="T3" fmla="*/ 0 h 96"/>
              <a:gd name="T4" fmla="*/ 2147483647 w 287"/>
              <a:gd name="T5" fmla="*/ 2147483647 h 96"/>
              <a:gd name="T6" fmla="*/ 0 60000 65536"/>
              <a:gd name="T7" fmla="*/ 0 60000 65536"/>
              <a:gd name="T8" fmla="*/ 0 60000 65536"/>
              <a:gd name="T9" fmla="*/ 0 w 287"/>
              <a:gd name="T10" fmla="*/ 0 h 96"/>
              <a:gd name="T11" fmla="*/ 287 w 287"/>
              <a:gd name="T12" fmla="*/ 96 h 9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87" h="96">
                <a:moveTo>
                  <a:pt x="0" y="0"/>
                </a:moveTo>
                <a:lnTo>
                  <a:pt x="287" y="0"/>
                </a:lnTo>
                <a:lnTo>
                  <a:pt x="287" y="96"/>
                </a:lnTo>
              </a:path>
            </a:pathLst>
          </a:custGeom>
          <a:noFill/>
          <a:ln w="30163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ko-KR" altLang="en-US">
              <a:solidFill>
                <a:srgbClr val="FFFFFF"/>
              </a:solidFill>
              <a:ea typeface="굴림" pitchFamily="50" charset="-127"/>
            </a:endParaRPr>
          </a:p>
        </p:txBody>
      </p:sp>
      <p:sp>
        <p:nvSpPr>
          <p:cNvPr id="32786" name="Line 16"/>
          <p:cNvSpPr>
            <a:spLocks noChangeShapeType="1"/>
          </p:cNvSpPr>
          <p:nvPr/>
        </p:nvSpPr>
        <p:spPr bwMode="auto">
          <a:xfrm>
            <a:off x="1525588" y="1487488"/>
            <a:ext cx="1587" cy="708025"/>
          </a:xfrm>
          <a:prstGeom prst="line">
            <a:avLst/>
          </a:prstGeom>
          <a:noFill/>
          <a:ln w="30163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ko-KR" altLang="en-US">
              <a:solidFill>
                <a:srgbClr val="FFFFFF"/>
              </a:solidFill>
            </a:endParaRPr>
          </a:p>
        </p:txBody>
      </p:sp>
      <p:sp>
        <p:nvSpPr>
          <p:cNvPr id="32787" name="Rectangle 17"/>
          <p:cNvSpPr>
            <a:spLocks noChangeArrowheads="1"/>
          </p:cNvSpPr>
          <p:nvPr/>
        </p:nvSpPr>
        <p:spPr bwMode="auto">
          <a:xfrm>
            <a:off x="1335088" y="1676400"/>
            <a:ext cx="393700" cy="303213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/>
          <a:lstStyle/>
          <a:p>
            <a:endParaRPr lang="ko-KR" altLang="en-US">
              <a:solidFill>
                <a:srgbClr val="FFFFFF"/>
              </a:solidFill>
              <a:ea typeface="굴림" pitchFamily="50" charset="-127"/>
            </a:endParaRPr>
          </a:p>
        </p:txBody>
      </p:sp>
      <p:sp>
        <p:nvSpPr>
          <p:cNvPr id="32788" name="Rectangle 18"/>
          <p:cNvSpPr>
            <a:spLocks noChangeArrowheads="1"/>
          </p:cNvSpPr>
          <p:nvPr/>
        </p:nvSpPr>
        <p:spPr bwMode="auto">
          <a:xfrm>
            <a:off x="1322388" y="1663700"/>
            <a:ext cx="419100" cy="328613"/>
          </a:xfrm>
          <a:prstGeom prst="rect">
            <a:avLst/>
          </a:prstGeom>
          <a:noFill/>
          <a:ln w="30163"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ko-KR" altLang="en-US">
              <a:solidFill>
                <a:srgbClr val="FFFFFF"/>
              </a:solidFill>
              <a:ea typeface="굴림" pitchFamily="50" charset="-127"/>
            </a:endParaRPr>
          </a:p>
        </p:txBody>
      </p:sp>
      <p:sp>
        <p:nvSpPr>
          <p:cNvPr id="32789" name="Freeform 19"/>
          <p:cNvSpPr>
            <a:spLocks/>
          </p:cNvSpPr>
          <p:nvPr/>
        </p:nvSpPr>
        <p:spPr bwMode="auto">
          <a:xfrm>
            <a:off x="955675" y="2422525"/>
            <a:ext cx="341313" cy="406400"/>
          </a:xfrm>
          <a:custGeom>
            <a:avLst/>
            <a:gdLst>
              <a:gd name="T0" fmla="*/ 2147483647 w 215"/>
              <a:gd name="T1" fmla="*/ 0 h 256"/>
              <a:gd name="T2" fmla="*/ 0 w 215"/>
              <a:gd name="T3" fmla="*/ 0 h 256"/>
              <a:gd name="T4" fmla="*/ 0 w 215"/>
              <a:gd name="T5" fmla="*/ 2147483647 h 256"/>
              <a:gd name="T6" fmla="*/ 0 60000 65536"/>
              <a:gd name="T7" fmla="*/ 0 60000 65536"/>
              <a:gd name="T8" fmla="*/ 0 60000 65536"/>
              <a:gd name="T9" fmla="*/ 0 w 215"/>
              <a:gd name="T10" fmla="*/ 0 h 256"/>
              <a:gd name="T11" fmla="*/ 215 w 215"/>
              <a:gd name="T12" fmla="*/ 256 h 25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5" h="256">
                <a:moveTo>
                  <a:pt x="215" y="0"/>
                </a:moveTo>
                <a:lnTo>
                  <a:pt x="0" y="0"/>
                </a:lnTo>
                <a:lnTo>
                  <a:pt x="0" y="256"/>
                </a:lnTo>
              </a:path>
            </a:pathLst>
          </a:custGeom>
          <a:noFill/>
          <a:ln w="30163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ko-KR" altLang="en-US">
              <a:solidFill>
                <a:srgbClr val="FFFFFF"/>
              </a:solidFill>
              <a:ea typeface="굴림" pitchFamily="50" charset="-127"/>
            </a:endParaRPr>
          </a:p>
        </p:txBody>
      </p:sp>
      <p:sp>
        <p:nvSpPr>
          <p:cNvPr id="32790" name="Freeform 20"/>
          <p:cNvSpPr>
            <a:spLocks/>
          </p:cNvSpPr>
          <p:nvPr/>
        </p:nvSpPr>
        <p:spPr bwMode="auto">
          <a:xfrm>
            <a:off x="2501900" y="2954338"/>
            <a:ext cx="279400" cy="228600"/>
          </a:xfrm>
          <a:custGeom>
            <a:avLst/>
            <a:gdLst>
              <a:gd name="T0" fmla="*/ 0 w 176"/>
              <a:gd name="T1" fmla="*/ 0 h 144"/>
              <a:gd name="T2" fmla="*/ 2147483647 w 176"/>
              <a:gd name="T3" fmla="*/ 0 h 144"/>
              <a:gd name="T4" fmla="*/ 2147483647 w 176"/>
              <a:gd name="T5" fmla="*/ 0 h 144"/>
              <a:gd name="T6" fmla="*/ 2147483647 w 176"/>
              <a:gd name="T7" fmla="*/ 2147483647 h 144"/>
              <a:gd name="T8" fmla="*/ 2147483647 w 176"/>
              <a:gd name="T9" fmla="*/ 2147483647 h 14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76"/>
              <a:gd name="T16" fmla="*/ 0 h 144"/>
              <a:gd name="T17" fmla="*/ 176 w 176"/>
              <a:gd name="T18" fmla="*/ 144 h 14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76" h="144">
                <a:moveTo>
                  <a:pt x="0" y="0"/>
                </a:moveTo>
                <a:lnTo>
                  <a:pt x="176" y="0"/>
                </a:lnTo>
                <a:lnTo>
                  <a:pt x="176" y="144"/>
                </a:lnTo>
              </a:path>
            </a:pathLst>
          </a:custGeom>
          <a:noFill/>
          <a:ln w="30163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ko-KR" altLang="en-US">
              <a:solidFill>
                <a:srgbClr val="FFFFFF"/>
              </a:solidFill>
              <a:ea typeface="굴림" pitchFamily="50" charset="-127"/>
            </a:endParaRPr>
          </a:p>
        </p:txBody>
      </p:sp>
      <p:sp>
        <p:nvSpPr>
          <p:cNvPr id="32791" name="Freeform 21"/>
          <p:cNvSpPr>
            <a:spLocks/>
          </p:cNvSpPr>
          <p:nvPr/>
        </p:nvSpPr>
        <p:spPr bwMode="auto">
          <a:xfrm>
            <a:off x="2489200" y="2941638"/>
            <a:ext cx="279400" cy="228600"/>
          </a:xfrm>
          <a:custGeom>
            <a:avLst/>
            <a:gdLst>
              <a:gd name="T0" fmla="*/ 0 w 176"/>
              <a:gd name="T1" fmla="*/ 0 h 144"/>
              <a:gd name="T2" fmla="*/ 2147483647 w 176"/>
              <a:gd name="T3" fmla="*/ 0 h 144"/>
              <a:gd name="T4" fmla="*/ 2147483647 w 176"/>
              <a:gd name="T5" fmla="*/ 2147483647 h 144"/>
              <a:gd name="T6" fmla="*/ 0 60000 65536"/>
              <a:gd name="T7" fmla="*/ 0 60000 65536"/>
              <a:gd name="T8" fmla="*/ 0 60000 65536"/>
              <a:gd name="T9" fmla="*/ 0 w 176"/>
              <a:gd name="T10" fmla="*/ 0 h 144"/>
              <a:gd name="T11" fmla="*/ 176 w 176"/>
              <a:gd name="T12" fmla="*/ 144 h 14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76" h="144">
                <a:moveTo>
                  <a:pt x="0" y="0"/>
                </a:moveTo>
                <a:lnTo>
                  <a:pt x="176" y="0"/>
                </a:lnTo>
                <a:lnTo>
                  <a:pt x="176" y="144"/>
                </a:lnTo>
              </a:path>
            </a:pathLst>
          </a:custGeom>
          <a:noFill/>
          <a:ln w="30163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ko-KR" altLang="en-US">
              <a:solidFill>
                <a:srgbClr val="FFFFFF"/>
              </a:solidFill>
              <a:ea typeface="굴림" pitchFamily="50" charset="-127"/>
            </a:endParaRPr>
          </a:p>
        </p:txBody>
      </p:sp>
      <p:sp>
        <p:nvSpPr>
          <p:cNvPr id="32792" name="Freeform 22"/>
          <p:cNvSpPr>
            <a:spLocks/>
          </p:cNvSpPr>
          <p:nvPr/>
        </p:nvSpPr>
        <p:spPr bwMode="auto">
          <a:xfrm>
            <a:off x="1817688" y="2954338"/>
            <a:ext cx="252412" cy="279400"/>
          </a:xfrm>
          <a:custGeom>
            <a:avLst/>
            <a:gdLst>
              <a:gd name="T0" fmla="*/ 2147483647 w 159"/>
              <a:gd name="T1" fmla="*/ 0 h 176"/>
              <a:gd name="T2" fmla="*/ 0 w 159"/>
              <a:gd name="T3" fmla="*/ 0 h 176"/>
              <a:gd name="T4" fmla="*/ 0 w 159"/>
              <a:gd name="T5" fmla="*/ 0 h 176"/>
              <a:gd name="T6" fmla="*/ 0 w 159"/>
              <a:gd name="T7" fmla="*/ 2147483647 h 176"/>
              <a:gd name="T8" fmla="*/ 0 w 159"/>
              <a:gd name="T9" fmla="*/ 2147483647 h 17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59"/>
              <a:gd name="T16" fmla="*/ 0 h 176"/>
              <a:gd name="T17" fmla="*/ 159 w 159"/>
              <a:gd name="T18" fmla="*/ 176 h 17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59" h="176">
                <a:moveTo>
                  <a:pt x="159" y="0"/>
                </a:moveTo>
                <a:lnTo>
                  <a:pt x="0" y="0"/>
                </a:lnTo>
                <a:lnTo>
                  <a:pt x="0" y="176"/>
                </a:lnTo>
              </a:path>
            </a:pathLst>
          </a:custGeom>
          <a:noFill/>
          <a:ln w="30163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ko-KR" altLang="en-US">
              <a:solidFill>
                <a:srgbClr val="FFFFFF"/>
              </a:solidFill>
              <a:ea typeface="굴림" pitchFamily="50" charset="-127"/>
            </a:endParaRPr>
          </a:p>
        </p:txBody>
      </p:sp>
      <p:sp>
        <p:nvSpPr>
          <p:cNvPr id="32793" name="Freeform 23"/>
          <p:cNvSpPr>
            <a:spLocks/>
          </p:cNvSpPr>
          <p:nvPr/>
        </p:nvSpPr>
        <p:spPr bwMode="auto">
          <a:xfrm>
            <a:off x="1804988" y="2941638"/>
            <a:ext cx="252412" cy="279400"/>
          </a:xfrm>
          <a:custGeom>
            <a:avLst/>
            <a:gdLst>
              <a:gd name="T0" fmla="*/ 2147483647 w 159"/>
              <a:gd name="T1" fmla="*/ 0 h 176"/>
              <a:gd name="T2" fmla="*/ 0 w 159"/>
              <a:gd name="T3" fmla="*/ 0 h 176"/>
              <a:gd name="T4" fmla="*/ 0 w 159"/>
              <a:gd name="T5" fmla="*/ 2147483647 h 176"/>
              <a:gd name="T6" fmla="*/ 0 60000 65536"/>
              <a:gd name="T7" fmla="*/ 0 60000 65536"/>
              <a:gd name="T8" fmla="*/ 0 60000 65536"/>
              <a:gd name="T9" fmla="*/ 0 w 159"/>
              <a:gd name="T10" fmla="*/ 0 h 176"/>
              <a:gd name="T11" fmla="*/ 159 w 159"/>
              <a:gd name="T12" fmla="*/ 176 h 17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59" h="176">
                <a:moveTo>
                  <a:pt x="159" y="0"/>
                </a:moveTo>
                <a:lnTo>
                  <a:pt x="0" y="0"/>
                </a:lnTo>
                <a:lnTo>
                  <a:pt x="0" y="176"/>
                </a:lnTo>
              </a:path>
            </a:pathLst>
          </a:custGeom>
          <a:noFill/>
          <a:ln w="30163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ko-KR" altLang="en-US">
              <a:solidFill>
                <a:srgbClr val="FFFFFF"/>
              </a:solidFill>
              <a:ea typeface="굴림" pitchFamily="50" charset="-127"/>
            </a:endParaRPr>
          </a:p>
        </p:txBody>
      </p:sp>
      <p:sp>
        <p:nvSpPr>
          <p:cNvPr id="32794" name="Freeform 24"/>
          <p:cNvSpPr>
            <a:spLocks/>
          </p:cNvSpPr>
          <p:nvPr/>
        </p:nvSpPr>
        <p:spPr bwMode="auto">
          <a:xfrm>
            <a:off x="1792288" y="3371850"/>
            <a:ext cx="989012" cy="139700"/>
          </a:xfrm>
          <a:custGeom>
            <a:avLst/>
            <a:gdLst>
              <a:gd name="T0" fmla="*/ 0 w 623"/>
              <a:gd name="T1" fmla="*/ 0 h 88"/>
              <a:gd name="T2" fmla="*/ 0 w 623"/>
              <a:gd name="T3" fmla="*/ 2147483647 h 88"/>
              <a:gd name="T4" fmla="*/ 0 w 623"/>
              <a:gd name="T5" fmla="*/ 2147483647 h 88"/>
              <a:gd name="T6" fmla="*/ 2147483647 w 623"/>
              <a:gd name="T7" fmla="*/ 2147483647 h 88"/>
              <a:gd name="T8" fmla="*/ 2147483647 w 623"/>
              <a:gd name="T9" fmla="*/ 2147483647 h 88"/>
              <a:gd name="T10" fmla="*/ 2147483647 w 623"/>
              <a:gd name="T11" fmla="*/ 0 h 88"/>
              <a:gd name="T12" fmla="*/ 2147483647 w 623"/>
              <a:gd name="T13" fmla="*/ 0 h 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623"/>
              <a:gd name="T22" fmla="*/ 0 h 88"/>
              <a:gd name="T23" fmla="*/ 623 w 623"/>
              <a:gd name="T24" fmla="*/ 88 h 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623" h="88">
                <a:moveTo>
                  <a:pt x="0" y="0"/>
                </a:moveTo>
                <a:lnTo>
                  <a:pt x="0" y="88"/>
                </a:lnTo>
                <a:lnTo>
                  <a:pt x="623" y="88"/>
                </a:lnTo>
                <a:lnTo>
                  <a:pt x="623" y="0"/>
                </a:lnTo>
              </a:path>
            </a:pathLst>
          </a:custGeom>
          <a:noFill/>
          <a:ln w="30163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ko-KR" altLang="en-US">
              <a:solidFill>
                <a:srgbClr val="FFFFFF"/>
              </a:solidFill>
              <a:ea typeface="굴림" pitchFamily="50" charset="-127"/>
            </a:endParaRPr>
          </a:p>
        </p:txBody>
      </p:sp>
      <p:sp>
        <p:nvSpPr>
          <p:cNvPr id="32795" name="Rectangle 26"/>
          <p:cNvSpPr>
            <a:spLocks noChangeArrowheads="1"/>
          </p:cNvSpPr>
          <p:nvPr/>
        </p:nvSpPr>
        <p:spPr bwMode="auto">
          <a:xfrm>
            <a:off x="1563688" y="3043238"/>
            <a:ext cx="393700" cy="303212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/>
          <a:lstStyle/>
          <a:p>
            <a:endParaRPr lang="ko-KR" altLang="en-US">
              <a:solidFill>
                <a:srgbClr val="FFFFFF"/>
              </a:solidFill>
              <a:ea typeface="굴림" pitchFamily="50" charset="-127"/>
            </a:endParaRPr>
          </a:p>
        </p:txBody>
      </p:sp>
      <p:sp>
        <p:nvSpPr>
          <p:cNvPr id="32796" name="Rectangle 27"/>
          <p:cNvSpPr>
            <a:spLocks noChangeArrowheads="1"/>
          </p:cNvSpPr>
          <p:nvPr/>
        </p:nvSpPr>
        <p:spPr bwMode="auto">
          <a:xfrm>
            <a:off x="1550988" y="3030538"/>
            <a:ext cx="419100" cy="328612"/>
          </a:xfrm>
          <a:prstGeom prst="rect">
            <a:avLst/>
          </a:prstGeom>
          <a:noFill/>
          <a:ln w="30163"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ko-KR" altLang="en-US">
              <a:solidFill>
                <a:srgbClr val="FFFFFF"/>
              </a:solidFill>
              <a:ea typeface="굴림" pitchFamily="50" charset="-127"/>
            </a:endParaRPr>
          </a:p>
        </p:txBody>
      </p:sp>
      <p:sp>
        <p:nvSpPr>
          <p:cNvPr id="32797" name="Rectangle 28"/>
          <p:cNvSpPr>
            <a:spLocks noChangeArrowheads="1"/>
          </p:cNvSpPr>
          <p:nvPr/>
        </p:nvSpPr>
        <p:spPr bwMode="auto">
          <a:xfrm>
            <a:off x="2565400" y="3043238"/>
            <a:ext cx="393700" cy="303212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/>
          <a:lstStyle/>
          <a:p>
            <a:endParaRPr lang="ko-KR" altLang="en-US">
              <a:solidFill>
                <a:srgbClr val="FFFFFF"/>
              </a:solidFill>
              <a:ea typeface="굴림" pitchFamily="50" charset="-127"/>
            </a:endParaRPr>
          </a:p>
        </p:txBody>
      </p:sp>
      <p:sp>
        <p:nvSpPr>
          <p:cNvPr id="32798" name="Rectangle 29"/>
          <p:cNvSpPr>
            <a:spLocks noChangeArrowheads="1"/>
          </p:cNvSpPr>
          <p:nvPr/>
        </p:nvSpPr>
        <p:spPr bwMode="auto">
          <a:xfrm>
            <a:off x="2552700" y="3030538"/>
            <a:ext cx="419100" cy="328612"/>
          </a:xfrm>
          <a:prstGeom prst="rect">
            <a:avLst/>
          </a:prstGeom>
          <a:noFill/>
          <a:ln w="30163"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ko-KR" altLang="en-US">
              <a:solidFill>
                <a:srgbClr val="FFFFFF"/>
              </a:solidFill>
              <a:ea typeface="굴림" pitchFamily="50" charset="-127"/>
            </a:endParaRPr>
          </a:p>
        </p:txBody>
      </p:sp>
      <p:sp>
        <p:nvSpPr>
          <p:cNvPr id="32799" name="Rectangle 30"/>
          <p:cNvSpPr>
            <a:spLocks noChangeArrowheads="1"/>
          </p:cNvSpPr>
          <p:nvPr/>
        </p:nvSpPr>
        <p:spPr bwMode="auto">
          <a:xfrm>
            <a:off x="765175" y="2865438"/>
            <a:ext cx="392113" cy="31750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/>
          <a:lstStyle/>
          <a:p>
            <a:endParaRPr lang="ko-KR" altLang="en-US">
              <a:solidFill>
                <a:srgbClr val="FFFFFF"/>
              </a:solidFill>
              <a:ea typeface="굴림" pitchFamily="50" charset="-127"/>
            </a:endParaRPr>
          </a:p>
        </p:txBody>
      </p:sp>
      <p:sp>
        <p:nvSpPr>
          <p:cNvPr id="32800" name="Rectangle 31"/>
          <p:cNvSpPr>
            <a:spLocks noChangeArrowheads="1"/>
          </p:cNvSpPr>
          <p:nvPr/>
        </p:nvSpPr>
        <p:spPr bwMode="auto">
          <a:xfrm>
            <a:off x="752475" y="2852738"/>
            <a:ext cx="417513" cy="342900"/>
          </a:xfrm>
          <a:prstGeom prst="rect">
            <a:avLst/>
          </a:prstGeom>
          <a:noFill/>
          <a:ln w="30163"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ko-KR" altLang="en-US">
              <a:solidFill>
                <a:srgbClr val="FFFFFF"/>
              </a:solidFill>
              <a:ea typeface="굴림" pitchFamily="50" charset="-127"/>
            </a:endParaRPr>
          </a:p>
        </p:txBody>
      </p:sp>
      <p:sp>
        <p:nvSpPr>
          <p:cNvPr id="32801" name="Line 32"/>
          <p:cNvSpPr>
            <a:spLocks noChangeShapeType="1"/>
          </p:cNvSpPr>
          <p:nvPr/>
        </p:nvSpPr>
        <p:spPr bwMode="auto">
          <a:xfrm>
            <a:off x="1550988" y="3689350"/>
            <a:ext cx="1587" cy="227013"/>
          </a:xfrm>
          <a:prstGeom prst="line">
            <a:avLst/>
          </a:prstGeom>
          <a:noFill/>
          <a:ln w="30163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ko-KR" altLang="en-US">
              <a:solidFill>
                <a:srgbClr val="FFFFFF"/>
              </a:solidFill>
            </a:endParaRPr>
          </a:p>
        </p:txBody>
      </p:sp>
      <p:sp>
        <p:nvSpPr>
          <p:cNvPr id="32802" name="Line 33"/>
          <p:cNvSpPr>
            <a:spLocks noChangeShapeType="1"/>
          </p:cNvSpPr>
          <p:nvPr/>
        </p:nvSpPr>
        <p:spPr bwMode="auto">
          <a:xfrm>
            <a:off x="1538288" y="4371975"/>
            <a:ext cx="1587" cy="227013"/>
          </a:xfrm>
          <a:prstGeom prst="line">
            <a:avLst/>
          </a:prstGeom>
          <a:noFill/>
          <a:ln w="30163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ko-KR" altLang="en-US">
              <a:solidFill>
                <a:srgbClr val="FFFFFF"/>
              </a:solidFill>
            </a:endParaRPr>
          </a:p>
        </p:txBody>
      </p:sp>
      <p:sp>
        <p:nvSpPr>
          <p:cNvPr id="32803" name="Oval 34"/>
          <p:cNvSpPr>
            <a:spLocks noChangeArrowheads="1"/>
          </p:cNvSpPr>
          <p:nvPr/>
        </p:nvSpPr>
        <p:spPr bwMode="auto">
          <a:xfrm>
            <a:off x="1487488" y="4611688"/>
            <a:ext cx="139700" cy="177800"/>
          </a:xfrm>
          <a:prstGeom prst="ellipse">
            <a:avLst/>
          </a:prstGeom>
          <a:solidFill>
            <a:srgbClr val="FFFFFF"/>
          </a:solidFill>
          <a:ln w="9525">
            <a:noFill/>
            <a:round/>
            <a:headEnd/>
            <a:tailEnd/>
          </a:ln>
        </p:spPr>
        <p:txBody>
          <a:bodyPr/>
          <a:lstStyle/>
          <a:p>
            <a:endParaRPr lang="ko-KR" altLang="en-US">
              <a:solidFill>
                <a:srgbClr val="FFFFFF"/>
              </a:solidFill>
              <a:ea typeface="굴림" pitchFamily="50" charset="-127"/>
            </a:endParaRPr>
          </a:p>
        </p:txBody>
      </p:sp>
      <p:sp>
        <p:nvSpPr>
          <p:cNvPr id="32804" name="Oval 35"/>
          <p:cNvSpPr>
            <a:spLocks noChangeArrowheads="1"/>
          </p:cNvSpPr>
          <p:nvPr/>
        </p:nvSpPr>
        <p:spPr bwMode="auto">
          <a:xfrm>
            <a:off x="1474788" y="4598988"/>
            <a:ext cx="165100" cy="203200"/>
          </a:xfrm>
          <a:prstGeom prst="ellipse">
            <a:avLst/>
          </a:prstGeom>
          <a:noFill/>
          <a:ln w="30163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ko-KR" altLang="en-US">
              <a:solidFill>
                <a:srgbClr val="FFFFFF"/>
              </a:solidFill>
              <a:ea typeface="굴림" pitchFamily="50" charset="-127"/>
            </a:endParaRPr>
          </a:p>
        </p:txBody>
      </p:sp>
      <p:sp>
        <p:nvSpPr>
          <p:cNvPr id="32805" name="Freeform 36"/>
          <p:cNvSpPr>
            <a:spLocks/>
          </p:cNvSpPr>
          <p:nvPr/>
        </p:nvSpPr>
        <p:spPr bwMode="auto">
          <a:xfrm>
            <a:off x="587375" y="2182813"/>
            <a:ext cx="976313" cy="1936750"/>
          </a:xfrm>
          <a:custGeom>
            <a:avLst/>
            <a:gdLst>
              <a:gd name="T0" fmla="*/ 2147483647 w 615"/>
              <a:gd name="T1" fmla="*/ 2147483647 h 1220"/>
              <a:gd name="T2" fmla="*/ 0 w 615"/>
              <a:gd name="T3" fmla="*/ 2147483647 h 1220"/>
              <a:gd name="T4" fmla="*/ 0 w 615"/>
              <a:gd name="T5" fmla="*/ 2147483647 h 1220"/>
              <a:gd name="T6" fmla="*/ 0 w 615"/>
              <a:gd name="T7" fmla="*/ 0 h 1220"/>
              <a:gd name="T8" fmla="*/ 0 w 615"/>
              <a:gd name="T9" fmla="*/ 0 h 1220"/>
              <a:gd name="T10" fmla="*/ 2147483647 w 615"/>
              <a:gd name="T11" fmla="*/ 0 h 1220"/>
              <a:gd name="T12" fmla="*/ 2147483647 w 615"/>
              <a:gd name="T13" fmla="*/ 0 h 1220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615"/>
              <a:gd name="T22" fmla="*/ 0 h 1220"/>
              <a:gd name="T23" fmla="*/ 615 w 615"/>
              <a:gd name="T24" fmla="*/ 1220 h 1220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615" h="1220">
                <a:moveTo>
                  <a:pt x="471" y="1220"/>
                </a:moveTo>
                <a:lnTo>
                  <a:pt x="0" y="1220"/>
                </a:lnTo>
                <a:lnTo>
                  <a:pt x="0" y="0"/>
                </a:lnTo>
                <a:lnTo>
                  <a:pt x="615" y="0"/>
                </a:lnTo>
              </a:path>
            </a:pathLst>
          </a:custGeom>
          <a:noFill/>
          <a:ln w="30163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ko-KR" altLang="en-US">
              <a:solidFill>
                <a:srgbClr val="FFFFFF"/>
              </a:solidFill>
              <a:ea typeface="굴림" pitchFamily="50" charset="-127"/>
            </a:endParaRPr>
          </a:p>
        </p:txBody>
      </p:sp>
      <p:sp>
        <p:nvSpPr>
          <p:cNvPr id="32806" name="Freeform 37"/>
          <p:cNvSpPr>
            <a:spLocks/>
          </p:cNvSpPr>
          <p:nvPr/>
        </p:nvSpPr>
        <p:spPr bwMode="auto">
          <a:xfrm>
            <a:off x="574675" y="2170113"/>
            <a:ext cx="976313" cy="1936750"/>
          </a:xfrm>
          <a:custGeom>
            <a:avLst/>
            <a:gdLst>
              <a:gd name="T0" fmla="*/ 2147483647 w 615"/>
              <a:gd name="T1" fmla="*/ 2147483647 h 1220"/>
              <a:gd name="T2" fmla="*/ 0 w 615"/>
              <a:gd name="T3" fmla="*/ 2147483647 h 1220"/>
              <a:gd name="T4" fmla="*/ 0 w 615"/>
              <a:gd name="T5" fmla="*/ 0 h 1220"/>
              <a:gd name="T6" fmla="*/ 2147483647 w 615"/>
              <a:gd name="T7" fmla="*/ 0 h 1220"/>
              <a:gd name="T8" fmla="*/ 0 60000 65536"/>
              <a:gd name="T9" fmla="*/ 0 60000 65536"/>
              <a:gd name="T10" fmla="*/ 0 60000 65536"/>
              <a:gd name="T11" fmla="*/ 0 60000 65536"/>
              <a:gd name="T12" fmla="*/ 0 w 615"/>
              <a:gd name="T13" fmla="*/ 0 h 1220"/>
              <a:gd name="T14" fmla="*/ 615 w 615"/>
              <a:gd name="T15" fmla="*/ 1220 h 122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15" h="1220">
                <a:moveTo>
                  <a:pt x="471" y="1220"/>
                </a:moveTo>
                <a:lnTo>
                  <a:pt x="0" y="1220"/>
                </a:lnTo>
                <a:lnTo>
                  <a:pt x="0" y="0"/>
                </a:lnTo>
                <a:lnTo>
                  <a:pt x="615" y="0"/>
                </a:lnTo>
              </a:path>
            </a:pathLst>
          </a:custGeom>
          <a:noFill/>
          <a:ln w="30163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ko-KR" altLang="en-US">
              <a:solidFill>
                <a:srgbClr val="FFFFFF"/>
              </a:solidFill>
              <a:ea typeface="굴림" pitchFamily="50" charset="-127"/>
            </a:endParaRPr>
          </a:p>
        </p:txBody>
      </p:sp>
      <p:grpSp>
        <p:nvGrpSpPr>
          <p:cNvPr id="32807" name="Group 38"/>
          <p:cNvGrpSpPr>
            <a:grpSpLocks/>
          </p:cNvGrpSpPr>
          <p:nvPr/>
        </p:nvGrpSpPr>
        <p:grpSpPr bwMode="auto">
          <a:xfrm>
            <a:off x="1373188" y="2132013"/>
            <a:ext cx="203200" cy="88900"/>
            <a:chOff x="903" y="1334"/>
            <a:chExt cx="128" cy="56"/>
          </a:xfrm>
        </p:grpSpPr>
        <p:sp>
          <p:nvSpPr>
            <p:cNvPr id="32834" name="Freeform 39"/>
            <p:cNvSpPr>
              <a:spLocks/>
            </p:cNvSpPr>
            <p:nvPr/>
          </p:nvSpPr>
          <p:spPr bwMode="auto">
            <a:xfrm>
              <a:off x="911" y="1334"/>
              <a:ext cx="120" cy="56"/>
            </a:xfrm>
            <a:custGeom>
              <a:avLst/>
              <a:gdLst>
                <a:gd name="T0" fmla="*/ 120 w 120"/>
                <a:gd name="T1" fmla="*/ 32 h 56"/>
                <a:gd name="T2" fmla="*/ 0 w 120"/>
                <a:gd name="T3" fmla="*/ 56 h 56"/>
                <a:gd name="T4" fmla="*/ 0 w 120"/>
                <a:gd name="T5" fmla="*/ 32 h 56"/>
                <a:gd name="T6" fmla="*/ 0 w 120"/>
                <a:gd name="T7" fmla="*/ 0 h 56"/>
                <a:gd name="T8" fmla="*/ 120 w 120"/>
                <a:gd name="T9" fmla="*/ 32 h 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20"/>
                <a:gd name="T16" fmla="*/ 0 h 56"/>
                <a:gd name="T17" fmla="*/ 120 w 120"/>
                <a:gd name="T18" fmla="*/ 56 h 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20" h="56">
                  <a:moveTo>
                    <a:pt x="120" y="32"/>
                  </a:moveTo>
                  <a:lnTo>
                    <a:pt x="0" y="56"/>
                  </a:lnTo>
                  <a:lnTo>
                    <a:pt x="0" y="32"/>
                  </a:lnTo>
                  <a:lnTo>
                    <a:pt x="0" y="0"/>
                  </a:lnTo>
                  <a:lnTo>
                    <a:pt x="120" y="32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ko-KR" altLang="en-US">
                <a:solidFill>
                  <a:srgbClr val="FFFFFF"/>
                </a:solidFill>
                <a:ea typeface="굴림" pitchFamily="50" charset="-127"/>
              </a:endParaRPr>
            </a:p>
          </p:txBody>
        </p:sp>
        <p:sp>
          <p:nvSpPr>
            <p:cNvPr id="32835" name="Line 40"/>
            <p:cNvSpPr>
              <a:spLocks noChangeShapeType="1"/>
            </p:cNvSpPr>
            <p:nvPr/>
          </p:nvSpPr>
          <p:spPr bwMode="auto">
            <a:xfrm>
              <a:off x="903" y="1366"/>
              <a:ext cx="8" cy="1"/>
            </a:xfrm>
            <a:prstGeom prst="line">
              <a:avLst/>
            </a:prstGeom>
            <a:noFill/>
            <a:ln w="17463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>
                <a:solidFill>
                  <a:srgbClr val="FFFFFF"/>
                </a:solidFill>
              </a:endParaRPr>
            </a:p>
          </p:txBody>
        </p:sp>
      </p:grpSp>
      <p:grpSp>
        <p:nvGrpSpPr>
          <p:cNvPr id="32808" name="Group 41"/>
          <p:cNvGrpSpPr>
            <a:grpSpLocks/>
          </p:cNvGrpSpPr>
          <p:nvPr/>
        </p:nvGrpSpPr>
        <p:grpSpPr bwMode="auto">
          <a:xfrm>
            <a:off x="2222500" y="2498725"/>
            <a:ext cx="88900" cy="254000"/>
            <a:chOff x="1438" y="1565"/>
            <a:chExt cx="56" cy="160"/>
          </a:xfrm>
        </p:grpSpPr>
        <p:sp>
          <p:nvSpPr>
            <p:cNvPr id="32832" name="Freeform 42"/>
            <p:cNvSpPr>
              <a:spLocks/>
            </p:cNvSpPr>
            <p:nvPr/>
          </p:nvSpPr>
          <p:spPr bwMode="auto">
            <a:xfrm>
              <a:off x="1438" y="1613"/>
              <a:ext cx="56" cy="112"/>
            </a:xfrm>
            <a:custGeom>
              <a:avLst/>
              <a:gdLst>
                <a:gd name="T0" fmla="*/ 24 w 56"/>
                <a:gd name="T1" fmla="*/ 112 h 112"/>
                <a:gd name="T2" fmla="*/ 0 w 56"/>
                <a:gd name="T3" fmla="*/ 0 h 112"/>
                <a:gd name="T4" fmla="*/ 24 w 56"/>
                <a:gd name="T5" fmla="*/ 0 h 112"/>
                <a:gd name="T6" fmla="*/ 56 w 56"/>
                <a:gd name="T7" fmla="*/ 0 h 112"/>
                <a:gd name="T8" fmla="*/ 24 w 56"/>
                <a:gd name="T9" fmla="*/ 112 h 11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56"/>
                <a:gd name="T16" fmla="*/ 0 h 112"/>
                <a:gd name="T17" fmla="*/ 56 w 56"/>
                <a:gd name="T18" fmla="*/ 112 h 11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56" h="112">
                  <a:moveTo>
                    <a:pt x="24" y="112"/>
                  </a:moveTo>
                  <a:lnTo>
                    <a:pt x="0" y="0"/>
                  </a:lnTo>
                  <a:lnTo>
                    <a:pt x="24" y="0"/>
                  </a:lnTo>
                  <a:lnTo>
                    <a:pt x="56" y="0"/>
                  </a:lnTo>
                  <a:lnTo>
                    <a:pt x="24" y="112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ko-KR" altLang="en-US">
                <a:solidFill>
                  <a:srgbClr val="FFFFFF"/>
                </a:solidFill>
                <a:ea typeface="굴림" pitchFamily="50" charset="-127"/>
              </a:endParaRPr>
            </a:p>
          </p:txBody>
        </p:sp>
        <p:sp>
          <p:nvSpPr>
            <p:cNvPr id="32833" name="Line 43"/>
            <p:cNvSpPr>
              <a:spLocks noChangeShapeType="1"/>
            </p:cNvSpPr>
            <p:nvPr/>
          </p:nvSpPr>
          <p:spPr bwMode="auto">
            <a:xfrm>
              <a:off x="1462" y="1565"/>
              <a:ext cx="1" cy="48"/>
            </a:xfrm>
            <a:prstGeom prst="line">
              <a:avLst/>
            </a:prstGeom>
            <a:noFill/>
            <a:ln w="17463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>
                <a:solidFill>
                  <a:srgbClr val="FFFFFF"/>
                </a:solidFill>
              </a:endParaRPr>
            </a:p>
          </p:txBody>
        </p:sp>
      </p:grpSp>
      <p:grpSp>
        <p:nvGrpSpPr>
          <p:cNvPr id="32809" name="Group 44"/>
          <p:cNvGrpSpPr>
            <a:grpSpLocks/>
          </p:cNvGrpSpPr>
          <p:nvPr/>
        </p:nvGrpSpPr>
        <p:grpSpPr bwMode="auto">
          <a:xfrm>
            <a:off x="917575" y="2638425"/>
            <a:ext cx="88900" cy="227013"/>
            <a:chOff x="616" y="1653"/>
            <a:chExt cx="56" cy="143"/>
          </a:xfrm>
        </p:grpSpPr>
        <p:sp>
          <p:nvSpPr>
            <p:cNvPr id="32830" name="Freeform 45"/>
            <p:cNvSpPr>
              <a:spLocks/>
            </p:cNvSpPr>
            <p:nvPr/>
          </p:nvSpPr>
          <p:spPr bwMode="auto">
            <a:xfrm>
              <a:off x="616" y="1685"/>
              <a:ext cx="56" cy="111"/>
            </a:xfrm>
            <a:custGeom>
              <a:avLst/>
              <a:gdLst>
                <a:gd name="T0" fmla="*/ 32 w 56"/>
                <a:gd name="T1" fmla="*/ 111 h 111"/>
                <a:gd name="T2" fmla="*/ 0 w 56"/>
                <a:gd name="T3" fmla="*/ 0 h 111"/>
                <a:gd name="T4" fmla="*/ 32 w 56"/>
                <a:gd name="T5" fmla="*/ 0 h 111"/>
                <a:gd name="T6" fmla="*/ 56 w 56"/>
                <a:gd name="T7" fmla="*/ 0 h 111"/>
                <a:gd name="T8" fmla="*/ 32 w 56"/>
                <a:gd name="T9" fmla="*/ 111 h 1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56"/>
                <a:gd name="T16" fmla="*/ 0 h 111"/>
                <a:gd name="T17" fmla="*/ 56 w 56"/>
                <a:gd name="T18" fmla="*/ 111 h 1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56" h="111">
                  <a:moveTo>
                    <a:pt x="32" y="111"/>
                  </a:moveTo>
                  <a:lnTo>
                    <a:pt x="0" y="0"/>
                  </a:lnTo>
                  <a:lnTo>
                    <a:pt x="32" y="0"/>
                  </a:lnTo>
                  <a:lnTo>
                    <a:pt x="56" y="0"/>
                  </a:lnTo>
                  <a:lnTo>
                    <a:pt x="32" y="111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ko-KR" altLang="en-US">
                <a:solidFill>
                  <a:srgbClr val="FFFFFF"/>
                </a:solidFill>
                <a:ea typeface="굴림" pitchFamily="50" charset="-127"/>
              </a:endParaRPr>
            </a:p>
          </p:txBody>
        </p:sp>
        <p:sp>
          <p:nvSpPr>
            <p:cNvPr id="32831" name="Line 46"/>
            <p:cNvSpPr>
              <a:spLocks noChangeShapeType="1"/>
            </p:cNvSpPr>
            <p:nvPr/>
          </p:nvSpPr>
          <p:spPr bwMode="auto">
            <a:xfrm>
              <a:off x="648" y="1653"/>
              <a:ext cx="1" cy="32"/>
            </a:xfrm>
            <a:prstGeom prst="line">
              <a:avLst/>
            </a:prstGeom>
            <a:noFill/>
            <a:ln w="17463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>
                <a:solidFill>
                  <a:srgbClr val="FFFFFF"/>
                </a:solidFill>
              </a:endParaRPr>
            </a:p>
          </p:txBody>
        </p:sp>
      </p:grpSp>
      <p:grpSp>
        <p:nvGrpSpPr>
          <p:cNvPr id="32810" name="Group 47"/>
          <p:cNvGrpSpPr>
            <a:grpSpLocks/>
          </p:cNvGrpSpPr>
          <p:nvPr/>
        </p:nvGrpSpPr>
        <p:grpSpPr bwMode="auto">
          <a:xfrm>
            <a:off x="1512888" y="3702050"/>
            <a:ext cx="88900" cy="252413"/>
            <a:chOff x="991" y="2323"/>
            <a:chExt cx="56" cy="159"/>
          </a:xfrm>
        </p:grpSpPr>
        <p:sp>
          <p:nvSpPr>
            <p:cNvPr id="32828" name="Freeform 48"/>
            <p:cNvSpPr>
              <a:spLocks/>
            </p:cNvSpPr>
            <p:nvPr/>
          </p:nvSpPr>
          <p:spPr bwMode="auto">
            <a:xfrm>
              <a:off x="991" y="2370"/>
              <a:ext cx="56" cy="112"/>
            </a:xfrm>
            <a:custGeom>
              <a:avLst/>
              <a:gdLst>
                <a:gd name="T0" fmla="*/ 32 w 56"/>
                <a:gd name="T1" fmla="*/ 112 h 112"/>
                <a:gd name="T2" fmla="*/ 0 w 56"/>
                <a:gd name="T3" fmla="*/ 0 h 112"/>
                <a:gd name="T4" fmla="*/ 32 w 56"/>
                <a:gd name="T5" fmla="*/ 0 h 112"/>
                <a:gd name="T6" fmla="*/ 56 w 56"/>
                <a:gd name="T7" fmla="*/ 0 h 112"/>
                <a:gd name="T8" fmla="*/ 32 w 56"/>
                <a:gd name="T9" fmla="*/ 112 h 11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56"/>
                <a:gd name="T16" fmla="*/ 0 h 112"/>
                <a:gd name="T17" fmla="*/ 56 w 56"/>
                <a:gd name="T18" fmla="*/ 112 h 11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56" h="112">
                  <a:moveTo>
                    <a:pt x="32" y="112"/>
                  </a:moveTo>
                  <a:lnTo>
                    <a:pt x="0" y="0"/>
                  </a:lnTo>
                  <a:lnTo>
                    <a:pt x="32" y="0"/>
                  </a:lnTo>
                  <a:lnTo>
                    <a:pt x="56" y="0"/>
                  </a:lnTo>
                  <a:lnTo>
                    <a:pt x="32" y="112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ko-KR" altLang="en-US">
                <a:solidFill>
                  <a:srgbClr val="FFFFFF"/>
                </a:solidFill>
                <a:ea typeface="굴림" pitchFamily="50" charset="-127"/>
              </a:endParaRPr>
            </a:p>
          </p:txBody>
        </p:sp>
        <p:sp>
          <p:nvSpPr>
            <p:cNvPr id="32829" name="Line 49"/>
            <p:cNvSpPr>
              <a:spLocks noChangeShapeType="1"/>
            </p:cNvSpPr>
            <p:nvPr/>
          </p:nvSpPr>
          <p:spPr bwMode="auto">
            <a:xfrm>
              <a:off x="1023" y="2323"/>
              <a:ext cx="1" cy="47"/>
            </a:xfrm>
            <a:prstGeom prst="line">
              <a:avLst/>
            </a:prstGeom>
            <a:noFill/>
            <a:ln w="17463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>
                <a:solidFill>
                  <a:srgbClr val="FFFFFF"/>
                </a:solidFill>
              </a:endParaRPr>
            </a:p>
          </p:txBody>
        </p:sp>
      </p:grpSp>
      <p:grpSp>
        <p:nvGrpSpPr>
          <p:cNvPr id="32811" name="Group 50"/>
          <p:cNvGrpSpPr>
            <a:grpSpLocks/>
          </p:cNvGrpSpPr>
          <p:nvPr/>
        </p:nvGrpSpPr>
        <p:grpSpPr bwMode="auto">
          <a:xfrm>
            <a:off x="1487488" y="2017713"/>
            <a:ext cx="88900" cy="190500"/>
            <a:chOff x="975" y="1262"/>
            <a:chExt cx="56" cy="120"/>
          </a:xfrm>
        </p:grpSpPr>
        <p:sp>
          <p:nvSpPr>
            <p:cNvPr id="32826" name="Freeform 51"/>
            <p:cNvSpPr>
              <a:spLocks/>
            </p:cNvSpPr>
            <p:nvPr/>
          </p:nvSpPr>
          <p:spPr bwMode="auto">
            <a:xfrm>
              <a:off x="975" y="1270"/>
              <a:ext cx="56" cy="112"/>
            </a:xfrm>
            <a:custGeom>
              <a:avLst/>
              <a:gdLst>
                <a:gd name="T0" fmla="*/ 32 w 56"/>
                <a:gd name="T1" fmla="*/ 112 h 112"/>
                <a:gd name="T2" fmla="*/ 0 w 56"/>
                <a:gd name="T3" fmla="*/ 0 h 112"/>
                <a:gd name="T4" fmla="*/ 32 w 56"/>
                <a:gd name="T5" fmla="*/ 0 h 112"/>
                <a:gd name="T6" fmla="*/ 56 w 56"/>
                <a:gd name="T7" fmla="*/ 0 h 112"/>
                <a:gd name="T8" fmla="*/ 32 w 56"/>
                <a:gd name="T9" fmla="*/ 112 h 11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56"/>
                <a:gd name="T16" fmla="*/ 0 h 112"/>
                <a:gd name="T17" fmla="*/ 56 w 56"/>
                <a:gd name="T18" fmla="*/ 112 h 11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56" h="112">
                  <a:moveTo>
                    <a:pt x="32" y="112"/>
                  </a:moveTo>
                  <a:lnTo>
                    <a:pt x="0" y="0"/>
                  </a:lnTo>
                  <a:lnTo>
                    <a:pt x="32" y="0"/>
                  </a:lnTo>
                  <a:lnTo>
                    <a:pt x="56" y="0"/>
                  </a:lnTo>
                  <a:lnTo>
                    <a:pt x="32" y="112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ko-KR" altLang="en-US">
                <a:solidFill>
                  <a:srgbClr val="FFFFFF"/>
                </a:solidFill>
                <a:ea typeface="굴림" pitchFamily="50" charset="-127"/>
              </a:endParaRPr>
            </a:p>
          </p:txBody>
        </p:sp>
        <p:sp>
          <p:nvSpPr>
            <p:cNvPr id="32827" name="Line 52"/>
            <p:cNvSpPr>
              <a:spLocks noChangeShapeType="1"/>
            </p:cNvSpPr>
            <p:nvPr/>
          </p:nvSpPr>
          <p:spPr bwMode="auto">
            <a:xfrm>
              <a:off x="1007" y="1262"/>
              <a:ext cx="1" cy="8"/>
            </a:xfrm>
            <a:prstGeom prst="line">
              <a:avLst/>
            </a:prstGeom>
            <a:noFill/>
            <a:ln w="17463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>
                <a:solidFill>
                  <a:srgbClr val="FFFFFF"/>
                </a:solidFill>
              </a:endParaRPr>
            </a:p>
          </p:txBody>
        </p:sp>
      </p:grpSp>
      <p:grpSp>
        <p:nvGrpSpPr>
          <p:cNvPr id="32812" name="Group 53"/>
          <p:cNvGrpSpPr>
            <a:grpSpLocks/>
          </p:cNvGrpSpPr>
          <p:nvPr/>
        </p:nvGrpSpPr>
        <p:grpSpPr bwMode="auto">
          <a:xfrm>
            <a:off x="1500188" y="4435475"/>
            <a:ext cx="88900" cy="201613"/>
            <a:chOff x="983" y="2785"/>
            <a:chExt cx="56" cy="127"/>
          </a:xfrm>
        </p:grpSpPr>
        <p:sp>
          <p:nvSpPr>
            <p:cNvPr id="32824" name="Freeform 54"/>
            <p:cNvSpPr>
              <a:spLocks/>
            </p:cNvSpPr>
            <p:nvPr/>
          </p:nvSpPr>
          <p:spPr bwMode="auto">
            <a:xfrm>
              <a:off x="983" y="2801"/>
              <a:ext cx="56" cy="111"/>
            </a:xfrm>
            <a:custGeom>
              <a:avLst/>
              <a:gdLst>
                <a:gd name="T0" fmla="*/ 32 w 56"/>
                <a:gd name="T1" fmla="*/ 111 h 111"/>
                <a:gd name="T2" fmla="*/ 0 w 56"/>
                <a:gd name="T3" fmla="*/ 0 h 111"/>
                <a:gd name="T4" fmla="*/ 32 w 56"/>
                <a:gd name="T5" fmla="*/ 0 h 111"/>
                <a:gd name="T6" fmla="*/ 56 w 56"/>
                <a:gd name="T7" fmla="*/ 0 h 111"/>
                <a:gd name="T8" fmla="*/ 32 w 56"/>
                <a:gd name="T9" fmla="*/ 111 h 11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56"/>
                <a:gd name="T16" fmla="*/ 0 h 111"/>
                <a:gd name="T17" fmla="*/ 56 w 56"/>
                <a:gd name="T18" fmla="*/ 111 h 11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56" h="111">
                  <a:moveTo>
                    <a:pt x="32" y="111"/>
                  </a:moveTo>
                  <a:lnTo>
                    <a:pt x="0" y="0"/>
                  </a:lnTo>
                  <a:lnTo>
                    <a:pt x="32" y="0"/>
                  </a:lnTo>
                  <a:lnTo>
                    <a:pt x="56" y="0"/>
                  </a:lnTo>
                  <a:lnTo>
                    <a:pt x="32" y="111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ko-KR" altLang="en-US">
                <a:solidFill>
                  <a:srgbClr val="FFFFFF"/>
                </a:solidFill>
                <a:ea typeface="굴림" pitchFamily="50" charset="-127"/>
              </a:endParaRPr>
            </a:p>
          </p:txBody>
        </p:sp>
        <p:sp>
          <p:nvSpPr>
            <p:cNvPr id="32825" name="Line 55"/>
            <p:cNvSpPr>
              <a:spLocks noChangeShapeType="1"/>
            </p:cNvSpPr>
            <p:nvPr/>
          </p:nvSpPr>
          <p:spPr bwMode="auto">
            <a:xfrm>
              <a:off x="1015" y="2785"/>
              <a:ext cx="1" cy="16"/>
            </a:xfrm>
            <a:prstGeom prst="line">
              <a:avLst/>
            </a:prstGeom>
            <a:noFill/>
            <a:ln w="17463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>
                <a:solidFill>
                  <a:srgbClr val="FFFFFF"/>
                </a:solidFill>
              </a:endParaRPr>
            </a:p>
          </p:txBody>
        </p:sp>
      </p:grpSp>
      <p:sp>
        <p:nvSpPr>
          <p:cNvPr id="32813" name="Rectangle 56"/>
          <p:cNvSpPr>
            <a:spLocks noChangeArrowheads="1"/>
          </p:cNvSpPr>
          <p:nvPr/>
        </p:nvSpPr>
        <p:spPr bwMode="auto">
          <a:xfrm>
            <a:off x="3321050" y="974725"/>
            <a:ext cx="5508625" cy="19943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spAutoFit/>
          </a:bodyPr>
          <a:lstStyle/>
          <a:p>
            <a:pPr>
              <a:buFont typeface="Arial" charset="0"/>
              <a:buChar char="•"/>
            </a:pPr>
            <a:r>
              <a:rPr lang="en-US" altLang="ko-KR" sz="2400" b="0" dirty="0">
                <a:solidFill>
                  <a:srgbClr val="003399"/>
                </a:solidFill>
                <a:ea typeface="굴림" pitchFamily="50" charset="-127"/>
              </a:rPr>
              <a:t>A </a:t>
            </a:r>
            <a:r>
              <a:rPr lang="en-US" altLang="ko-KR" sz="2400" b="0" u="sng" dirty="0">
                <a:solidFill>
                  <a:srgbClr val="003399"/>
                </a:solidFill>
                <a:ea typeface="굴림" pitchFamily="50" charset="-127"/>
              </a:rPr>
              <a:t>quantitative measure </a:t>
            </a:r>
            <a:r>
              <a:rPr lang="en-US" altLang="ko-KR" sz="2400" b="0" dirty="0">
                <a:solidFill>
                  <a:srgbClr val="003399"/>
                </a:solidFill>
                <a:ea typeface="굴림" pitchFamily="50" charset="-127"/>
              </a:rPr>
              <a:t>of the </a:t>
            </a:r>
            <a:r>
              <a:rPr lang="en-US" altLang="ko-KR" sz="2400" b="0" u="sng" dirty="0">
                <a:solidFill>
                  <a:srgbClr val="003399"/>
                </a:solidFill>
                <a:ea typeface="굴림" pitchFamily="50" charset="-127"/>
              </a:rPr>
              <a:t>logical complexity </a:t>
            </a:r>
            <a:r>
              <a:rPr lang="en-US" altLang="ko-KR" sz="2400" b="0" dirty="0">
                <a:solidFill>
                  <a:srgbClr val="003399"/>
                </a:solidFill>
                <a:ea typeface="굴림" pitchFamily="50" charset="-127"/>
              </a:rPr>
              <a:t> </a:t>
            </a:r>
          </a:p>
          <a:p>
            <a:endParaRPr lang="en-US" altLang="ko-KR" sz="2400" b="0" dirty="0">
              <a:solidFill>
                <a:srgbClr val="003399"/>
              </a:solidFill>
              <a:ea typeface="굴림" pitchFamily="50" charset="-127"/>
            </a:endParaRPr>
          </a:p>
          <a:p>
            <a:pPr>
              <a:buFont typeface="Arial" charset="0"/>
              <a:buChar char="•"/>
            </a:pPr>
            <a:r>
              <a:rPr lang="en-US" altLang="ko-KR" sz="2400" b="0" dirty="0" err="1">
                <a:solidFill>
                  <a:srgbClr val="003399"/>
                </a:solidFill>
                <a:ea typeface="굴림" pitchFamily="50" charset="-127"/>
              </a:rPr>
              <a:t>Cyclomatic</a:t>
            </a:r>
            <a:r>
              <a:rPr lang="en-US" altLang="ko-KR" sz="2400" b="0" dirty="0">
                <a:solidFill>
                  <a:srgbClr val="003399"/>
                </a:solidFill>
                <a:ea typeface="굴림" pitchFamily="50" charset="-127"/>
              </a:rPr>
              <a:t> complexity defines the # of independent paths to test for complete statement/branch coverage</a:t>
            </a:r>
            <a:endParaRPr lang="en-US" altLang="ko-KR" dirty="0">
              <a:solidFill>
                <a:srgbClr val="003399"/>
              </a:solidFill>
              <a:ea typeface="굴림" pitchFamily="50" charset="-127"/>
            </a:endParaRPr>
          </a:p>
        </p:txBody>
      </p:sp>
      <p:sp>
        <p:nvSpPr>
          <p:cNvPr id="32814" name="Rectangle 58"/>
          <p:cNvSpPr>
            <a:spLocks noChangeArrowheads="1"/>
          </p:cNvSpPr>
          <p:nvPr/>
        </p:nvSpPr>
        <p:spPr bwMode="auto">
          <a:xfrm>
            <a:off x="3487738" y="2168525"/>
            <a:ext cx="0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>
            <a:spAutoFit/>
          </a:bodyPr>
          <a:lstStyle/>
          <a:p>
            <a:endParaRPr lang="ko-KR" altLang="en-US">
              <a:solidFill>
                <a:srgbClr val="003399"/>
              </a:solidFill>
              <a:ea typeface="굴림" pitchFamily="50" charset="-127"/>
            </a:endParaRPr>
          </a:p>
        </p:txBody>
      </p:sp>
      <p:sp>
        <p:nvSpPr>
          <p:cNvPr id="32815" name="Rectangle 59"/>
          <p:cNvSpPr>
            <a:spLocks noChangeArrowheads="1"/>
          </p:cNvSpPr>
          <p:nvPr/>
        </p:nvSpPr>
        <p:spPr bwMode="auto">
          <a:xfrm>
            <a:off x="3622675" y="3309938"/>
            <a:ext cx="5156200" cy="328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>
            <a:spAutoFit/>
          </a:bodyPr>
          <a:lstStyle/>
          <a:p>
            <a:r>
              <a:rPr lang="en-US" altLang="ko-KR" sz="2400" b="0">
                <a:solidFill>
                  <a:srgbClr val="003399"/>
                </a:solidFill>
                <a:ea typeface="굴림" pitchFamily="50" charset="-127"/>
              </a:rPr>
              <a:t>- number of simple decisions + 1         </a:t>
            </a:r>
            <a:endParaRPr lang="en-US" altLang="ko-KR">
              <a:solidFill>
                <a:srgbClr val="003399"/>
              </a:solidFill>
              <a:ea typeface="굴림" pitchFamily="50" charset="-127"/>
            </a:endParaRPr>
          </a:p>
        </p:txBody>
      </p:sp>
      <p:sp>
        <p:nvSpPr>
          <p:cNvPr id="32816" name="Rectangle 60"/>
          <p:cNvSpPr>
            <a:spLocks noChangeArrowheads="1"/>
          </p:cNvSpPr>
          <p:nvPr/>
        </p:nvSpPr>
        <p:spPr bwMode="auto">
          <a:xfrm>
            <a:off x="3636963" y="3289300"/>
            <a:ext cx="0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>
            <a:spAutoFit/>
          </a:bodyPr>
          <a:lstStyle/>
          <a:p>
            <a:endParaRPr lang="ko-KR" altLang="en-US">
              <a:solidFill>
                <a:srgbClr val="003399"/>
              </a:solidFill>
              <a:ea typeface="굴림" pitchFamily="50" charset="-127"/>
            </a:endParaRPr>
          </a:p>
        </p:txBody>
      </p:sp>
      <p:sp>
        <p:nvSpPr>
          <p:cNvPr id="32817" name="Rectangle 62"/>
          <p:cNvSpPr>
            <a:spLocks noChangeArrowheads="1"/>
          </p:cNvSpPr>
          <p:nvPr/>
        </p:nvSpPr>
        <p:spPr bwMode="auto">
          <a:xfrm>
            <a:off x="3636963" y="3922713"/>
            <a:ext cx="0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>
            <a:spAutoFit/>
          </a:bodyPr>
          <a:lstStyle/>
          <a:p>
            <a:endParaRPr lang="ko-KR" altLang="en-US">
              <a:solidFill>
                <a:srgbClr val="003399"/>
              </a:solidFill>
              <a:ea typeface="굴림" pitchFamily="50" charset="-127"/>
            </a:endParaRPr>
          </a:p>
        </p:txBody>
      </p:sp>
      <p:sp>
        <p:nvSpPr>
          <p:cNvPr id="32818" name="Rectangle 63"/>
          <p:cNvSpPr>
            <a:spLocks noChangeArrowheads="1"/>
          </p:cNvSpPr>
          <p:nvPr/>
        </p:nvSpPr>
        <p:spPr bwMode="auto">
          <a:xfrm>
            <a:off x="3636963" y="3968750"/>
            <a:ext cx="4229100" cy="3286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>
            <a:spAutoFit/>
          </a:bodyPr>
          <a:lstStyle/>
          <a:p>
            <a:r>
              <a:rPr lang="en-US" altLang="ko-KR" sz="2400" b="0">
                <a:solidFill>
                  <a:srgbClr val="003399"/>
                </a:solidFill>
                <a:ea typeface="굴림" pitchFamily="50" charset="-127"/>
              </a:rPr>
              <a:t>- number of enclosed areas + 1</a:t>
            </a:r>
            <a:endParaRPr lang="en-US" altLang="ko-KR">
              <a:solidFill>
                <a:srgbClr val="003399"/>
              </a:solidFill>
              <a:ea typeface="굴림" pitchFamily="50" charset="-127"/>
            </a:endParaRPr>
          </a:p>
        </p:txBody>
      </p:sp>
      <p:sp>
        <p:nvSpPr>
          <p:cNvPr id="32819" name="Rectangle 65"/>
          <p:cNvSpPr>
            <a:spLocks noChangeArrowheads="1"/>
          </p:cNvSpPr>
          <p:nvPr/>
        </p:nvSpPr>
        <p:spPr bwMode="auto">
          <a:xfrm>
            <a:off x="3636963" y="4383088"/>
            <a:ext cx="3054350" cy="328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>
            <a:spAutoFit/>
          </a:bodyPr>
          <a:lstStyle/>
          <a:p>
            <a:r>
              <a:rPr lang="en-US" altLang="ko-KR" sz="2400" b="0">
                <a:solidFill>
                  <a:srgbClr val="003399"/>
                </a:solidFill>
                <a:ea typeface="굴림" pitchFamily="50" charset="-127"/>
              </a:rPr>
              <a:t>- In this case, V(G) = 4</a:t>
            </a:r>
            <a:endParaRPr lang="en-US" altLang="ko-KR">
              <a:solidFill>
                <a:srgbClr val="003399"/>
              </a:solidFill>
              <a:ea typeface="굴림" pitchFamily="50" charset="-127"/>
            </a:endParaRPr>
          </a:p>
        </p:txBody>
      </p:sp>
      <p:sp>
        <p:nvSpPr>
          <p:cNvPr id="32820" name="Freeform 66"/>
          <p:cNvSpPr>
            <a:spLocks/>
          </p:cNvSpPr>
          <p:nvPr/>
        </p:nvSpPr>
        <p:spPr bwMode="auto">
          <a:xfrm>
            <a:off x="993775" y="3208338"/>
            <a:ext cx="1279525" cy="481012"/>
          </a:xfrm>
          <a:custGeom>
            <a:avLst/>
            <a:gdLst>
              <a:gd name="T0" fmla="*/ 2147483647 w 806"/>
              <a:gd name="T1" fmla="*/ 2147483647 h 303"/>
              <a:gd name="T2" fmla="*/ 2147483647 w 806"/>
              <a:gd name="T3" fmla="*/ 2147483647 h 303"/>
              <a:gd name="T4" fmla="*/ 2147483647 w 806"/>
              <a:gd name="T5" fmla="*/ 2147483647 h 303"/>
              <a:gd name="T6" fmla="*/ 0 w 806"/>
              <a:gd name="T7" fmla="*/ 2147483647 h 303"/>
              <a:gd name="T8" fmla="*/ 0 w 806"/>
              <a:gd name="T9" fmla="*/ 2147483647 h 303"/>
              <a:gd name="T10" fmla="*/ 0 w 806"/>
              <a:gd name="T11" fmla="*/ 0 h 303"/>
              <a:gd name="T12" fmla="*/ 0 w 806"/>
              <a:gd name="T13" fmla="*/ 0 h 303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06"/>
              <a:gd name="T22" fmla="*/ 0 h 303"/>
              <a:gd name="T23" fmla="*/ 806 w 806"/>
              <a:gd name="T24" fmla="*/ 303 h 303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06" h="303">
                <a:moveTo>
                  <a:pt x="806" y="215"/>
                </a:moveTo>
                <a:lnTo>
                  <a:pt x="806" y="303"/>
                </a:lnTo>
                <a:lnTo>
                  <a:pt x="0" y="303"/>
                </a:lnTo>
                <a:lnTo>
                  <a:pt x="0" y="0"/>
                </a:lnTo>
              </a:path>
            </a:pathLst>
          </a:custGeom>
          <a:noFill/>
          <a:ln w="30163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ko-KR" altLang="en-US">
              <a:solidFill>
                <a:srgbClr val="FFFFFF"/>
              </a:solidFill>
              <a:ea typeface="굴림" pitchFamily="50" charset="-127"/>
            </a:endParaRPr>
          </a:p>
        </p:txBody>
      </p:sp>
      <p:sp>
        <p:nvSpPr>
          <p:cNvPr id="32821" name="Freeform 67"/>
          <p:cNvSpPr>
            <a:spLocks/>
          </p:cNvSpPr>
          <p:nvPr/>
        </p:nvSpPr>
        <p:spPr bwMode="auto">
          <a:xfrm>
            <a:off x="981075" y="3195638"/>
            <a:ext cx="1279525" cy="481012"/>
          </a:xfrm>
          <a:custGeom>
            <a:avLst/>
            <a:gdLst>
              <a:gd name="T0" fmla="*/ 2147483647 w 806"/>
              <a:gd name="T1" fmla="*/ 2147483647 h 303"/>
              <a:gd name="T2" fmla="*/ 2147483647 w 806"/>
              <a:gd name="T3" fmla="*/ 2147483647 h 303"/>
              <a:gd name="T4" fmla="*/ 0 w 806"/>
              <a:gd name="T5" fmla="*/ 2147483647 h 303"/>
              <a:gd name="T6" fmla="*/ 0 w 806"/>
              <a:gd name="T7" fmla="*/ 0 h 303"/>
              <a:gd name="T8" fmla="*/ 0 60000 65536"/>
              <a:gd name="T9" fmla="*/ 0 60000 65536"/>
              <a:gd name="T10" fmla="*/ 0 60000 65536"/>
              <a:gd name="T11" fmla="*/ 0 60000 65536"/>
              <a:gd name="T12" fmla="*/ 0 w 806"/>
              <a:gd name="T13" fmla="*/ 0 h 303"/>
              <a:gd name="T14" fmla="*/ 806 w 806"/>
              <a:gd name="T15" fmla="*/ 303 h 303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806" h="303">
                <a:moveTo>
                  <a:pt x="806" y="215"/>
                </a:moveTo>
                <a:lnTo>
                  <a:pt x="806" y="303"/>
                </a:lnTo>
                <a:lnTo>
                  <a:pt x="0" y="303"/>
                </a:lnTo>
                <a:lnTo>
                  <a:pt x="0" y="0"/>
                </a:lnTo>
              </a:path>
            </a:pathLst>
          </a:custGeom>
          <a:noFill/>
          <a:ln w="30163">
            <a:solidFill>
              <a:srgbClr val="000000"/>
            </a:solidFill>
            <a:round/>
            <a:headEnd/>
            <a:tailEnd/>
          </a:ln>
        </p:spPr>
        <p:txBody>
          <a:bodyPr/>
          <a:lstStyle/>
          <a:p>
            <a:endParaRPr lang="ko-KR" altLang="en-US">
              <a:solidFill>
                <a:srgbClr val="FFFFFF"/>
              </a:solidFill>
              <a:ea typeface="굴림" pitchFamily="50" charset="-127"/>
            </a:endParaRPr>
          </a:p>
        </p:txBody>
      </p:sp>
      <p:sp>
        <p:nvSpPr>
          <p:cNvPr id="32822" name="Rectangle 69"/>
          <p:cNvSpPr>
            <a:spLocks noChangeArrowheads="1"/>
          </p:cNvSpPr>
          <p:nvPr/>
        </p:nvSpPr>
        <p:spPr bwMode="auto">
          <a:xfrm>
            <a:off x="3641725" y="3638550"/>
            <a:ext cx="5451813" cy="3323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>
            <a:spAutoFit/>
          </a:bodyPr>
          <a:lstStyle/>
          <a:p>
            <a:r>
              <a:rPr lang="en-US" altLang="ko-KR" sz="2400" b="0">
                <a:solidFill>
                  <a:srgbClr val="003399"/>
                </a:solidFill>
                <a:ea typeface="굴림" pitchFamily="50" charset="-127"/>
              </a:rPr>
              <a:t>- number of edge – number of node +2p</a:t>
            </a:r>
            <a:endParaRPr lang="en-US" altLang="ko-KR">
              <a:solidFill>
                <a:srgbClr val="003399"/>
              </a:solidFill>
              <a:ea typeface="굴림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04113750"/>
      </p:ext>
    </p:extLst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바닥글 개체 틀 3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/>
          <a:p>
            <a:endParaRPr lang="en-US" altLang="ko-KR" dirty="0"/>
          </a:p>
        </p:txBody>
      </p:sp>
      <p:sp>
        <p:nvSpPr>
          <p:cNvPr id="33795" name="슬라이드 번호 개체 틀 4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90954CAA-036F-4B58-8D78-F124F6B0D44B}" type="slidenum">
              <a:rPr lang="ko-KR" altLang="en-US" smtClean="0"/>
              <a:pPr/>
              <a:t>33</a:t>
            </a:fld>
            <a:endParaRPr lang="en-US" altLang="ko-KR"/>
          </a:p>
        </p:txBody>
      </p:sp>
      <p:sp>
        <p:nvSpPr>
          <p:cNvPr id="1319938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2000250" y="244475"/>
            <a:ext cx="5162550" cy="10160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ko-KR">
                <a:latin typeface="Arial" pitchFamily="34" charset="0"/>
                <a:ea typeface="굴림" pitchFamily="50" charset="-127"/>
                <a:cs typeface="Arial" pitchFamily="34" charset="0"/>
              </a:rPr>
              <a:t>Metrics for Testing</a:t>
            </a:r>
          </a:p>
        </p:txBody>
      </p:sp>
      <p:sp>
        <p:nvSpPr>
          <p:cNvPr id="1319939" name="Rectangle 3"/>
          <p:cNvSpPr>
            <a:spLocks noGrp="1" noRot="1" noChangeArrowheads="1"/>
          </p:cNvSpPr>
          <p:nvPr>
            <p:ph type="body" idx="1"/>
          </p:nvPr>
        </p:nvSpPr>
        <p:spPr>
          <a:xfrm>
            <a:off x="457200" y="1422400"/>
            <a:ext cx="8686800" cy="3998913"/>
          </a:xfrm>
        </p:spPr>
        <p:txBody>
          <a:bodyPr/>
          <a:lstStyle/>
          <a:p>
            <a:pPr eaLnBrk="1" hangingPunct="1">
              <a:lnSpc>
                <a:spcPct val="90000"/>
              </a:lnSpc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Testing effort can also be estimated using metrics derived from Halstead measures</a:t>
            </a:r>
          </a:p>
          <a:p>
            <a:pPr eaLnBrk="1" hangingPunct="1">
              <a:lnSpc>
                <a:spcPct val="90000"/>
              </a:lnSpc>
              <a:spcBef>
                <a:spcPts val="300"/>
              </a:spcBef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Binder [BIN94] suggests a broad array of design metrics that have a direct influence on the “testability” of an OO system. </a:t>
            </a:r>
          </a:p>
          <a:p>
            <a:pPr lvl="1" eaLnBrk="1" hangingPunct="1">
              <a:lnSpc>
                <a:spcPct val="90000"/>
              </a:lnSpc>
              <a:spcBef>
                <a:spcPts val="300"/>
              </a:spcBef>
              <a:defRPr/>
            </a:pPr>
            <a:r>
              <a:rPr lang="en-US" altLang="ko-KR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Lack of cohesion in methods (LCOM). </a:t>
            </a:r>
          </a:p>
          <a:p>
            <a:pPr lvl="1" eaLnBrk="1" hangingPunct="1">
              <a:lnSpc>
                <a:spcPct val="90000"/>
              </a:lnSpc>
              <a:spcBef>
                <a:spcPts val="300"/>
              </a:spcBef>
              <a:defRPr/>
            </a:pPr>
            <a:r>
              <a:rPr lang="en-US" altLang="ko-KR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Percent public and protected (PAP). </a:t>
            </a:r>
          </a:p>
          <a:p>
            <a:pPr lvl="1" eaLnBrk="1" hangingPunct="1">
              <a:lnSpc>
                <a:spcPct val="90000"/>
              </a:lnSpc>
              <a:spcBef>
                <a:spcPts val="300"/>
              </a:spcBef>
              <a:defRPr/>
            </a:pPr>
            <a:r>
              <a:rPr lang="en-US" altLang="ko-KR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Public access to data members (PAD).  </a:t>
            </a:r>
          </a:p>
          <a:p>
            <a:pPr lvl="1" eaLnBrk="1" hangingPunct="1">
              <a:lnSpc>
                <a:spcPct val="90000"/>
              </a:lnSpc>
              <a:spcBef>
                <a:spcPts val="300"/>
              </a:spcBef>
              <a:defRPr/>
            </a:pPr>
            <a:r>
              <a:rPr lang="en-US" altLang="ko-KR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Number of root classes (NOR).  </a:t>
            </a:r>
          </a:p>
          <a:p>
            <a:pPr lvl="1" eaLnBrk="1" hangingPunct="1">
              <a:lnSpc>
                <a:spcPct val="90000"/>
              </a:lnSpc>
              <a:spcBef>
                <a:spcPts val="300"/>
              </a:spcBef>
              <a:defRPr/>
            </a:pPr>
            <a:r>
              <a:rPr lang="en-US" altLang="ko-KR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Fan-in (FIN).  </a:t>
            </a:r>
          </a:p>
          <a:p>
            <a:pPr lvl="1" eaLnBrk="1" hangingPunct="1">
              <a:lnSpc>
                <a:spcPct val="90000"/>
              </a:lnSpc>
              <a:spcBef>
                <a:spcPts val="300"/>
              </a:spcBef>
              <a:defRPr/>
            </a:pPr>
            <a:r>
              <a:rPr lang="en-US" altLang="ko-KR" dirty="0">
                <a:solidFill>
                  <a:srgbClr val="FF9933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Number of children (NOC) and depth of the inheritance tree (DIT). 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바닥글 개체 틀 3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/>
          <a:p>
            <a:endParaRPr lang="en-US" altLang="ko-KR" dirty="0"/>
          </a:p>
        </p:txBody>
      </p:sp>
      <p:sp>
        <p:nvSpPr>
          <p:cNvPr id="34819" name="슬라이드 번호 개체 틀 4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67686DB7-9069-4EFC-83AB-B98EF20117ED}" type="slidenum">
              <a:rPr lang="ko-KR" altLang="en-US" smtClean="0"/>
              <a:pPr/>
              <a:t>34</a:t>
            </a:fld>
            <a:endParaRPr lang="en-US" altLang="ko-KR"/>
          </a:p>
        </p:txBody>
      </p:sp>
      <p:sp>
        <p:nvSpPr>
          <p:cNvPr id="1326082" name="Rectangle 2"/>
          <p:cNvSpPr>
            <a:spLocks noGrp="1" noRot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ko-KR" dirty="0">
                <a:latin typeface="Arial" pitchFamily="34" charset="0"/>
                <a:ea typeface="굴림" pitchFamily="50" charset="-127"/>
                <a:cs typeface="Arial" pitchFamily="34" charset="0"/>
              </a:rPr>
              <a:t>Metrics for Maintenance</a:t>
            </a:r>
          </a:p>
        </p:txBody>
      </p:sp>
      <p:sp>
        <p:nvSpPr>
          <p:cNvPr id="1326083" name="Rectangle 3"/>
          <p:cNvSpPr>
            <a:spLocks noGrp="1" noRot="1" noChangeArrowheads="1"/>
          </p:cNvSpPr>
          <p:nvPr>
            <p:ph type="body" idx="1"/>
          </p:nvPr>
        </p:nvSpPr>
        <p:spPr>
          <a:xfrm>
            <a:off x="223838" y="1422400"/>
            <a:ext cx="8686800" cy="3998913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ko-KR" sz="2800" dirty="0">
                <a:latin typeface="Arial" pitchFamily="34" charset="0"/>
                <a:ea typeface="굴림" pitchFamily="50" charset="-127"/>
                <a:cs typeface="Arial" pitchFamily="34" charset="0"/>
              </a:rPr>
              <a:t>IEEE Std 982.1-1998 Software Maturity Index (SMI)</a:t>
            </a:r>
          </a:p>
          <a:p>
            <a:pPr lvl="1" eaLnBrk="1" hangingPunct="1">
              <a:defRPr/>
            </a:pPr>
            <a:r>
              <a:rPr lang="en-US" altLang="ko-KR" sz="2400" dirty="0">
                <a:latin typeface="Arial" pitchFamily="34" charset="0"/>
                <a:ea typeface="굴림" pitchFamily="50" charset="-127"/>
                <a:cs typeface="Arial" pitchFamily="34" charset="0"/>
              </a:rPr>
              <a:t>SMI = [M</a:t>
            </a:r>
            <a:r>
              <a:rPr lang="en-US" altLang="ko-KR" sz="2400" baseline="-25000" dirty="0">
                <a:latin typeface="Arial" pitchFamily="34" charset="0"/>
                <a:ea typeface="굴림" pitchFamily="50" charset="-127"/>
                <a:cs typeface="Arial" pitchFamily="34" charset="0"/>
              </a:rPr>
              <a:t>t  </a:t>
            </a:r>
            <a:r>
              <a:rPr lang="en-US" altLang="ko-KR" sz="2400" dirty="0">
                <a:latin typeface="Arial" pitchFamily="34" charset="0"/>
                <a:ea typeface="굴림" pitchFamily="50" charset="-127"/>
                <a:cs typeface="Arial" pitchFamily="34" charset="0"/>
              </a:rPr>
              <a:t>- (</a:t>
            </a:r>
            <a:r>
              <a:rPr lang="en-US" altLang="ko-KR" sz="2400" dirty="0" err="1">
                <a:latin typeface="Arial" pitchFamily="34" charset="0"/>
                <a:ea typeface="굴림" pitchFamily="50" charset="-127"/>
                <a:cs typeface="Arial" pitchFamily="34" charset="0"/>
              </a:rPr>
              <a:t>F</a:t>
            </a:r>
            <a:r>
              <a:rPr lang="en-US" altLang="ko-KR" sz="2400" baseline="-25000" dirty="0" err="1">
                <a:latin typeface="Arial" pitchFamily="34" charset="0"/>
                <a:ea typeface="굴림" pitchFamily="50" charset="-127"/>
                <a:cs typeface="Arial" pitchFamily="34" charset="0"/>
              </a:rPr>
              <a:t>a</a:t>
            </a:r>
            <a:r>
              <a:rPr lang="en-US" altLang="ko-KR" sz="2400" dirty="0">
                <a:latin typeface="Arial" pitchFamily="34" charset="0"/>
                <a:ea typeface="굴림" pitchFamily="50" charset="-127"/>
                <a:cs typeface="Arial" pitchFamily="34" charset="0"/>
              </a:rPr>
              <a:t> + </a:t>
            </a:r>
            <a:r>
              <a:rPr lang="en-US" altLang="ko-KR" sz="2400" dirty="0" err="1">
                <a:latin typeface="Arial" pitchFamily="34" charset="0"/>
                <a:ea typeface="굴림" pitchFamily="50" charset="-127"/>
                <a:cs typeface="Arial" pitchFamily="34" charset="0"/>
              </a:rPr>
              <a:t>F</a:t>
            </a:r>
            <a:r>
              <a:rPr lang="en-US" altLang="ko-KR" sz="2400" baseline="-25000" dirty="0" err="1">
                <a:latin typeface="Arial" pitchFamily="34" charset="0"/>
                <a:ea typeface="굴림" pitchFamily="50" charset="-127"/>
                <a:cs typeface="Arial" pitchFamily="34" charset="0"/>
              </a:rPr>
              <a:t>c</a:t>
            </a:r>
            <a:r>
              <a:rPr lang="en-US" altLang="ko-KR" sz="2400" dirty="0">
                <a:latin typeface="Arial" pitchFamily="34" charset="0"/>
                <a:ea typeface="굴림" pitchFamily="50" charset="-127"/>
                <a:cs typeface="Arial" pitchFamily="34" charset="0"/>
              </a:rPr>
              <a:t> + </a:t>
            </a:r>
            <a:r>
              <a:rPr lang="en-US" altLang="ko-KR" sz="2400" dirty="0" err="1">
                <a:latin typeface="Arial" pitchFamily="34" charset="0"/>
                <a:ea typeface="굴림" pitchFamily="50" charset="-127"/>
                <a:cs typeface="Arial" pitchFamily="34" charset="0"/>
              </a:rPr>
              <a:t>F</a:t>
            </a:r>
            <a:r>
              <a:rPr lang="en-US" altLang="ko-KR" sz="2400" baseline="-25000" dirty="0" err="1">
                <a:latin typeface="Arial" pitchFamily="34" charset="0"/>
                <a:ea typeface="굴림" pitchFamily="50" charset="-127"/>
                <a:cs typeface="Arial" pitchFamily="34" charset="0"/>
              </a:rPr>
              <a:t>d</a:t>
            </a:r>
            <a:r>
              <a:rPr lang="en-US" altLang="ko-KR" sz="2400" dirty="0">
                <a:latin typeface="Arial" pitchFamily="34" charset="0"/>
                <a:ea typeface="굴림" pitchFamily="50" charset="-127"/>
                <a:cs typeface="Arial" pitchFamily="34" charset="0"/>
              </a:rPr>
              <a:t>)]/M</a:t>
            </a:r>
            <a:r>
              <a:rPr lang="en-US" altLang="ko-KR" sz="2400" baseline="-25000" dirty="0">
                <a:latin typeface="Arial" pitchFamily="34" charset="0"/>
                <a:ea typeface="굴림" pitchFamily="50" charset="-127"/>
                <a:cs typeface="Arial" pitchFamily="34" charset="0"/>
              </a:rPr>
              <a:t>t</a:t>
            </a:r>
          </a:p>
          <a:p>
            <a:pPr lvl="2" eaLnBrk="1" hangingPunct="1">
              <a:defRPr/>
            </a:pP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M</a:t>
            </a:r>
            <a:r>
              <a:rPr lang="en-US" altLang="ko-KR" sz="2000" baseline="-25000" dirty="0">
                <a:latin typeface="Arial" pitchFamily="34" charset="0"/>
                <a:ea typeface="굴림" pitchFamily="50" charset="-127"/>
                <a:cs typeface="Arial" pitchFamily="34" charset="0"/>
              </a:rPr>
              <a:t>t</a:t>
            </a: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 = # of modules in the current release</a:t>
            </a:r>
          </a:p>
          <a:p>
            <a:pPr lvl="2" eaLnBrk="1" hangingPunct="1">
              <a:defRPr/>
            </a:pPr>
            <a:r>
              <a:rPr lang="en-US" altLang="ko-KR" sz="2000" dirty="0" err="1">
                <a:latin typeface="Arial" pitchFamily="34" charset="0"/>
                <a:ea typeface="굴림" pitchFamily="50" charset="-127"/>
                <a:cs typeface="Arial" pitchFamily="34" charset="0"/>
              </a:rPr>
              <a:t>F</a:t>
            </a:r>
            <a:r>
              <a:rPr lang="en-US" altLang="ko-KR" sz="2000" baseline="-25000" dirty="0" err="1">
                <a:latin typeface="Arial" pitchFamily="34" charset="0"/>
                <a:ea typeface="굴림" pitchFamily="50" charset="-127"/>
                <a:cs typeface="Arial" pitchFamily="34" charset="0"/>
              </a:rPr>
              <a:t>c</a:t>
            </a: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 = # of modules in the current release that have been changed</a:t>
            </a:r>
          </a:p>
          <a:p>
            <a:pPr lvl="2" eaLnBrk="1" hangingPunct="1">
              <a:defRPr/>
            </a:pPr>
            <a:r>
              <a:rPr lang="en-US" altLang="ko-KR" sz="2000" dirty="0" err="1">
                <a:latin typeface="Arial" pitchFamily="34" charset="0"/>
                <a:ea typeface="굴림" pitchFamily="50" charset="-127"/>
                <a:cs typeface="Arial" pitchFamily="34" charset="0"/>
              </a:rPr>
              <a:t>F</a:t>
            </a:r>
            <a:r>
              <a:rPr lang="en-US" altLang="ko-KR" sz="2000" baseline="-25000" dirty="0" err="1">
                <a:latin typeface="Arial" pitchFamily="34" charset="0"/>
                <a:ea typeface="굴림" pitchFamily="50" charset="-127"/>
                <a:cs typeface="Arial" pitchFamily="34" charset="0"/>
              </a:rPr>
              <a:t>a</a:t>
            </a: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 = # of modules in the current release that have been added</a:t>
            </a:r>
          </a:p>
          <a:p>
            <a:pPr lvl="2" eaLnBrk="1" hangingPunct="1">
              <a:defRPr/>
            </a:pPr>
            <a:r>
              <a:rPr lang="en-US" altLang="ko-KR" sz="2000" dirty="0" err="1">
                <a:latin typeface="Arial" pitchFamily="34" charset="0"/>
                <a:ea typeface="굴림" pitchFamily="50" charset="-127"/>
                <a:cs typeface="Arial" pitchFamily="34" charset="0"/>
              </a:rPr>
              <a:t>F</a:t>
            </a:r>
            <a:r>
              <a:rPr lang="en-US" altLang="ko-KR" sz="2000" baseline="-25000" dirty="0" err="1">
                <a:latin typeface="Arial" pitchFamily="34" charset="0"/>
                <a:ea typeface="굴림" pitchFamily="50" charset="-127"/>
                <a:cs typeface="Arial" pitchFamily="34" charset="0"/>
              </a:rPr>
              <a:t>d</a:t>
            </a:r>
            <a:r>
              <a:rPr lang="en-US" altLang="ko-KR" sz="2000" dirty="0">
                <a:latin typeface="Arial" pitchFamily="34" charset="0"/>
                <a:ea typeface="굴림" pitchFamily="50" charset="-127"/>
                <a:cs typeface="Arial" pitchFamily="34" charset="0"/>
              </a:rPr>
              <a:t> = # of modules from the preceding release that were deleted in the current release</a:t>
            </a:r>
          </a:p>
          <a:p>
            <a:pPr lvl="2" eaLnBrk="1" hangingPunct="1">
              <a:defRPr/>
            </a:pPr>
            <a:endParaRPr lang="en-US" altLang="ko-KR" sz="2000" dirty="0">
              <a:latin typeface="Arial" pitchFamily="34" charset="0"/>
              <a:ea typeface="굴림" pitchFamily="50" charset="-127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8C07C0-254D-7B76-E304-2D4FE6E434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70CEAED-2B20-9B6F-E4EB-2F052A3914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4DDD33-62FF-9B6A-6124-B05F7E50F18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en-US" altLang="ko-KR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69EDFBC-23A6-AF78-0DD3-67BA66275A9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C875E70-5D8F-49A8-ADA8-ABFCCCCAF9DD}" type="slidenum">
              <a:rPr lang="ko-KR" altLang="en-US" smtClean="0"/>
              <a:pPr>
                <a:defRPr/>
              </a:pPr>
              <a:t>35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2123001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바닥글 개체 틀 3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/>
          <a:p>
            <a:endParaRPr lang="en-US" altLang="ko-KR" dirty="0"/>
          </a:p>
        </p:txBody>
      </p:sp>
      <p:sp>
        <p:nvSpPr>
          <p:cNvPr id="30723" name="슬라이드 번호 개체 틀 4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/>
          <a:p>
            <a:fld id="{FDC304C4-BF08-4039-A64C-26D02AE0DAD2}" type="slidenum">
              <a:rPr lang="ko-KR" altLang="en-US" smtClean="0"/>
              <a:pPr/>
              <a:t>36</a:t>
            </a:fld>
            <a:endParaRPr lang="en-US" altLang="ko-KR"/>
          </a:p>
        </p:txBody>
      </p:sp>
      <p:sp>
        <p:nvSpPr>
          <p:cNvPr id="1313794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1992313" y="244475"/>
            <a:ext cx="5156200" cy="600075"/>
          </a:xfrm>
        </p:spPr>
        <p:txBody>
          <a:bodyPr wrap="none" lIns="63500" tIns="25400" rIns="63500" bIns="25400" anchor="t">
            <a:spAutoFit/>
          </a:bodyPr>
          <a:lstStyle/>
          <a:p>
            <a:pPr eaLnBrk="1" hangingPunct="1">
              <a:defRPr/>
            </a:pPr>
            <a:r>
              <a:rPr lang="en-US" altLang="ko-KR">
                <a:latin typeface="Arial" pitchFamily="34" charset="0"/>
                <a:ea typeface="굴림" pitchFamily="50" charset="-127"/>
                <a:cs typeface="Arial" pitchFamily="34" charset="0"/>
              </a:rPr>
              <a:t>Class-Oriented Metrics</a:t>
            </a:r>
          </a:p>
        </p:txBody>
      </p:sp>
      <p:sp>
        <p:nvSpPr>
          <p:cNvPr id="1313795" name="Rectangle 3"/>
          <p:cNvSpPr>
            <a:spLocks noGrp="1" noRot="1" noChangeArrowheads="1"/>
          </p:cNvSpPr>
          <p:nvPr>
            <p:ph type="body" idx="1"/>
          </p:nvPr>
        </p:nvSpPr>
        <p:spPr>
          <a:xfrm>
            <a:off x="1371600" y="1751013"/>
            <a:ext cx="7162800" cy="3630612"/>
          </a:xfrm>
        </p:spPr>
        <p:txBody>
          <a:bodyPr lIns="90487" tIns="44450" rIns="90487" bIns="44450"/>
          <a:lstStyle/>
          <a:p>
            <a:pPr eaLnBrk="1" hangingPunct="1">
              <a:defRPr/>
            </a:pPr>
            <a:r>
              <a:rPr lang="en-US" altLang="ko-KR">
                <a:latin typeface="Arial" pitchFamily="34" charset="0"/>
                <a:ea typeface="굴림" pitchFamily="50" charset="-127"/>
                <a:cs typeface="Arial" pitchFamily="34" charset="0"/>
              </a:rPr>
              <a:t>class size</a:t>
            </a:r>
          </a:p>
          <a:p>
            <a:pPr eaLnBrk="1" hangingPunct="1">
              <a:defRPr/>
            </a:pPr>
            <a:r>
              <a:rPr lang="en-US" altLang="ko-KR">
                <a:latin typeface="Arial" pitchFamily="34" charset="0"/>
                <a:ea typeface="굴림" pitchFamily="50" charset="-127"/>
                <a:cs typeface="Arial" pitchFamily="34" charset="0"/>
              </a:rPr>
              <a:t>number of operations overridden by a subclass</a:t>
            </a:r>
          </a:p>
          <a:p>
            <a:pPr eaLnBrk="1" hangingPunct="1">
              <a:defRPr/>
            </a:pPr>
            <a:r>
              <a:rPr lang="en-US" altLang="ko-KR">
                <a:latin typeface="Arial" pitchFamily="34" charset="0"/>
                <a:ea typeface="굴림" pitchFamily="50" charset="-127"/>
                <a:cs typeface="Arial" pitchFamily="34" charset="0"/>
              </a:rPr>
              <a:t>number of operations added by a subclass</a:t>
            </a:r>
          </a:p>
        </p:txBody>
      </p:sp>
      <p:sp>
        <p:nvSpPr>
          <p:cNvPr id="1313796" name="Rectangle 4"/>
          <p:cNvSpPr>
            <a:spLocks noChangeArrowheads="1"/>
          </p:cNvSpPr>
          <p:nvPr/>
        </p:nvSpPr>
        <p:spPr bwMode="auto">
          <a:xfrm>
            <a:off x="1116013" y="1068388"/>
            <a:ext cx="5503862" cy="417512"/>
          </a:xfrm>
          <a:prstGeom prst="rect">
            <a:avLst/>
          </a:prstGeom>
          <a:noFill/>
          <a:ln w="25400">
            <a:noFill/>
            <a:miter lim="800000"/>
            <a:headEnd/>
            <a:tailEnd/>
          </a:ln>
          <a:effectLst/>
        </p:spPr>
        <p:txBody>
          <a:bodyPr wrap="none" lIns="90487" tIns="44450" rIns="90487" bIns="44450">
            <a:spAutoFit/>
          </a:bodyPr>
          <a:lstStyle/>
          <a:p>
            <a:pPr>
              <a:defRPr/>
            </a:pPr>
            <a:r>
              <a:rPr lang="en-US" altLang="ko-KR" sz="2400" b="0" i="1">
                <a:solidFill>
                  <a:srgbClr val="FF9933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Palatino" charset="0"/>
                <a:ea typeface="굴림" pitchFamily="50" charset="-127"/>
              </a:rPr>
              <a:t>Proposed by Lorenz and Kidd [LOR94]</a:t>
            </a:r>
            <a:r>
              <a:rPr lang="en-US" altLang="ko-KR" sz="2400" b="0" i="1">
                <a:effectLst>
                  <a:outerShdw blurRad="38100" dist="38100" dir="2700000" algn="tl">
                    <a:srgbClr val="C0C0C0"/>
                  </a:outerShdw>
                </a:effectLst>
                <a:latin typeface="Palatino" charset="0"/>
                <a:ea typeface="굴림" pitchFamily="50" charset="-127"/>
              </a:rPr>
              <a:t>:</a:t>
            </a:r>
            <a:endParaRPr lang="en-US" altLang="ko-KR" sz="2400" b="0">
              <a:ea typeface="굴림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36526638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cs550">
  <a:themeElements>
    <a:clrScheme name="cs550 6">
      <a:dk1>
        <a:srgbClr val="000514"/>
      </a:dk1>
      <a:lt1>
        <a:srgbClr val="FFFFFF"/>
      </a:lt1>
      <a:dk2>
        <a:srgbClr val="003399"/>
      </a:dk2>
      <a:lt2>
        <a:srgbClr val="E5E5FF"/>
      </a:lt2>
      <a:accent1>
        <a:srgbClr val="0099CC"/>
      </a:accent1>
      <a:accent2>
        <a:srgbClr val="A886E0"/>
      </a:accent2>
      <a:accent3>
        <a:srgbClr val="AAADCA"/>
      </a:accent3>
      <a:accent4>
        <a:srgbClr val="DADADA"/>
      </a:accent4>
      <a:accent5>
        <a:srgbClr val="AACAE2"/>
      </a:accent5>
      <a:accent6>
        <a:srgbClr val="9879CB"/>
      </a:accent6>
      <a:hlink>
        <a:srgbClr val="FFCC00"/>
      </a:hlink>
      <a:folHlink>
        <a:srgbClr val="FFFFCC"/>
      </a:folHlink>
    </a:clrScheme>
    <a:fontScheme name="cs550">
      <a:majorFont>
        <a:latin typeface="Palatino"/>
        <a:ea typeface=""/>
        <a:cs typeface=""/>
      </a:majorFont>
      <a:minorFont>
        <a:latin typeface="Palatin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Helvetica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Helvetica" charset="0"/>
          </a:defRPr>
        </a:defPPr>
      </a:lstStyle>
    </a:lnDef>
  </a:objectDefaults>
  <a:extraClrSchemeLst>
    <a:extraClrScheme>
      <a:clrScheme name="cs550 1">
        <a:dk1>
          <a:srgbClr val="5C1F00"/>
        </a:dk1>
        <a:lt1>
          <a:srgbClr val="FFFFFF"/>
        </a:lt1>
        <a:dk2>
          <a:srgbClr val="8C0000"/>
        </a:dk2>
        <a:lt2>
          <a:srgbClr val="DFD293"/>
        </a:lt2>
        <a:accent1>
          <a:srgbClr val="D80000"/>
        </a:accent1>
        <a:accent2>
          <a:srgbClr val="BE7960"/>
        </a:accent2>
        <a:accent3>
          <a:srgbClr val="C5AAAA"/>
        </a:accent3>
        <a:accent4>
          <a:srgbClr val="DADADA"/>
        </a:accent4>
        <a:accent5>
          <a:srgbClr val="E9AA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s550 2">
        <a:dk1>
          <a:srgbClr val="5E4444"/>
        </a:dk1>
        <a:lt1>
          <a:srgbClr val="F7F3F3"/>
        </a:lt1>
        <a:dk2>
          <a:srgbClr val="8A6362"/>
        </a:dk2>
        <a:lt2>
          <a:srgbClr val="D8C1BA"/>
        </a:lt2>
        <a:accent1>
          <a:srgbClr val="362626"/>
        </a:accent1>
        <a:accent2>
          <a:srgbClr val="C16059"/>
        </a:accent2>
        <a:accent3>
          <a:srgbClr val="C4B7B7"/>
        </a:accent3>
        <a:accent4>
          <a:srgbClr val="D3D0D0"/>
        </a:accent4>
        <a:accent5>
          <a:srgbClr val="AEACAC"/>
        </a:accent5>
        <a:accent6>
          <a:srgbClr val="AF5650"/>
        </a:accent6>
        <a:hlink>
          <a:srgbClr val="FFCC00"/>
        </a:hlink>
        <a:folHlink>
          <a:srgbClr val="CBB55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s550 3">
        <a:dk1>
          <a:srgbClr val="7F6737"/>
        </a:dk1>
        <a:lt1>
          <a:srgbClr val="FFFFFF"/>
        </a:lt1>
        <a:dk2>
          <a:srgbClr val="BFA673"/>
        </a:dk2>
        <a:lt2>
          <a:srgbClr val="E6E3AA"/>
        </a:lt2>
        <a:accent1>
          <a:srgbClr val="49411F"/>
        </a:accent1>
        <a:accent2>
          <a:srgbClr val="808000"/>
        </a:accent2>
        <a:accent3>
          <a:srgbClr val="DCD0BC"/>
        </a:accent3>
        <a:accent4>
          <a:srgbClr val="DADADA"/>
        </a:accent4>
        <a:accent5>
          <a:srgbClr val="B1B0AB"/>
        </a:accent5>
        <a:accent6>
          <a:srgbClr val="737300"/>
        </a:accent6>
        <a:hlink>
          <a:srgbClr val="784700"/>
        </a:hlink>
        <a:folHlink>
          <a:srgbClr val="9A72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s550 4">
        <a:dk1>
          <a:srgbClr val="4B2500"/>
        </a:dk1>
        <a:lt1>
          <a:srgbClr val="F9F0D3"/>
        </a:lt1>
        <a:dk2>
          <a:srgbClr val="A69564"/>
        </a:dk2>
        <a:lt2>
          <a:srgbClr val="EFDEAF"/>
        </a:lt2>
        <a:accent1>
          <a:srgbClr val="FFFFE3"/>
        </a:accent1>
        <a:accent2>
          <a:srgbClr val="BFBFA7"/>
        </a:accent2>
        <a:accent3>
          <a:srgbClr val="FBF6E6"/>
        </a:accent3>
        <a:accent4>
          <a:srgbClr val="3F1E00"/>
        </a:accent4>
        <a:accent5>
          <a:srgbClr val="FFFFEF"/>
        </a:accent5>
        <a:accent6>
          <a:srgbClr val="ADAD97"/>
        </a:accent6>
        <a:hlink>
          <a:srgbClr val="7B6D47"/>
        </a:hlink>
        <a:folHlink>
          <a:srgbClr val="A99D2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s550 5">
        <a:dk1>
          <a:srgbClr val="2A5400"/>
        </a:dk1>
        <a:lt1>
          <a:srgbClr val="FFFFFF"/>
        </a:lt1>
        <a:dk2>
          <a:srgbClr val="4A9400"/>
        </a:dk2>
        <a:lt2>
          <a:srgbClr val="BAE8BA"/>
        </a:lt2>
        <a:accent1>
          <a:srgbClr val="003300"/>
        </a:accent1>
        <a:accent2>
          <a:srgbClr val="33CC33"/>
        </a:accent2>
        <a:accent3>
          <a:srgbClr val="B1C8AA"/>
        </a:accent3>
        <a:accent4>
          <a:srgbClr val="DADADA"/>
        </a:accent4>
        <a:accent5>
          <a:srgbClr val="AAADAA"/>
        </a:accent5>
        <a:accent6>
          <a:srgbClr val="2DB92D"/>
        </a:accent6>
        <a:hlink>
          <a:srgbClr val="99FF33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s550 6">
        <a:dk1>
          <a:srgbClr val="000514"/>
        </a:dk1>
        <a:lt1>
          <a:srgbClr val="FFFFFF"/>
        </a:lt1>
        <a:dk2>
          <a:srgbClr val="003399"/>
        </a:dk2>
        <a:lt2>
          <a:srgbClr val="E5E5FF"/>
        </a:lt2>
        <a:accent1>
          <a:srgbClr val="0099CC"/>
        </a:accent1>
        <a:accent2>
          <a:srgbClr val="A886E0"/>
        </a:accent2>
        <a:accent3>
          <a:srgbClr val="AAADCA"/>
        </a:accent3>
        <a:accent4>
          <a:srgbClr val="DADADA"/>
        </a:accent4>
        <a:accent5>
          <a:srgbClr val="AACAE2"/>
        </a:accent5>
        <a:accent6>
          <a:srgbClr val="9879CB"/>
        </a:accent6>
        <a:hlink>
          <a:srgbClr val="FFCC00"/>
        </a:hlink>
        <a:folHlink>
          <a:srgbClr val="FFFF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s550 7">
        <a:dk1>
          <a:srgbClr val="000000"/>
        </a:dk1>
        <a:lt1>
          <a:srgbClr val="FFFFFF"/>
        </a:lt1>
        <a:dk2>
          <a:srgbClr val="51596D"/>
        </a:dk2>
        <a:lt2>
          <a:srgbClr val="DDDDDD"/>
        </a:lt2>
        <a:accent1>
          <a:srgbClr val="787E8A"/>
        </a:accent1>
        <a:accent2>
          <a:srgbClr val="339966"/>
        </a:accent2>
        <a:accent3>
          <a:srgbClr val="B3B5BA"/>
        </a:accent3>
        <a:accent4>
          <a:srgbClr val="DADADA"/>
        </a:accent4>
        <a:accent5>
          <a:srgbClr val="BEC0C4"/>
        </a:accent5>
        <a:accent6>
          <a:srgbClr val="2D8A5C"/>
        </a:accent6>
        <a:hlink>
          <a:srgbClr val="00FFFF"/>
        </a:hlink>
        <a:folHlink>
          <a:srgbClr val="74B6D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s550 8">
        <a:dk1>
          <a:srgbClr val="3E3E5C"/>
        </a:dk1>
        <a:lt1>
          <a:srgbClr val="FFFFFF"/>
        </a:lt1>
        <a:dk2>
          <a:srgbClr val="666699"/>
        </a:dk2>
        <a:lt2>
          <a:srgbClr val="DFDFE9"/>
        </a:lt2>
        <a:accent1>
          <a:srgbClr val="2E2E46"/>
        </a:accent1>
        <a:accent2>
          <a:srgbClr val="679ACD"/>
        </a:accent2>
        <a:accent3>
          <a:srgbClr val="B8B8CA"/>
        </a:accent3>
        <a:accent4>
          <a:srgbClr val="DADADA"/>
        </a:accent4>
        <a:accent5>
          <a:srgbClr val="ADADB0"/>
        </a:accent5>
        <a:accent6>
          <a:srgbClr val="5D8BBA"/>
        </a:accent6>
        <a:hlink>
          <a:srgbClr val="99CCFF"/>
        </a:hlink>
        <a:folHlink>
          <a:srgbClr val="CC99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s550 9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CECFF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2F4FF"/>
        </a:accent5>
        <a:accent6>
          <a:srgbClr val="2D2D8A"/>
        </a:accent6>
        <a:hlink>
          <a:srgbClr val="6600FF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cs550">
  <a:themeElements>
    <a:clrScheme name="cs550 6">
      <a:dk1>
        <a:srgbClr val="000514"/>
      </a:dk1>
      <a:lt1>
        <a:srgbClr val="FFFFFF"/>
      </a:lt1>
      <a:dk2>
        <a:srgbClr val="003399"/>
      </a:dk2>
      <a:lt2>
        <a:srgbClr val="E5E5FF"/>
      </a:lt2>
      <a:accent1>
        <a:srgbClr val="0099CC"/>
      </a:accent1>
      <a:accent2>
        <a:srgbClr val="A886E0"/>
      </a:accent2>
      <a:accent3>
        <a:srgbClr val="AAADCA"/>
      </a:accent3>
      <a:accent4>
        <a:srgbClr val="DADADA"/>
      </a:accent4>
      <a:accent5>
        <a:srgbClr val="AACAE2"/>
      </a:accent5>
      <a:accent6>
        <a:srgbClr val="9879CB"/>
      </a:accent6>
      <a:hlink>
        <a:srgbClr val="FFCC00"/>
      </a:hlink>
      <a:folHlink>
        <a:srgbClr val="FFFFCC"/>
      </a:folHlink>
    </a:clrScheme>
    <a:fontScheme name="cs550">
      <a:majorFont>
        <a:latin typeface="Palatino"/>
        <a:ea typeface=""/>
        <a:cs typeface=""/>
      </a:majorFont>
      <a:minorFont>
        <a:latin typeface="Palatin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12700" cap="flat" cmpd="sng" algn="ctr">
          <a:solidFill>
            <a:schemeClr val="bg2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800" b="1" i="0" u="none" strike="noStrike" cap="none" normalizeH="0" baseline="0" dirty="0" err="1">
            <a:ln>
              <a:noFill/>
            </a:ln>
            <a:solidFill>
              <a:schemeClr val="bg2"/>
            </a:solidFill>
            <a:effectLst/>
            <a:latin typeface="Helvetica" charset="0"/>
          </a:defRPr>
        </a:defPPr>
      </a:lstStyle>
    </a:spDef>
    <a:lnDef>
      <a:spPr bwMode="auto">
        <a:noFill/>
        <a:ln w="12700" cap="flat" cmpd="sng" algn="ctr">
          <a:solidFill>
            <a:schemeClr val="bg2"/>
          </a:solidFill>
          <a:prstDash val="solid"/>
          <a:round/>
          <a:headEnd type="none" w="med" len="med"/>
          <a:tailEnd type="none" w="med" len="med"/>
        </a:ln>
        <a:effectLst/>
      </a:spPr>
      <a:bodyPr/>
      <a:lstStyle/>
    </a:lnDef>
  </a:objectDefaults>
  <a:extraClrSchemeLst>
    <a:extraClrScheme>
      <a:clrScheme name="cs550 1">
        <a:dk1>
          <a:srgbClr val="5C1F00"/>
        </a:dk1>
        <a:lt1>
          <a:srgbClr val="FFFFFF"/>
        </a:lt1>
        <a:dk2>
          <a:srgbClr val="8C0000"/>
        </a:dk2>
        <a:lt2>
          <a:srgbClr val="DFD293"/>
        </a:lt2>
        <a:accent1>
          <a:srgbClr val="D80000"/>
        </a:accent1>
        <a:accent2>
          <a:srgbClr val="BE7960"/>
        </a:accent2>
        <a:accent3>
          <a:srgbClr val="C5AAAA"/>
        </a:accent3>
        <a:accent4>
          <a:srgbClr val="DADADA"/>
        </a:accent4>
        <a:accent5>
          <a:srgbClr val="E9AA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s550 2">
        <a:dk1>
          <a:srgbClr val="5E4444"/>
        </a:dk1>
        <a:lt1>
          <a:srgbClr val="F7F3F3"/>
        </a:lt1>
        <a:dk2>
          <a:srgbClr val="8A6362"/>
        </a:dk2>
        <a:lt2>
          <a:srgbClr val="D8C1BA"/>
        </a:lt2>
        <a:accent1>
          <a:srgbClr val="362626"/>
        </a:accent1>
        <a:accent2>
          <a:srgbClr val="C16059"/>
        </a:accent2>
        <a:accent3>
          <a:srgbClr val="C4B7B7"/>
        </a:accent3>
        <a:accent4>
          <a:srgbClr val="D3D0D0"/>
        </a:accent4>
        <a:accent5>
          <a:srgbClr val="AEACAC"/>
        </a:accent5>
        <a:accent6>
          <a:srgbClr val="AF5650"/>
        </a:accent6>
        <a:hlink>
          <a:srgbClr val="FFCC00"/>
        </a:hlink>
        <a:folHlink>
          <a:srgbClr val="CBB55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s550 3">
        <a:dk1>
          <a:srgbClr val="7F6737"/>
        </a:dk1>
        <a:lt1>
          <a:srgbClr val="FFFFFF"/>
        </a:lt1>
        <a:dk2>
          <a:srgbClr val="BFA673"/>
        </a:dk2>
        <a:lt2>
          <a:srgbClr val="E6E3AA"/>
        </a:lt2>
        <a:accent1>
          <a:srgbClr val="49411F"/>
        </a:accent1>
        <a:accent2>
          <a:srgbClr val="808000"/>
        </a:accent2>
        <a:accent3>
          <a:srgbClr val="DCD0BC"/>
        </a:accent3>
        <a:accent4>
          <a:srgbClr val="DADADA"/>
        </a:accent4>
        <a:accent5>
          <a:srgbClr val="B1B0AB"/>
        </a:accent5>
        <a:accent6>
          <a:srgbClr val="737300"/>
        </a:accent6>
        <a:hlink>
          <a:srgbClr val="784700"/>
        </a:hlink>
        <a:folHlink>
          <a:srgbClr val="9A72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s550 4">
        <a:dk1>
          <a:srgbClr val="4B2500"/>
        </a:dk1>
        <a:lt1>
          <a:srgbClr val="F9F0D3"/>
        </a:lt1>
        <a:dk2>
          <a:srgbClr val="A69564"/>
        </a:dk2>
        <a:lt2>
          <a:srgbClr val="EFDEAF"/>
        </a:lt2>
        <a:accent1>
          <a:srgbClr val="FFFFE3"/>
        </a:accent1>
        <a:accent2>
          <a:srgbClr val="BFBFA7"/>
        </a:accent2>
        <a:accent3>
          <a:srgbClr val="FBF6E6"/>
        </a:accent3>
        <a:accent4>
          <a:srgbClr val="3F1E00"/>
        </a:accent4>
        <a:accent5>
          <a:srgbClr val="FFFFEF"/>
        </a:accent5>
        <a:accent6>
          <a:srgbClr val="ADAD97"/>
        </a:accent6>
        <a:hlink>
          <a:srgbClr val="7B6D47"/>
        </a:hlink>
        <a:folHlink>
          <a:srgbClr val="A99D2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s550 5">
        <a:dk1>
          <a:srgbClr val="2A5400"/>
        </a:dk1>
        <a:lt1>
          <a:srgbClr val="FFFFFF"/>
        </a:lt1>
        <a:dk2>
          <a:srgbClr val="4A9400"/>
        </a:dk2>
        <a:lt2>
          <a:srgbClr val="BAE8BA"/>
        </a:lt2>
        <a:accent1>
          <a:srgbClr val="003300"/>
        </a:accent1>
        <a:accent2>
          <a:srgbClr val="33CC33"/>
        </a:accent2>
        <a:accent3>
          <a:srgbClr val="B1C8AA"/>
        </a:accent3>
        <a:accent4>
          <a:srgbClr val="DADADA"/>
        </a:accent4>
        <a:accent5>
          <a:srgbClr val="AAADAA"/>
        </a:accent5>
        <a:accent6>
          <a:srgbClr val="2DB92D"/>
        </a:accent6>
        <a:hlink>
          <a:srgbClr val="99FF33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s550 6">
        <a:dk1>
          <a:srgbClr val="000514"/>
        </a:dk1>
        <a:lt1>
          <a:srgbClr val="FFFFFF"/>
        </a:lt1>
        <a:dk2>
          <a:srgbClr val="003399"/>
        </a:dk2>
        <a:lt2>
          <a:srgbClr val="E5E5FF"/>
        </a:lt2>
        <a:accent1>
          <a:srgbClr val="0099CC"/>
        </a:accent1>
        <a:accent2>
          <a:srgbClr val="A886E0"/>
        </a:accent2>
        <a:accent3>
          <a:srgbClr val="AAADCA"/>
        </a:accent3>
        <a:accent4>
          <a:srgbClr val="DADADA"/>
        </a:accent4>
        <a:accent5>
          <a:srgbClr val="AACAE2"/>
        </a:accent5>
        <a:accent6>
          <a:srgbClr val="9879CB"/>
        </a:accent6>
        <a:hlink>
          <a:srgbClr val="FFCC00"/>
        </a:hlink>
        <a:folHlink>
          <a:srgbClr val="FFFF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s550 7">
        <a:dk1>
          <a:srgbClr val="000000"/>
        </a:dk1>
        <a:lt1>
          <a:srgbClr val="FFFFFF"/>
        </a:lt1>
        <a:dk2>
          <a:srgbClr val="51596D"/>
        </a:dk2>
        <a:lt2>
          <a:srgbClr val="DDDDDD"/>
        </a:lt2>
        <a:accent1>
          <a:srgbClr val="787E8A"/>
        </a:accent1>
        <a:accent2>
          <a:srgbClr val="339966"/>
        </a:accent2>
        <a:accent3>
          <a:srgbClr val="B3B5BA"/>
        </a:accent3>
        <a:accent4>
          <a:srgbClr val="DADADA"/>
        </a:accent4>
        <a:accent5>
          <a:srgbClr val="BEC0C4"/>
        </a:accent5>
        <a:accent6>
          <a:srgbClr val="2D8A5C"/>
        </a:accent6>
        <a:hlink>
          <a:srgbClr val="00FFFF"/>
        </a:hlink>
        <a:folHlink>
          <a:srgbClr val="74B6D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s550 8">
        <a:dk1>
          <a:srgbClr val="3E3E5C"/>
        </a:dk1>
        <a:lt1>
          <a:srgbClr val="FFFFFF"/>
        </a:lt1>
        <a:dk2>
          <a:srgbClr val="666699"/>
        </a:dk2>
        <a:lt2>
          <a:srgbClr val="DFDFE9"/>
        </a:lt2>
        <a:accent1>
          <a:srgbClr val="2E2E46"/>
        </a:accent1>
        <a:accent2>
          <a:srgbClr val="679ACD"/>
        </a:accent2>
        <a:accent3>
          <a:srgbClr val="B8B8CA"/>
        </a:accent3>
        <a:accent4>
          <a:srgbClr val="DADADA"/>
        </a:accent4>
        <a:accent5>
          <a:srgbClr val="ADADB0"/>
        </a:accent5>
        <a:accent6>
          <a:srgbClr val="5D8BBA"/>
        </a:accent6>
        <a:hlink>
          <a:srgbClr val="99CCFF"/>
        </a:hlink>
        <a:folHlink>
          <a:srgbClr val="CC99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s550 9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CECFF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2F4FF"/>
        </a:accent5>
        <a:accent6>
          <a:srgbClr val="2D2D8A"/>
        </a:accent6>
        <a:hlink>
          <a:srgbClr val="6600FF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8011"/>
      </a:dk2>
      <a:lt2>
        <a:srgbClr val="DD0806"/>
      </a:lt2>
      <a:accent1>
        <a:srgbClr val="0000D4"/>
      </a:accent1>
      <a:accent2>
        <a:srgbClr val="02ABEA"/>
      </a:accent2>
      <a:accent3>
        <a:srgbClr val="FFFFFF"/>
      </a:accent3>
      <a:accent4>
        <a:srgbClr val="000000"/>
      </a:accent4>
      <a:accent5>
        <a:srgbClr val="AAAAE6"/>
      </a:accent5>
      <a:accent6>
        <a:srgbClr val="029BD4"/>
      </a:accent6>
      <a:hlink>
        <a:srgbClr val="F20884"/>
      </a:hlink>
      <a:folHlink>
        <a:srgbClr val="FCF305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8011"/>
      </a:dk2>
      <a:lt2>
        <a:srgbClr val="DD0806"/>
      </a:lt2>
      <a:accent1>
        <a:srgbClr val="0000D4"/>
      </a:accent1>
      <a:accent2>
        <a:srgbClr val="02ABEA"/>
      </a:accent2>
      <a:accent3>
        <a:srgbClr val="FFFFFF"/>
      </a:accent3>
      <a:accent4>
        <a:srgbClr val="000000"/>
      </a:accent4>
      <a:accent5>
        <a:srgbClr val="AAAAE6"/>
      </a:accent5>
      <a:accent6>
        <a:srgbClr val="029BD4"/>
      </a:accent6>
      <a:hlink>
        <a:srgbClr val="F20884"/>
      </a:hlink>
      <a:folHlink>
        <a:srgbClr val="FCF305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cs550</Template>
  <TotalTime>4094</TotalTime>
  <Words>3628</Words>
  <Application>Microsoft Office PowerPoint</Application>
  <PresentationFormat>사용자 지정</PresentationFormat>
  <Paragraphs>729</Paragraphs>
  <Slides>36</Slides>
  <Notes>0</Notes>
  <HiddenSlides>1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36</vt:i4>
      </vt:variant>
    </vt:vector>
  </HeadingPairs>
  <TitlesOfParts>
    <vt:vector size="44" baseType="lpstr">
      <vt:lpstr>Avant Garde</vt:lpstr>
      <vt:lpstr>Palatino</vt:lpstr>
      <vt:lpstr>굴림</vt:lpstr>
      <vt:lpstr>Arial</vt:lpstr>
      <vt:lpstr>Helvetica</vt:lpstr>
      <vt:lpstr>Wingdings</vt:lpstr>
      <vt:lpstr>cs550</vt:lpstr>
      <vt:lpstr>1_cs550</vt:lpstr>
      <vt:lpstr>  Chapter 23 Software Metrics and Analytics</vt:lpstr>
      <vt:lpstr>McCall’s Triangle of Quality</vt:lpstr>
      <vt:lpstr>Measures, Metrics and Indicators</vt:lpstr>
      <vt:lpstr>Measurement Principles</vt:lpstr>
      <vt:lpstr>Measurement Process</vt:lpstr>
      <vt:lpstr>Goal-Oriented Software Measurement</vt:lpstr>
      <vt:lpstr>Ex&gt; Goal definition for SafeHome</vt:lpstr>
      <vt:lpstr>Metrics Attributes</vt:lpstr>
      <vt:lpstr>Collection and Analysis Principles</vt:lpstr>
      <vt:lpstr>Overview of Ch23. Product Metrics</vt:lpstr>
      <vt:lpstr>Metrics for the Analysis Model</vt:lpstr>
      <vt:lpstr>Function-Based Metrics</vt:lpstr>
      <vt:lpstr>Function Points</vt:lpstr>
      <vt:lpstr>PowerPoint 프레젠테이션</vt:lpstr>
      <vt:lpstr>Value Adjustment Factors (Fi)</vt:lpstr>
      <vt:lpstr>Usage of Function Points</vt:lpstr>
      <vt:lpstr>Metrics for the Design Model</vt:lpstr>
      <vt:lpstr>Architectural Design Metrics</vt:lpstr>
      <vt:lpstr>Morphology Metrics</vt:lpstr>
      <vt:lpstr>Design Structure Quality Index (DSQI)</vt:lpstr>
      <vt:lpstr>Metrics for OO Design-I</vt:lpstr>
      <vt:lpstr>Metrics for OO Design-II</vt:lpstr>
      <vt:lpstr>Distinguishing Characteristics</vt:lpstr>
      <vt:lpstr>Class-Oriented Metrics</vt:lpstr>
      <vt:lpstr>Class-Oriented Metrics</vt:lpstr>
      <vt:lpstr>Applying CK Metrics</vt:lpstr>
      <vt:lpstr>PowerPoint 프레젠테이션</vt:lpstr>
      <vt:lpstr>Class-Oriented Metrics</vt:lpstr>
      <vt:lpstr>Component-Level Design Metrics</vt:lpstr>
      <vt:lpstr>Operation-Oriented Metrics</vt:lpstr>
      <vt:lpstr>Metrics for Source Code</vt:lpstr>
      <vt:lpstr>Cyclometic Complexity</vt:lpstr>
      <vt:lpstr>Metrics for Testing</vt:lpstr>
      <vt:lpstr>Metrics for Maintenance</vt:lpstr>
      <vt:lpstr>PowerPoint 프레젠테이션</vt:lpstr>
      <vt:lpstr>Class-Oriented Metrics</vt:lpstr>
    </vt:vector>
  </TitlesOfParts>
  <Company>CS Dept. KAIST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Chapter 1 Software and Software Engineering   Moonzoo Kim CS Division of EECS Dept.  KAIST  moonzoo@cs.kaist.ac.kr http://pswlab.kaist.ac.kr/courses/cs550-07</dc:title>
  <dc:creator>Moonzoo Kim</dc:creator>
  <cp:lastModifiedBy>moonzoo</cp:lastModifiedBy>
  <cp:revision>728</cp:revision>
  <cp:lastPrinted>2025-11-05T03:10:55Z</cp:lastPrinted>
  <dcterms:created xsi:type="dcterms:W3CDTF">2007-02-27T05:57:08Z</dcterms:created>
  <dcterms:modified xsi:type="dcterms:W3CDTF">2025-11-05T03:37:39Z</dcterms:modified>
</cp:coreProperties>
</file>