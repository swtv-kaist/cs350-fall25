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11" r:id="rId2"/>
  </p:sldMasterIdLst>
  <p:notesMasterIdLst>
    <p:notesMasterId r:id="rId39"/>
  </p:notesMasterIdLst>
  <p:handoutMasterIdLst>
    <p:handoutMasterId r:id="rId40"/>
  </p:handoutMasterIdLst>
  <p:sldIdLst>
    <p:sldId id="424" r:id="rId3"/>
    <p:sldId id="455" r:id="rId4"/>
    <p:sldId id="457" r:id="rId5"/>
    <p:sldId id="458" r:id="rId6"/>
    <p:sldId id="459" r:id="rId7"/>
    <p:sldId id="460" r:id="rId8"/>
    <p:sldId id="478" r:id="rId9"/>
    <p:sldId id="461" r:id="rId10"/>
    <p:sldId id="462" r:id="rId11"/>
    <p:sldId id="494" r:id="rId12"/>
    <p:sldId id="484" r:id="rId13"/>
    <p:sldId id="464" r:id="rId14"/>
    <p:sldId id="465" r:id="rId15"/>
    <p:sldId id="479" r:id="rId16"/>
    <p:sldId id="485" r:id="rId17"/>
    <p:sldId id="480" r:id="rId18"/>
    <p:sldId id="486" r:id="rId19"/>
    <p:sldId id="487" r:id="rId20"/>
    <p:sldId id="488" r:id="rId21"/>
    <p:sldId id="489" r:id="rId22"/>
    <p:sldId id="467" r:id="rId23"/>
    <p:sldId id="468" r:id="rId24"/>
    <p:sldId id="469" r:id="rId25"/>
    <p:sldId id="470" r:id="rId26"/>
    <p:sldId id="491" r:id="rId27"/>
    <p:sldId id="481" r:id="rId28"/>
    <p:sldId id="482" r:id="rId29"/>
    <p:sldId id="472" r:id="rId30"/>
    <p:sldId id="474" r:id="rId31"/>
    <p:sldId id="473" r:id="rId32"/>
    <p:sldId id="493" r:id="rId33"/>
    <p:sldId id="495" r:id="rId34"/>
    <p:sldId id="477" r:id="rId35"/>
    <p:sldId id="483" r:id="rId36"/>
    <p:sldId id="496" r:id="rId37"/>
    <p:sldId id="471" r:id="rId38"/>
  </p:sldIdLst>
  <p:sldSz cx="9144000" cy="6096000"/>
  <p:notesSz cx="6807200" cy="9939338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1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1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1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1" hangingPunct="1">
      <a:defRPr b="1"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D1039B"/>
    <a:srgbClr val="AD278D"/>
    <a:srgbClr val="8C4881"/>
    <a:srgbClr val="FF6699"/>
    <a:srgbClr val="D7FA7E"/>
    <a:srgbClr val="FF00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87" autoAdjust="0"/>
    <p:restoredTop sz="86421" autoAdjust="0"/>
  </p:normalViewPr>
  <p:slideViewPr>
    <p:cSldViewPr snapToGrid="0">
      <p:cViewPr varScale="1">
        <p:scale>
          <a:sx n="129" d="100"/>
          <a:sy n="129" d="100"/>
        </p:scale>
        <p:origin x="138" y="2598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6" y="3319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7826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850900"/>
            <a:ext cx="4933950" cy="3289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977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543050"/>
            <a:ext cx="7772400" cy="170815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598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54400"/>
            <a:ext cx="6400800" cy="155733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457200" y="5554663"/>
            <a:ext cx="2133600" cy="422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200" b="0"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5556250"/>
            <a:ext cx="2895600" cy="423863"/>
          </a:xfrm>
        </p:spPr>
        <p:txBody>
          <a:bodyPr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559425"/>
            <a:ext cx="2133600" cy="4238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02EF666-C0CF-4981-A800-61ED51DE96F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75E70-5D8F-49A8-ADA8-ABFCCCCAF9D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917950"/>
            <a:ext cx="7772400" cy="12096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584450"/>
            <a:ext cx="7772400" cy="13335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F1971-4904-4F71-B9EE-366BC9D2B1F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82CBC-F620-43B6-B65E-153FE182EFB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65250"/>
            <a:ext cx="4040188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933575"/>
            <a:ext cx="4040188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365250"/>
            <a:ext cx="4041775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933575"/>
            <a:ext cx="4041775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11D9E-5ACD-41F1-8283-A1303C7DF0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C57A6-E66E-41A3-B57D-3DB89D4271E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1FFC2-3EAE-4B56-9D35-CB66D2F357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42888"/>
            <a:ext cx="3008313" cy="10334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42888"/>
            <a:ext cx="5111750" cy="5202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76350"/>
            <a:ext cx="3008313" cy="41687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AC547-EA80-49CF-9119-3558BC48D62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267200"/>
            <a:ext cx="5486400" cy="503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44513"/>
            <a:ext cx="5486400" cy="3657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770438"/>
            <a:ext cx="5486400" cy="7159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85185-F3D1-4B6B-BB50-3EFB72CDEBB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77B14-F71E-4AC5-9728-8CDDBA5439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44475"/>
            <a:ext cx="2057400" cy="5176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019800" cy="5176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4E829-3A27-4514-993B-E18F83C3847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9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543050"/>
            <a:ext cx="7772400" cy="170815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59820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54400"/>
            <a:ext cx="6400800" cy="155733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457200" y="5554663"/>
            <a:ext cx="2133600" cy="422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200" b="0"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FFFFFF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5556250"/>
            <a:ext cx="2895600" cy="423863"/>
          </a:xfrm>
          <a:prstGeom prst="rect">
            <a:avLst/>
          </a:prstGeom>
        </p:spPr>
        <p:txBody>
          <a:bodyPr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ko-KR">
              <a:solidFill>
                <a:srgbClr val="FFFFFF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559425"/>
            <a:ext cx="2133600" cy="4238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CFDCF5D-4CC9-42C9-BFA1-D4C24C9F1208}" type="slidenum">
              <a:rPr lang="ko-KR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850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C3DAF-6E70-4DB2-BC40-B9EAEB1933FE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73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917950"/>
            <a:ext cx="7772400" cy="12096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584450"/>
            <a:ext cx="7772400" cy="13335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89FD8-CB70-4B4C-A0C9-06EF7D3EEA51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8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22400"/>
            <a:ext cx="4038600" cy="3998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1352D-6D7B-431C-966B-63A333B1A931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7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365250"/>
            <a:ext cx="4040188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933575"/>
            <a:ext cx="4040188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365250"/>
            <a:ext cx="4041775" cy="5683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933575"/>
            <a:ext cx="4041775" cy="35115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0BF06-94DE-4FD3-9319-DFF809C432D8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993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D083C-60A8-4DCF-9C5F-9B4209372156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281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7F556-7318-4432-8F3E-B14BC8F6A0D5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14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42888"/>
            <a:ext cx="3008313" cy="10334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42888"/>
            <a:ext cx="5111750" cy="5202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76350"/>
            <a:ext cx="3008313" cy="41687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00FC0-C098-49F6-AFA5-8CC10D163CC1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450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267200"/>
            <a:ext cx="5486400" cy="503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544513"/>
            <a:ext cx="5486400" cy="3657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770438"/>
            <a:ext cx="5486400" cy="7159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2CCF0-E6C4-416D-B3C3-9E4DCD7CA0C1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478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4C87F-8FE8-4909-8571-C325EFDE4265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030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44475"/>
            <a:ext cx="2057400" cy="5176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019800" cy="5176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0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32575-64FB-46B0-8DDE-30DC15967AB9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8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229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422400"/>
            <a:ext cx="8229600" cy="399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5879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33450" y="5759450"/>
            <a:ext cx="1500188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chemeClr val="bg1"/>
                </a:solidFill>
                <a:latin typeface="Avant Garde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5554663"/>
            <a:ext cx="63182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6EEC980A-946E-453B-B98F-07891A4BFD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0" name="Picture 16"/>
          <p:cNvPicPr>
            <a:picLocks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77800" y="5702300"/>
            <a:ext cx="804863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229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422400"/>
            <a:ext cx="8229600" cy="399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5554663"/>
            <a:ext cx="63182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solidFill>
                  <a:schemeClr val="bg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552FBB20-3278-4861-90FD-15DF3E057543}" type="slidenum">
              <a:rPr lang="ko-KR" altLang="en-US">
                <a:solidFill>
                  <a:srgbClr val="003399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3399"/>
              </a:solidFill>
            </a:endParaRPr>
          </a:p>
        </p:txBody>
      </p:sp>
      <p:pic>
        <p:nvPicPr>
          <p:cNvPr id="1030" name="Picture 16"/>
          <p:cNvPicPr>
            <a:picLocks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177800" y="5702300"/>
            <a:ext cx="804863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016090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075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61679CC-135E-43AE-8D3E-632BFB6C14BF}" type="slidenum">
              <a:rPr lang="ko-KR" altLang="en-US" smtClean="0"/>
              <a:pPr/>
              <a:t>1</a:t>
            </a:fld>
            <a:endParaRPr lang="en-US" altLang="ko-KR"/>
          </a:p>
        </p:txBody>
      </p:sp>
      <p:sp>
        <p:nvSpPr>
          <p:cNvPr id="1029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60458" y="1008063"/>
            <a:ext cx="6899325" cy="1528624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br>
              <a:rPr lang="en-US" altLang="ko-KR" sz="2400" i="1" dirty="0">
                <a:solidFill>
                  <a:srgbClr val="D7FA7E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sz="2400" i="1" dirty="0">
                <a:solidFill>
                  <a:srgbClr val="D7FA7E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Chapter 23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Software</a:t>
            </a:r>
            <a:r>
              <a:rPr lang="ko-KR" altLang="en-US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and Analytics</a:t>
            </a:r>
            <a:endParaRPr lang="en-US" altLang="ko-KR" sz="2000" b="0" dirty="0">
              <a:solidFill>
                <a:srgbClr val="FF6600"/>
              </a:solidFill>
              <a:effectLst/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512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A2CB90C-4ECE-4ABD-B82C-4639BDE31FD4}" type="slidenum">
              <a:rPr lang="ko-KR" altLang="en-US" smtClean="0"/>
              <a:pPr/>
              <a:t>2</a:t>
            </a:fld>
            <a:endParaRPr lang="en-US" altLang="ko-KR"/>
          </a:p>
        </p:txBody>
      </p:sp>
      <p:sp>
        <p:nvSpPr>
          <p:cNvPr id="129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82998" y="244475"/>
            <a:ext cx="6181179" cy="605294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McCall’s Triangle of Quality</a:t>
            </a:r>
          </a:p>
        </p:txBody>
      </p:sp>
      <p:sp>
        <p:nvSpPr>
          <p:cNvPr id="5125" name="Freeform 3"/>
          <p:cNvSpPr>
            <a:spLocks/>
          </p:cNvSpPr>
          <p:nvPr/>
        </p:nvSpPr>
        <p:spPr bwMode="auto">
          <a:xfrm>
            <a:off x="4387850" y="1482725"/>
            <a:ext cx="2219325" cy="1831975"/>
          </a:xfrm>
          <a:custGeom>
            <a:avLst/>
            <a:gdLst>
              <a:gd name="T0" fmla="*/ 2147483647 w 1398"/>
              <a:gd name="T1" fmla="*/ 2147483647 h 1154"/>
              <a:gd name="T2" fmla="*/ 0 w 1398"/>
              <a:gd name="T3" fmla="*/ 0 h 1154"/>
              <a:gd name="T4" fmla="*/ 0 w 1398"/>
              <a:gd name="T5" fmla="*/ 2147483647 h 1154"/>
              <a:gd name="T6" fmla="*/ 2147483647 w 1398"/>
              <a:gd name="T7" fmla="*/ 2147483647 h 1154"/>
              <a:gd name="T8" fmla="*/ 0 60000 65536"/>
              <a:gd name="T9" fmla="*/ 0 60000 65536"/>
              <a:gd name="T10" fmla="*/ 0 60000 65536"/>
              <a:gd name="T11" fmla="*/ 0 60000 65536"/>
              <a:gd name="T12" fmla="*/ 0 w 1398"/>
              <a:gd name="T13" fmla="*/ 0 h 1154"/>
              <a:gd name="T14" fmla="*/ 1398 w 1398"/>
              <a:gd name="T15" fmla="*/ 1154 h 1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8" h="1154">
                <a:moveTo>
                  <a:pt x="1398" y="1154"/>
                </a:moveTo>
                <a:lnTo>
                  <a:pt x="0" y="0"/>
                </a:lnTo>
                <a:lnTo>
                  <a:pt x="0" y="772"/>
                </a:lnTo>
                <a:lnTo>
                  <a:pt x="1398" y="1154"/>
                </a:lnTo>
                <a:close/>
              </a:path>
            </a:pathLst>
          </a:custGeom>
          <a:solidFill>
            <a:srgbClr val="88888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126" name="Freeform 4"/>
          <p:cNvSpPr>
            <a:spLocks/>
          </p:cNvSpPr>
          <p:nvPr/>
        </p:nvSpPr>
        <p:spPr bwMode="auto">
          <a:xfrm>
            <a:off x="2182813" y="1482725"/>
            <a:ext cx="2217737" cy="1831975"/>
          </a:xfrm>
          <a:custGeom>
            <a:avLst/>
            <a:gdLst>
              <a:gd name="T0" fmla="*/ 0 w 1397"/>
              <a:gd name="T1" fmla="*/ 2147483647 h 1154"/>
              <a:gd name="T2" fmla="*/ 2147483647 w 1397"/>
              <a:gd name="T3" fmla="*/ 0 h 1154"/>
              <a:gd name="T4" fmla="*/ 2147483647 w 1397"/>
              <a:gd name="T5" fmla="*/ 2147483647 h 1154"/>
              <a:gd name="T6" fmla="*/ 0 w 1397"/>
              <a:gd name="T7" fmla="*/ 2147483647 h 1154"/>
              <a:gd name="T8" fmla="*/ 0 60000 65536"/>
              <a:gd name="T9" fmla="*/ 0 60000 65536"/>
              <a:gd name="T10" fmla="*/ 0 60000 65536"/>
              <a:gd name="T11" fmla="*/ 0 60000 65536"/>
              <a:gd name="T12" fmla="*/ 0 w 1397"/>
              <a:gd name="T13" fmla="*/ 0 h 1154"/>
              <a:gd name="T14" fmla="*/ 1397 w 1397"/>
              <a:gd name="T15" fmla="*/ 1154 h 1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7" h="1154">
                <a:moveTo>
                  <a:pt x="0" y="1154"/>
                </a:moveTo>
                <a:lnTo>
                  <a:pt x="1397" y="0"/>
                </a:lnTo>
                <a:lnTo>
                  <a:pt x="1397" y="772"/>
                </a:lnTo>
                <a:lnTo>
                  <a:pt x="0" y="1154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5127" name="Freeform 5"/>
          <p:cNvSpPr>
            <a:spLocks/>
          </p:cNvSpPr>
          <p:nvPr/>
        </p:nvSpPr>
        <p:spPr bwMode="auto">
          <a:xfrm>
            <a:off x="2182813" y="2695575"/>
            <a:ext cx="4500562" cy="619125"/>
          </a:xfrm>
          <a:custGeom>
            <a:avLst/>
            <a:gdLst>
              <a:gd name="T0" fmla="*/ 0 w 2835"/>
              <a:gd name="T1" fmla="*/ 2147483647 h 390"/>
              <a:gd name="T2" fmla="*/ 2147483647 w 2835"/>
              <a:gd name="T3" fmla="*/ 0 h 390"/>
              <a:gd name="T4" fmla="*/ 2147483647 w 2835"/>
              <a:gd name="T5" fmla="*/ 2147483647 h 390"/>
              <a:gd name="T6" fmla="*/ 0 w 2835"/>
              <a:gd name="T7" fmla="*/ 2147483647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2835"/>
              <a:gd name="T13" fmla="*/ 0 h 390"/>
              <a:gd name="T14" fmla="*/ 2835 w 2835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35" h="390">
                <a:moveTo>
                  <a:pt x="0" y="390"/>
                </a:moveTo>
                <a:lnTo>
                  <a:pt x="1397" y="0"/>
                </a:lnTo>
                <a:lnTo>
                  <a:pt x="2835" y="390"/>
                </a:lnTo>
                <a:lnTo>
                  <a:pt x="0" y="390"/>
                </a:lnTo>
                <a:close/>
              </a:path>
            </a:pathLst>
          </a:custGeom>
          <a:solidFill>
            <a:srgbClr val="22222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ea typeface="굴림" pitchFamily="50" charset="-127"/>
            </a:endParaRPr>
          </a:p>
        </p:txBody>
      </p:sp>
      <p:grpSp>
        <p:nvGrpSpPr>
          <p:cNvPr id="5128" name="Group 6"/>
          <p:cNvGrpSpPr>
            <a:grpSpLocks/>
          </p:cNvGrpSpPr>
          <p:nvPr/>
        </p:nvGrpSpPr>
        <p:grpSpPr bwMode="auto">
          <a:xfrm>
            <a:off x="1082675" y="896938"/>
            <a:ext cx="1946275" cy="341312"/>
            <a:chOff x="682" y="745"/>
            <a:chExt cx="1226" cy="215"/>
          </a:xfrm>
        </p:grpSpPr>
        <p:sp>
          <p:nvSpPr>
            <p:cNvPr id="1297415" name="Rectangle 7"/>
            <p:cNvSpPr>
              <a:spLocks noChangeArrowheads="1"/>
            </p:cNvSpPr>
            <p:nvPr/>
          </p:nvSpPr>
          <p:spPr bwMode="auto">
            <a:xfrm>
              <a:off x="690" y="753"/>
              <a:ext cx="160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M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16" name="Rectangle 8"/>
            <p:cNvSpPr>
              <a:spLocks noChangeArrowheads="1"/>
            </p:cNvSpPr>
            <p:nvPr/>
          </p:nvSpPr>
          <p:spPr bwMode="auto">
            <a:xfrm>
              <a:off x="849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17" name="Rectangle 9"/>
            <p:cNvSpPr>
              <a:spLocks noChangeArrowheads="1"/>
            </p:cNvSpPr>
            <p:nvPr/>
          </p:nvSpPr>
          <p:spPr bwMode="auto">
            <a:xfrm>
              <a:off x="957" y="75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18" name="Rectangle 10"/>
            <p:cNvSpPr>
              <a:spLocks noChangeArrowheads="1"/>
            </p:cNvSpPr>
            <p:nvPr/>
          </p:nvSpPr>
          <p:spPr bwMode="auto">
            <a:xfrm>
              <a:off x="1000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19" name="Rectangle 11"/>
            <p:cNvSpPr>
              <a:spLocks noChangeArrowheads="1"/>
            </p:cNvSpPr>
            <p:nvPr/>
          </p:nvSpPr>
          <p:spPr bwMode="auto">
            <a:xfrm>
              <a:off x="1106" y="753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0" name="Rectangle 12"/>
            <p:cNvSpPr>
              <a:spLocks noChangeArrowheads="1"/>
            </p:cNvSpPr>
            <p:nvPr/>
          </p:nvSpPr>
          <p:spPr bwMode="auto">
            <a:xfrm>
              <a:off x="1160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1" name="Rectangle 13"/>
            <p:cNvSpPr>
              <a:spLocks noChangeArrowheads="1"/>
            </p:cNvSpPr>
            <p:nvPr/>
          </p:nvSpPr>
          <p:spPr bwMode="auto">
            <a:xfrm>
              <a:off x="1267" y="75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2" name="Rectangle 14"/>
            <p:cNvSpPr>
              <a:spLocks noChangeArrowheads="1"/>
            </p:cNvSpPr>
            <p:nvPr/>
          </p:nvSpPr>
          <p:spPr bwMode="auto">
            <a:xfrm>
              <a:off x="1309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3" name="Rectangle 15"/>
            <p:cNvSpPr>
              <a:spLocks noChangeArrowheads="1"/>
            </p:cNvSpPr>
            <p:nvPr/>
          </p:nvSpPr>
          <p:spPr bwMode="auto">
            <a:xfrm>
              <a:off x="1415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4" name="Rectangle 16"/>
            <p:cNvSpPr>
              <a:spLocks noChangeArrowheads="1"/>
            </p:cNvSpPr>
            <p:nvPr/>
          </p:nvSpPr>
          <p:spPr bwMode="auto">
            <a:xfrm>
              <a:off x="1522" y="75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5" name="Rectangle 17"/>
            <p:cNvSpPr>
              <a:spLocks noChangeArrowheads="1"/>
            </p:cNvSpPr>
            <p:nvPr/>
          </p:nvSpPr>
          <p:spPr bwMode="auto">
            <a:xfrm>
              <a:off x="1630" y="75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6" name="Rectangle 18"/>
            <p:cNvSpPr>
              <a:spLocks noChangeArrowheads="1"/>
            </p:cNvSpPr>
            <p:nvPr/>
          </p:nvSpPr>
          <p:spPr bwMode="auto">
            <a:xfrm>
              <a:off x="1673" y="75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7" name="Rectangle 19"/>
            <p:cNvSpPr>
              <a:spLocks noChangeArrowheads="1"/>
            </p:cNvSpPr>
            <p:nvPr/>
          </p:nvSpPr>
          <p:spPr bwMode="auto">
            <a:xfrm>
              <a:off x="1717" y="75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8" name="Rectangle 20"/>
            <p:cNvSpPr>
              <a:spLocks noChangeArrowheads="1"/>
            </p:cNvSpPr>
            <p:nvPr/>
          </p:nvSpPr>
          <p:spPr bwMode="auto">
            <a:xfrm>
              <a:off x="1758" y="753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29" name="Rectangle 21"/>
            <p:cNvSpPr>
              <a:spLocks noChangeArrowheads="1"/>
            </p:cNvSpPr>
            <p:nvPr/>
          </p:nvSpPr>
          <p:spPr bwMode="auto">
            <a:xfrm>
              <a:off x="1812" y="75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0" name="Rectangle 22"/>
            <p:cNvSpPr>
              <a:spLocks noChangeArrowheads="1"/>
            </p:cNvSpPr>
            <p:nvPr/>
          </p:nvSpPr>
          <p:spPr bwMode="auto">
            <a:xfrm>
              <a:off x="682" y="745"/>
              <a:ext cx="160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M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1" name="Rectangle 23"/>
            <p:cNvSpPr>
              <a:spLocks noChangeArrowheads="1"/>
            </p:cNvSpPr>
            <p:nvPr/>
          </p:nvSpPr>
          <p:spPr bwMode="auto">
            <a:xfrm>
              <a:off x="841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2" name="Rectangle 24"/>
            <p:cNvSpPr>
              <a:spLocks noChangeArrowheads="1"/>
            </p:cNvSpPr>
            <p:nvPr/>
          </p:nvSpPr>
          <p:spPr bwMode="auto">
            <a:xfrm>
              <a:off x="949" y="74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3" name="Rectangle 25"/>
            <p:cNvSpPr>
              <a:spLocks noChangeArrowheads="1"/>
            </p:cNvSpPr>
            <p:nvPr/>
          </p:nvSpPr>
          <p:spPr bwMode="auto">
            <a:xfrm>
              <a:off x="992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4" name="Rectangle 26"/>
            <p:cNvSpPr>
              <a:spLocks noChangeArrowheads="1"/>
            </p:cNvSpPr>
            <p:nvPr/>
          </p:nvSpPr>
          <p:spPr bwMode="auto">
            <a:xfrm>
              <a:off x="1098" y="74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5" name="Rectangle 27"/>
            <p:cNvSpPr>
              <a:spLocks noChangeArrowheads="1"/>
            </p:cNvSpPr>
            <p:nvPr/>
          </p:nvSpPr>
          <p:spPr bwMode="auto">
            <a:xfrm>
              <a:off x="1152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6" name="Rectangle 28"/>
            <p:cNvSpPr>
              <a:spLocks noChangeArrowheads="1"/>
            </p:cNvSpPr>
            <p:nvPr/>
          </p:nvSpPr>
          <p:spPr bwMode="auto">
            <a:xfrm>
              <a:off x="1259" y="74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7" name="Rectangle 29"/>
            <p:cNvSpPr>
              <a:spLocks noChangeArrowheads="1"/>
            </p:cNvSpPr>
            <p:nvPr/>
          </p:nvSpPr>
          <p:spPr bwMode="auto">
            <a:xfrm>
              <a:off x="1301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8" name="Rectangle 30"/>
            <p:cNvSpPr>
              <a:spLocks noChangeArrowheads="1"/>
            </p:cNvSpPr>
            <p:nvPr/>
          </p:nvSpPr>
          <p:spPr bwMode="auto">
            <a:xfrm>
              <a:off x="1407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39" name="Rectangle 31"/>
            <p:cNvSpPr>
              <a:spLocks noChangeArrowheads="1"/>
            </p:cNvSpPr>
            <p:nvPr/>
          </p:nvSpPr>
          <p:spPr bwMode="auto">
            <a:xfrm>
              <a:off x="1514" y="74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0" name="Rectangle 32"/>
            <p:cNvSpPr>
              <a:spLocks noChangeArrowheads="1"/>
            </p:cNvSpPr>
            <p:nvPr/>
          </p:nvSpPr>
          <p:spPr bwMode="auto">
            <a:xfrm>
              <a:off x="1622" y="74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1" name="Rectangle 33"/>
            <p:cNvSpPr>
              <a:spLocks noChangeArrowheads="1"/>
            </p:cNvSpPr>
            <p:nvPr/>
          </p:nvSpPr>
          <p:spPr bwMode="auto">
            <a:xfrm>
              <a:off x="1665" y="74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2" name="Rectangle 34"/>
            <p:cNvSpPr>
              <a:spLocks noChangeArrowheads="1"/>
            </p:cNvSpPr>
            <p:nvPr/>
          </p:nvSpPr>
          <p:spPr bwMode="auto">
            <a:xfrm>
              <a:off x="1709" y="74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3" name="Rectangle 35"/>
            <p:cNvSpPr>
              <a:spLocks noChangeArrowheads="1"/>
            </p:cNvSpPr>
            <p:nvPr/>
          </p:nvSpPr>
          <p:spPr bwMode="auto">
            <a:xfrm>
              <a:off x="1750" y="74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4" name="Rectangle 36"/>
            <p:cNvSpPr>
              <a:spLocks noChangeArrowheads="1"/>
            </p:cNvSpPr>
            <p:nvPr/>
          </p:nvSpPr>
          <p:spPr bwMode="auto">
            <a:xfrm>
              <a:off x="1804" y="74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29" name="Group 37"/>
          <p:cNvGrpSpPr>
            <a:grpSpLocks/>
          </p:cNvGrpSpPr>
          <p:nvPr/>
        </p:nvGrpSpPr>
        <p:grpSpPr bwMode="auto">
          <a:xfrm>
            <a:off x="1095375" y="1312863"/>
            <a:ext cx="1276350" cy="341312"/>
            <a:chOff x="690" y="1007"/>
            <a:chExt cx="804" cy="215"/>
          </a:xfrm>
        </p:grpSpPr>
        <p:sp>
          <p:nvSpPr>
            <p:cNvPr id="1297446" name="Rectangle 38"/>
            <p:cNvSpPr>
              <a:spLocks noChangeArrowheads="1"/>
            </p:cNvSpPr>
            <p:nvPr/>
          </p:nvSpPr>
          <p:spPr bwMode="auto">
            <a:xfrm>
              <a:off x="698" y="1015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7" name="Rectangle 39"/>
            <p:cNvSpPr>
              <a:spLocks noChangeArrowheads="1"/>
            </p:cNvSpPr>
            <p:nvPr/>
          </p:nvSpPr>
          <p:spPr bwMode="auto">
            <a:xfrm>
              <a:off x="817" y="101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8" name="Rectangle 40"/>
            <p:cNvSpPr>
              <a:spLocks noChangeArrowheads="1"/>
            </p:cNvSpPr>
            <p:nvPr/>
          </p:nvSpPr>
          <p:spPr bwMode="auto">
            <a:xfrm>
              <a:off x="860" y="10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49" name="Rectangle 41"/>
            <p:cNvSpPr>
              <a:spLocks noChangeArrowheads="1"/>
            </p:cNvSpPr>
            <p:nvPr/>
          </p:nvSpPr>
          <p:spPr bwMode="auto">
            <a:xfrm>
              <a:off x="968" y="101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x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0" name="Rectangle 42"/>
            <p:cNvSpPr>
              <a:spLocks noChangeArrowheads="1"/>
            </p:cNvSpPr>
            <p:nvPr/>
          </p:nvSpPr>
          <p:spPr bwMode="auto">
            <a:xfrm>
              <a:off x="1063" y="101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1" name="Rectangle 43"/>
            <p:cNvSpPr>
              <a:spLocks noChangeArrowheads="1"/>
            </p:cNvSpPr>
            <p:nvPr/>
          </p:nvSpPr>
          <p:spPr bwMode="auto">
            <a:xfrm>
              <a:off x="1107" y="10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2" name="Rectangle 44"/>
            <p:cNvSpPr>
              <a:spLocks noChangeArrowheads="1"/>
            </p:cNvSpPr>
            <p:nvPr/>
          </p:nvSpPr>
          <p:spPr bwMode="auto">
            <a:xfrm>
              <a:off x="1215" y="101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3" name="Rectangle 45"/>
            <p:cNvSpPr>
              <a:spLocks noChangeArrowheads="1"/>
            </p:cNvSpPr>
            <p:nvPr/>
          </p:nvSpPr>
          <p:spPr bwMode="auto">
            <a:xfrm>
              <a:off x="1258" y="101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4" name="Rectangle 46"/>
            <p:cNvSpPr>
              <a:spLocks noChangeArrowheads="1"/>
            </p:cNvSpPr>
            <p:nvPr/>
          </p:nvSpPr>
          <p:spPr bwMode="auto">
            <a:xfrm>
              <a:off x="1302" y="101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5" name="Rectangle 47"/>
            <p:cNvSpPr>
              <a:spLocks noChangeArrowheads="1"/>
            </p:cNvSpPr>
            <p:nvPr/>
          </p:nvSpPr>
          <p:spPr bwMode="auto">
            <a:xfrm>
              <a:off x="1346" y="101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6" name="Rectangle 48"/>
            <p:cNvSpPr>
              <a:spLocks noChangeArrowheads="1"/>
            </p:cNvSpPr>
            <p:nvPr/>
          </p:nvSpPr>
          <p:spPr bwMode="auto">
            <a:xfrm>
              <a:off x="1398" y="101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7" name="Rectangle 49"/>
            <p:cNvSpPr>
              <a:spLocks noChangeArrowheads="1"/>
            </p:cNvSpPr>
            <p:nvPr/>
          </p:nvSpPr>
          <p:spPr bwMode="auto">
            <a:xfrm>
              <a:off x="690" y="1007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8" name="Rectangle 50"/>
            <p:cNvSpPr>
              <a:spLocks noChangeArrowheads="1"/>
            </p:cNvSpPr>
            <p:nvPr/>
          </p:nvSpPr>
          <p:spPr bwMode="auto">
            <a:xfrm>
              <a:off x="809" y="100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59" name="Rectangle 51"/>
            <p:cNvSpPr>
              <a:spLocks noChangeArrowheads="1"/>
            </p:cNvSpPr>
            <p:nvPr/>
          </p:nvSpPr>
          <p:spPr bwMode="auto">
            <a:xfrm>
              <a:off x="852" y="100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0" name="Rectangle 52"/>
            <p:cNvSpPr>
              <a:spLocks noChangeArrowheads="1"/>
            </p:cNvSpPr>
            <p:nvPr/>
          </p:nvSpPr>
          <p:spPr bwMode="auto">
            <a:xfrm>
              <a:off x="960" y="100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x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1" name="Rectangle 53"/>
            <p:cNvSpPr>
              <a:spLocks noChangeArrowheads="1"/>
            </p:cNvSpPr>
            <p:nvPr/>
          </p:nvSpPr>
          <p:spPr bwMode="auto">
            <a:xfrm>
              <a:off x="1055" y="100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2" name="Rectangle 54"/>
            <p:cNvSpPr>
              <a:spLocks noChangeArrowheads="1"/>
            </p:cNvSpPr>
            <p:nvPr/>
          </p:nvSpPr>
          <p:spPr bwMode="auto">
            <a:xfrm>
              <a:off x="1099" y="100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3" name="Rectangle 55"/>
            <p:cNvSpPr>
              <a:spLocks noChangeArrowheads="1"/>
            </p:cNvSpPr>
            <p:nvPr/>
          </p:nvSpPr>
          <p:spPr bwMode="auto">
            <a:xfrm>
              <a:off x="1207" y="100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 err="1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4" name="Rectangle 56"/>
            <p:cNvSpPr>
              <a:spLocks noChangeArrowheads="1"/>
            </p:cNvSpPr>
            <p:nvPr/>
          </p:nvSpPr>
          <p:spPr bwMode="auto">
            <a:xfrm>
              <a:off x="1250" y="100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5" name="Rectangle 57"/>
            <p:cNvSpPr>
              <a:spLocks noChangeArrowheads="1"/>
            </p:cNvSpPr>
            <p:nvPr/>
          </p:nvSpPr>
          <p:spPr bwMode="auto">
            <a:xfrm>
              <a:off x="1294" y="100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6" name="Rectangle 58"/>
            <p:cNvSpPr>
              <a:spLocks noChangeArrowheads="1"/>
            </p:cNvSpPr>
            <p:nvPr/>
          </p:nvSpPr>
          <p:spPr bwMode="auto">
            <a:xfrm>
              <a:off x="1338" y="100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67" name="Rectangle 59"/>
            <p:cNvSpPr>
              <a:spLocks noChangeArrowheads="1"/>
            </p:cNvSpPr>
            <p:nvPr/>
          </p:nvSpPr>
          <p:spPr bwMode="auto">
            <a:xfrm>
              <a:off x="1390" y="100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0" name="Group 60"/>
          <p:cNvGrpSpPr>
            <a:grpSpLocks/>
          </p:cNvGrpSpPr>
          <p:nvPr/>
        </p:nvGrpSpPr>
        <p:grpSpPr bwMode="auto">
          <a:xfrm>
            <a:off x="1095375" y="1743075"/>
            <a:ext cx="1379538" cy="341313"/>
            <a:chOff x="690" y="1278"/>
            <a:chExt cx="869" cy="215"/>
          </a:xfrm>
        </p:grpSpPr>
        <p:sp>
          <p:nvSpPr>
            <p:cNvPr id="1297469" name="Rectangle 61"/>
            <p:cNvSpPr>
              <a:spLocks noChangeArrowheads="1"/>
            </p:cNvSpPr>
            <p:nvPr/>
          </p:nvSpPr>
          <p:spPr bwMode="auto">
            <a:xfrm>
              <a:off x="698" y="1286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0" name="Rectangle 62"/>
            <p:cNvSpPr>
              <a:spLocks noChangeArrowheads="1"/>
            </p:cNvSpPr>
            <p:nvPr/>
          </p:nvSpPr>
          <p:spPr bwMode="auto">
            <a:xfrm>
              <a:off x="817" y="12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1" name="Rectangle 63"/>
            <p:cNvSpPr>
              <a:spLocks noChangeArrowheads="1"/>
            </p:cNvSpPr>
            <p:nvPr/>
          </p:nvSpPr>
          <p:spPr bwMode="auto">
            <a:xfrm>
              <a:off x="924" y="1286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2" name="Rectangle 64"/>
            <p:cNvSpPr>
              <a:spLocks noChangeArrowheads="1"/>
            </p:cNvSpPr>
            <p:nvPr/>
          </p:nvSpPr>
          <p:spPr bwMode="auto">
            <a:xfrm>
              <a:off x="1019" y="12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3" name="Rectangle 65"/>
            <p:cNvSpPr>
              <a:spLocks noChangeArrowheads="1"/>
            </p:cNvSpPr>
            <p:nvPr/>
          </p:nvSpPr>
          <p:spPr bwMode="auto">
            <a:xfrm>
              <a:off x="1072" y="12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4" name="Rectangle 66"/>
            <p:cNvSpPr>
              <a:spLocks noChangeArrowheads="1"/>
            </p:cNvSpPr>
            <p:nvPr/>
          </p:nvSpPr>
          <p:spPr bwMode="auto">
            <a:xfrm>
              <a:off x="1178" y="12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5" name="Rectangle 67"/>
            <p:cNvSpPr>
              <a:spLocks noChangeArrowheads="1"/>
            </p:cNvSpPr>
            <p:nvPr/>
          </p:nvSpPr>
          <p:spPr bwMode="auto">
            <a:xfrm>
              <a:off x="1283" y="12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6" name="Rectangle 68"/>
            <p:cNvSpPr>
              <a:spLocks noChangeArrowheads="1"/>
            </p:cNvSpPr>
            <p:nvPr/>
          </p:nvSpPr>
          <p:spPr bwMode="auto">
            <a:xfrm>
              <a:off x="1325" y="12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7" name="Rectangle 69"/>
            <p:cNvSpPr>
              <a:spLocks noChangeArrowheads="1"/>
            </p:cNvSpPr>
            <p:nvPr/>
          </p:nvSpPr>
          <p:spPr bwMode="auto">
            <a:xfrm>
              <a:off x="1367" y="12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8" name="Rectangle 70"/>
            <p:cNvSpPr>
              <a:spLocks noChangeArrowheads="1"/>
            </p:cNvSpPr>
            <p:nvPr/>
          </p:nvSpPr>
          <p:spPr bwMode="auto">
            <a:xfrm>
              <a:off x="1411" y="12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79" name="Rectangle 71"/>
            <p:cNvSpPr>
              <a:spLocks noChangeArrowheads="1"/>
            </p:cNvSpPr>
            <p:nvPr/>
          </p:nvSpPr>
          <p:spPr bwMode="auto">
            <a:xfrm>
              <a:off x="1463" y="1286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0" name="Rectangle 72"/>
            <p:cNvSpPr>
              <a:spLocks noChangeArrowheads="1"/>
            </p:cNvSpPr>
            <p:nvPr/>
          </p:nvSpPr>
          <p:spPr bwMode="auto">
            <a:xfrm>
              <a:off x="690" y="1278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1" name="Rectangle 73"/>
            <p:cNvSpPr>
              <a:spLocks noChangeArrowheads="1"/>
            </p:cNvSpPr>
            <p:nvPr/>
          </p:nvSpPr>
          <p:spPr bwMode="auto">
            <a:xfrm>
              <a:off x="809" y="12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2" name="Rectangle 74"/>
            <p:cNvSpPr>
              <a:spLocks noChangeArrowheads="1"/>
            </p:cNvSpPr>
            <p:nvPr/>
          </p:nvSpPr>
          <p:spPr bwMode="auto">
            <a:xfrm>
              <a:off x="916" y="1278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3" name="Rectangle 75"/>
            <p:cNvSpPr>
              <a:spLocks noChangeArrowheads="1"/>
            </p:cNvSpPr>
            <p:nvPr/>
          </p:nvSpPr>
          <p:spPr bwMode="auto">
            <a:xfrm>
              <a:off x="1011" y="127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4" name="Rectangle 76"/>
            <p:cNvSpPr>
              <a:spLocks noChangeArrowheads="1"/>
            </p:cNvSpPr>
            <p:nvPr/>
          </p:nvSpPr>
          <p:spPr bwMode="auto">
            <a:xfrm>
              <a:off x="1064" y="12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5" name="Rectangle 77"/>
            <p:cNvSpPr>
              <a:spLocks noChangeArrowheads="1"/>
            </p:cNvSpPr>
            <p:nvPr/>
          </p:nvSpPr>
          <p:spPr bwMode="auto">
            <a:xfrm>
              <a:off x="1170" y="12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6" name="Rectangle 78"/>
            <p:cNvSpPr>
              <a:spLocks noChangeArrowheads="1"/>
            </p:cNvSpPr>
            <p:nvPr/>
          </p:nvSpPr>
          <p:spPr bwMode="auto">
            <a:xfrm>
              <a:off x="1275" y="127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7" name="Rectangle 79"/>
            <p:cNvSpPr>
              <a:spLocks noChangeArrowheads="1"/>
            </p:cNvSpPr>
            <p:nvPr/>
          </p:nvSpPr>
          <p:spPr bwMode="auto">
            <a:xfrm>
              <a:off x="1317" y="127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8" name="Rectangle 80"/>
            <p:cNvSpPr>
              <a:spLocks noChangeArrowheads="1"/>
            </p:cNvSpPr>
            <p:nvPr/>
          </p:nvSpPr>
          <p:spPr bwMode="auto">
            <a:xfrm>
              <a:off x="1359" y="127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89" name="Rectangle 81"/>
            <p:cNvSpPr>
              <a:spLocks noChangeArrowheads="1"/>
            </p:cNvSpPr>
            <p:nvPr/>
          </p:nvSpPr>
          <p:spPr bwMode="auto">
            <a:xfrm>
              <a:off x="1403" y="127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0" name="Rectangle 82"/>
            <p:cNvSpPr>
              <a:spLocks noChangeArrowheads="1"/>
            </p:cNvSpPr>
            <p:nvPr/>
          </p:nvSpPr>
          <p:spPr bwMode="auto">
            <a:xfrm>
              <a:off x="1455" y="1278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1" name="Group 83"/>
          <p:cNvGrpSpPr>
            <a:grpSpLocks/>
          </p:cNvGrpSpPr>
          <p:nvPr/>
        </p:nvGrpSpPr>
        <p:grpSpPr bwMode="auto">
          <a:xfrm>
            <a:off x="5799138" y="947738"/>
            <a:ext cx="1350962" cy="341312"/>
            <a:chOff x="3653" y="777"/>
            <a:chExt cx="851" cy="215"/>
          </a:xfrm>
        </p:grpSpPr>
        <p:sp>
          <p:nvSpPr>
            <p:cNvPr id="1297492" name="Rectangle 84"/>
            <p:cNvSpPr>
              <a:spLocks noChangeArrowheads="1"/>
            </p:cNvSpPr>
            <p:nvPr/>
          </p:nvSpPr>
          <p:spPr bwMode="auto">
            <a:xfrm>
              <a:off x="3661" y="785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P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3" name="Rectangle 85"/>
            <p:cNvSpPr>
              <a:spLocks noChangeArrowheads="1"/>
            </p:cNvSpPr>
            <p:nvPr/>
          </p:nvSpPr>
          <p:spPr bwMode="auto">
            <a:xfrm>
              <a:off x="3790" y="78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4" name="Rectangle 86"/>
            <p:cNvSpPr>
              <a:spLocks noChangeArrowheads="1"/>
            </p:cNvSpPr>
            <p:nvPr/>
          </p:nvSpPr>
          <p:spPr bwMode="auto">
            <a:xfrm>
              <a:off x="3897" y="785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5" name="Rectangle 87"/>
            <p:cNvSpPr>
              <a:spLocks noChangeArrowheads="1"/>
            </p:cNvSpPr>
            <p:nvPr/>
          </p:nvSpPr>
          <p:spPr bwMode="auto">
            <a:xfrm>
              <a:off x="3960" y="78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6" name="Rectangle 88"/>
            <p:cNvSpPr>
              <a:spLocks noChangeArrowheads="1"/>
            </p:cNvSpPr>
            <p:nvPr/>
          </p:nvSpPr>
          <p:spPr bwMode="auto">
            <a:xfrm>
              <a:off x="4014" y="78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7" name="Rectangle 89"/>
            <p:cNvSpPr>
              <a:spLocks noChangeArrowheads="1"/>
            </p:cNvSpPr>
            <p:nvPr/>
          </p:nvSpPr>
          <p:spPr bwMode="auto">
            <a:xfrm>
              <a:off x="4120" y="78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8" name="Rectangle 90"/>
            <p:cNvSpPr>
              <a:spLocks noChangeArrowheads="1"/>
            </p:cNvSpPr>
            <p:nvPr/>
          </p:nvSpPr>
          <p:spPr bwMode="auto">
            <a:xfrm>
              <a:off x="4226" y="78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499" name="Rectangle 91"/>
            <p:cNvSpPr>
              <a:spLocks noChangeArrowheads="1"/>
            </p:cNvSpPr>
            <p:nvPr/>
          </p:nvSpPr>
          <p:spPr bwMode="auto">
            <a:xfrm>
              <a:off x="4269" y="78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0" name="Rectangle 92"/>
            <p:cNvSpPr>
              <a:spLocks noChangeArrowheads="1"/>
            </p:cNvSpPr>
            <p:nvPr/>
          </p:nvSpPr>
          <p:spPr bwMode="auto">
            <a:xfrm>
              <a:off x="4313" y="785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1" name="Rectangle 93"/>
            <p:cNvSpPr>
              <a:spLocks noChangeArrowheads="1"/>
            </p:cNvSpPr>
            <p:nvPr/>
          </p:nvSpPr>
          <p:spPr bwMode="auto">
            <a:xfrm>
              <a:off x="4356" y="78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2" name="Rectangle 94"/>
            <p:cNvSpPr>
              <a:spLocks noChangeArrowheads="1"/>
            </p:cNvSpPr>
            <p:nvPr/>
          </p:nvSpPr>
          <p:spPr bwMode="auto">
            <a:xfrm>
              <a:off x="4408" y="78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3" name="Rectangle 95"/>
            <p:cNvSpPr>
              <a:spLocks noChangeArrowheads="1"/>
            </p:cNvSpPr>
            <p:nvPr/>
          </p:nvSpPr>
          <p:spPr bwMode="auto">
            <a:xfrm>
              <a:off x="3653" y="777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P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4" name="Rectangle 96"/>
            <p:cNvSpPr>
              <a:spLocks noChangeArrowheads="1"/>
            </p:cNvSpPr>
            <p:nvPr/>
          </p:nvSpPr>
          <p:spPr bwMode="auto">
            <a:xfrm>
              <a:off x="3782" y="77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5" name="Rectangle 97"/>
            <p:cNvSpPr>
              <a:spLocks noChangeArrowheads="1"/>
            </p:cNvSpPr>
            <p:nvPr/>
          </p:nvSpPr>
          <p:spPr bwMode="auto">
            <a:xfrm>
              <a:off x="3889" y="777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6" name="Rectangle 98"/>
            <p:cNvSpPr>
              <a:spLocks noChangeArrowheads="1"/>
            </p:cNvSpPr>
            <p:nvPr/>
          </p:nvSpPr>
          <p:spPr bwMode="auto">
            <a:xfrm>
              <a:off x="3952" y="77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7" name="Rectangle 99"/>
            <p:cNvSpPr>
              <a:spLocks noChangeArrowheads="1"/>
            </p:cNvSpPr>
            <p:nvPr/>
          </p:nvSpPr>
          <p:spPr bwMode="auto">
            <a:xfrm>
              <a:off x="4006" y="77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8" name="Rectangle 100"/>
            <p:cNvSpPr>
              <a:spLocks noChangeArrowheads="1"/>
            </p:cNvSpPr>
            <p:nvPr/>
          </p:nvSpPr>
          <p:spPr bwMode="auto">
            <a:xfrm>
              <a:off x="4112" y="77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09" name="Rectangle 101"/>
            <p:cNvSpPr>
              <a:spLocks noChangeArrowheads="1"/>
            </p:cNvSpPr>
            <p:nvPr/>
          </p:nvSpPr>
          <p:spPr bwMode="auto">
            <a:xfrm>
              <a:off x="4218" y="77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0" name="Rectangle 102"/>
            <p:cNvSpPr>
              <a:spLocks noChangeArrowheads="1"/>
            </p:cNvSpPr>
            <p:nvPr/>
          </p:nvSpPr>
          <p:spPr bwMode="auto">
            <a:xfrm>
              <a:off x="4261" y="77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1" name="Rectangle 103"/>
            <p:cNvSpPr>
              <a:spLocks noChangeArrowheads="1"/>
            </p:cNvSpPr>
            <p:nvPr/>
          </p:nvSpPr>
          <p:spPr bwMode="auto">
            <a:xfrm>
              <a:off x="4305" y="77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2" name="Rectangle 104"/>
            <p:cNvSpPr>
              <a:spLocks noChangeArrowheads="1"/>
            </p:cNvSpPr>
            <p:nvPr/>
          </p:nvSpPr>
          <p:spPr bwMode="auto">
            <a:xfrm>
              <a:off x="4348" y="77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3" name="Rectangle 105"/>
            <p:cNvSpPr>
              <a:spLocks noChangeArrowheads="1"/>
            </p:cNvSpPr>
            <p:nvPr/>
          </p:nvSpPr>
          <p:spPr bwMode="auto">
            <a:xfrm>
              <a:off x="4400" y="77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2" name="Group 106"/>
          <p:cNvGrpSpPr>
            <a:grpSpLocks/>
          </p:cNvGrpSpPr>
          <p:nvPr/>
        </p:nvGrpSpPr>
        <p:grpSpPr bwMode="auto">
          <a:xfrm>
            <a:off x="5799138" y="1401763"/>
            <a:ext cx="1497012" cy="341312"/>
            <a:chOff x="3653" y="1063"/>
            <a:chExt cx="943" cy="215"/>
          </a:xfrm>
        </p:grpSpPr>
        <p:sp>
          <p:nvSpPr>
            <p:cNvPr id="1297515" name="Rectangle 107"/>
            <p:cNvSpPr>
              <a:spLocks noChangeArrowheads="1"/>
            </p:cNvSpPr>
            <p:nvPr/>
          </p:nvSpPr>
          <p:spPr bwMode="auto">
            <a:xfrm>
              <a:off x="3661" y="1071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6" name="Rectangle 108"/>
            <p:cNvSpPr>
              <a:spLocks noChangeArrowheads="1"/>
            </p:cNvSpPr>
            <p:nvPr/>
          </p:nvSpPr>
          <p:spPr bwMode="auto">
            <a:xfrm>
              <a:off x="3798" y="107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7" name="Rectangle 109"/>
            <p:cNvSpPr>
              <a:spLocks noChangeArrowheads="1"/>
            </p:cNvSpPr>
            <p:nvPr/>
          </p:nvSpPr>
          <p:spPr bwMode="auto">
            <a:xfrm>
              <a:off x="3904" y="107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u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8" name="Rectangle 110"/>
            <p:cNvSpPr>
              <a:spLocks noChangeArrowheads="1"/>
            </p:cNvSpPr>
            <p:nvPr/>
          </p:nvSpPr>
          <p:spPr bwMode="auto">
            <a:xfrm>
              <a:off x="4012" y="1071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19" name="Rectangle 111"/>
            <p:cNvSpPr>
              <a:spLocks noChangeArrowheads="1"/>
            </p:cNvSpPr>
            <p:nvPr/>
          </p:nvSpPr>
          <p:spPr bwMode="auto">
            <a:xfrm>
              <a:off x="4106" y="107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0" name="Rectangle 112"/>
            <p:cNvSpPr>
              <a:spLocks noChangeArrowheads="1"/>
            </p:cNvSpPr>
            <p:nvPr/>
          </p:nvSpPr>
          <p:spPr bwMode="auto">
            <a:xfrm>
              <a:off x="4212" y="107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1" name="Rectangle 113"/>
            <p:cNvSpPr>
              <a:spLocks noChangeArrowheads="1"/>
            </p:cNvSpPr>
            <p:nvPr/>
          </p:nvSpPr>
          <p:spPr bwMode="auto">
            <a:xfrm>
              <a:off x="4317" y="107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2" name="Rectangle 114"/>
            <p:cNvSpPr>
              <a:spLocks noChangeArrowheads="1"/>
            </p:cNvSpPr>
            <p:nvPr/>
          </p:nvSpPr>
          <p:spPr bwMode="auto">
            <a:xfrm>
              <a:off x="4361" y="107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3" name="Rectangle 115"/>
            <p:cNvSpPr>
              <a:spLocks noChangeArrowheads="1"/>
            </p:cNvSpPr>
            <p:nvPr/>
          </p:nvSpPr>
          <p:spPr bwMode="auto">
            <a:xfrm>
              <a:off x="4405" y="107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4" name="Rectangle 116"/>
            <p:cNvSpPr>
              <a:spLocks noChangeArrowheads="1"/>
            </p:cNvSpPr>
            <p:nvPr/>
          </p:nvSpPr>
          <p:spPr bwMode="auto">
            <a:xfrm>
              <a:off x="4448" y="1071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5" name="Rectangle 117"/>
            <p:cNvSpPr>
              <a:spLocks noChangeArrowheads="1"/>
            </p:cNvSpPr>
            <p:nvPr/>
          </p:nvSpPr>
          <p:spPr bwMode="auto">
            <a:xfrm>
              <a:off x="4500" y="1071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6" name="Rectangle 118"/>
            <p:cNvSpPr>
              <a:spLocks noChangeArrowheads="1"/>
            </p:cNvSpPr>
            <p:nvPr/>
          </p:nvSpPr>
          <p:spPr bwMode="auto">
            <a:xfrm>
              <a:off x="3653" y="1063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7" name="Rectangle 119"/>
            <p:cNvSpPr>
              <a:spLocks noChangeArrowheads="1"/>
            </p:cNvSpPr>
            <p:nvPr/>
          </p:nvSpPr>
          <p:spPr bwMode="auto">
            <a:xfrm>
              <a:off x="3790" y="106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8" name="Rectangle 120"/>
            <p:cNvSpPr>
              <a:spLocks noChangeArrowheads="1"/>
            </p:cNvSpPr>
            <p:nvPr/>
          </p:nvSpPr>
          <p:spPr bwMode="auto">
            <a:xfrm>
              <a:off x="3896" y="106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u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29" name="Rectangle 121"/>
            <p:cNvSpPr>
              <a:spLocks noChangeArrowheads="1"/>
            </p:cNvSpPr>
            <p:nvPr/>
          </p:nvSpPr>
          <p:spPr bwMode="auto">
            <a:xfrm>
              <a:off x="4004" y="106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0" name="Rectangle 122"/>
            <p:cNvSpPr>
              <a:spLocks noChangeArrowheads="1"/>
            </p:cNvSpPr>
            <p:nvPr/>
          </p:nvSpPr>
          <p:spPr bwMode="auto">
            <a:xfrm>
              <a:off x="4098" y="106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1" name="Rectangle 123"/>
            <p:cNvSpPr>
              <a:spLocks noChangeArrowheads="1"/>
            </p:cNvSpPr>
            <p:nvPr/>
          </p:nvSpPr>
          <p:spPr bwMode="auto">
            <a:xfrm>
              <a:off x="4204" y="106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2" name="Rectangle 124"/>
            <p:cNvSpPr>
              <a:spLocks noChangeArrowheads="1"/>
            </p:cNvSpPr>
            <p:nvPr/>
          </p:nvSpPr>
          <p:spPr bwMode="auto">
            <a:xfrm>
              <a:off x="4309" y="106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3" name="Rectangle 125"/>
            <p:cNvSpPr>
              <a:spLocks noChangeArrowheads="1"/>
            </p:cNvSpPr>
            <p:nvPr/>
          </p:nvSpPr>
          <p:spPr bwMode="auto">
            <a:xfrm>
              <a:off x="4353" y="106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4" name="Rectangle 126"/>
            <p:cNvSpPr>
              <a:spLocks noChangeArrowheads="1"/>
            </p:cNvSpPr>
            <p:nvPr/>
          </p:nvSpPr>
          <p:spPr bwMode="auto">
            <a:xfrm>
              <a:off x="4397" y="1063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5" name="Rectangle 127"/>
            <p:cNvSpPr>
              <a:spLocks noChangeArrowheads="1"/>
            </p:cNvSpPr>
            <p:nvPr/>
          </p:nvSpPr>
          <p:spPr bwMode="auto">
            <a:xfrm>
              <a:off x="4440" y="1063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6" name="Rectangle 128"/>
            <p:cNvSpPr>
              <a:spLocks noChangeArrowheads="1"/>
            </p:cNvSpPr>
            <p:nvPr/>
          </p:nvSpPr>
          <p:spPr bwMode="auto">
            <a:xfrm>
              <a:off x="4492" y="106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3" name="Group 129"/>
          <p:cNvGrpSpPr>
            <a:grpSpLocks/>
          </p:cNvGrpSpPr>
          <p:nvPr/>
        </p:nvGrpSpPr>
        <p:grpSpPr bwMode="auto">
          <a:xfrm>
            <a:off x="5799138" y="1857375"/>
            <a:ext cx="2017712" cy="341313"/>
            <a:chOff x="3653" y="1350"/>
            <a:chExt cx="1271" cy="215"/>
          </a:xfrm>
        </p:grpSpPr>
        <p:sp>
          <p:nvSpPr>
            <p:cNvPr id="1297538" name="Rectangle 130"/>
            <p:cNvSpPr>
              <a:spLocks noChangeArrowheads="1"/>
            </p:cNvSpPr>
            <p:nvPr/>
          </p:nvSpPr>
          <p:spPr bwMode="auto">
            <a:xfrm>
              <a:off x="3661" y="135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39" name="Rectangle 131"/>
            <p:cNvSpPr>
              <a:spLocks noChangeArrowheads="1"/>
            </p:cNvSpPr>
            <p:nvPr/>
          </p:nvSpPr>
          <p:spPr bwMode="auto">
            <a:xfrm>
              <a:off x="3715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0" name="Rectangle 132"/>
            <p:cNvSpPr>
              <a:spLocks noChangeArrowheads="1"/>
            </p:cNvSpPr>
            <p:nvPr/>
          </p:nvSpPr>
          <p:spPr bwMode="auto">
            <a:xfrm>
              <a:off x="3823" y="135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1" name="Rectangle 133"/>
            <p:cNvSpPr>
              <a:spLocks noChangeArrowheads="1"/>
            </p:cNvSpPr>
            <p:nvPr/>
          </p:nvSpPr>
          <p:spPr bwMode="auto">
            <a:xfrm>
              <a:off x="3876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2" name="Rectangle 134"/>
            <p:cNvSpPr>
              <a:spLocks noChangeArrowheads="1"/>
            </p:cNvSpPr>
            <p:nvPr/>
          </p:nvSpPr>
          <p:spPr bwMode="auto">
            <a:xfrm>
              <a:off x="3983" y="1358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3" name="Rectangle 135"/>
            <p:cNvSpPr>
              <a:spLocks noChangeArrowheads="1"/>
            </p:cNvSpPr>
            <p:nvPr/>
          </p:nvSpPr>
          <p:spPr bwMode="auto">
            <a:xfrm>
              <a:off x="4046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4" name="Rectangle 136"/>
            <p:cNvSpPr>
              <a:spLocks noChangeArrowheads="1"/>
            </p:cNvSpPr>
            <p:nvPr/>
          </p:nvSpPr>
          <p:spPr bwMode="auto">
            <a:xfrm>
              <a:off x="4152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p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5" name="Rectangle 137"/>
            <p:cNvSpPr>
              <a:spLocks noChangeArrowheads="1"/>
            </p:cNvSpPr>
            <p:nvPr/>
          </p:nvSpPr>
          <p:spPr bwMode="auto">
            <a:xfrm>
              <a:off x="4258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6" name="Rectangle 138"/>
            <p:cNvSpPr>
              <a:spLocks noChangeArrowheads="1"/>
            </p:cNvSpPr>
            <p:nvPr/>
          </p:nvSpPr>
          <p:spPr bwMode="auto">
            <a:xfrm>
              <a:off x="4364" y="1358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7" name="Rectangle 139"/>
            <p:cNvSpPr>
              <a:spLocks noChangeArrowheads="1"/>
            </p:cNvSpPr>
            <p:nvPr/>
          </p:nvSpPr>
          <p:spPr bwMode="auto">
            <a:xfrm>
              <a:off x="4427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8" name="Rectangle 140"/>
            <p:cNvSpPr>
              <a:spLocks noChangeArrowheads="1"/>
            </p:cNvSpPr>
            <p:nvPr/>
          </p:nvSpPr>
          <p:spPr bwMode="auto">
            <a:xfrm>
              <a:off x="4534" y="135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49" name="Rectangle 141"/>
            <p:cNvSpPr>
              <a:spLocks noChangeArrowheads="1"/>
            </p:cNvSpPr>
            <p:nvPr/>
          </p:nvSpPr>
          <p:spPr bwMode="auto">
            <a:xfrm>
              <a:off x="4642" y="135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0" name="Rectangle 142"/>
            <p:cNvSpPr>
              <a:spLocks noChangeArrowheads="1"/>
            </p:cNvSpPr>
            <p:nvPr/>
          </p:nvSpPr>
          <p:spPr bwMode="auto">
            <a:xfrm>
              <a:off x="4686" y="135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1" name="Rectangle 143"/>
            <p:cNvSpPr>
              <a:spLocks noChangeArrowheads="1"/>
            </p:cNvSpPr>
            <p:nvPr/>
          </p:nvSpPr>
          <p:spPr bwMode="auto">
            <a:xfrm>
              <a:off x="4730" y="135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2" name="Rectangle 144"/>
            <p:cNvSpPr>
              <a:spLocks noChangeArrowheads="1"/>
            </p:cNvSpPr>
            <p:nvPr/>
          </p:nvSpPr>
          <p:spPr bwMode="auto">
            <a:xfrm>
              <a:off x="4773" y="135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3" name="Rectangle 145"/>
            <p:cNvSpPr>
              <a:spLocks noChangeArrowheads="1"/>
            </p:cNvSpPr>
            <p:nvPr/>
          </p:nvSpPr>
          <p:spPr bwMode="auto">
            <a:xfrm>
              <a:off x="4828" y="1358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4" name="Rectangle 146"/>
            <p:cNvSpPr>
              <a:spLocks noChangeArrowheads="1"/>
            </p:cNvSpPr>
            <p:nvPr/>
          </p:nvSpPr>
          <p:spPr bwMode="auto">
            <a:xfrm>
              <a:off x="3653" y="135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5" name="Rectangle 147"/>
            <p:cNvSpPr>
              <a:spLocks noChangeArrowheads="1"/>
            </p:cNvSpPr>
            <p:nvPr/>
          </p:nvSpPr>
          <p:spPr bwMode="auto">
            <a:xfrm>
              <a:off x="3708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6" name="Rectangle 148"/>
            <p:cNvSpPr>
              <a:spLocks noChangeArrowheads="1"/>
            </p:cNvSpPr>
            <p:nvPr/>
          </p:nvSpPr>
          <p:spPr bwMode="auto">
            <a:xfrm>
              <a:off x="3815" y="135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7" name="Rectangle 149"/>
            <p:cNvSpPr>
              <a:spLocks noChangeArrowheads="1"/>
            </p:cNvSpPr>
            <p:nvPr/>
          </p:nvSpPr>
          <p:spPr bwMode="auto">
            <a:xfrm>
              <a:off x="3868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8" name="Rectangle 150"/>
            <p:cNvSpPr>
              <a:spLocks noChangeArrowheads="1"/>
            </p:cNvSpPr>
            <p:nvPr/>
          </p:nvSpPr>
          <p:spPr bwMode="auto">
            <a:xfrm>
              <a:off x="3975" y="1350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59" name="Rectangle 151"/>
            <p:cNvSpPr>
              <a:spLocks noChangeArrowheads="1"/>
            </p:cNvSpPr>
            <p:nvPr/>
          </p:nvSpPr>
          <p:spPr bwMode="auto">
            <a:xfrm>
              <a:off x="4038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0" name="Rectangle 152"/>
            <p:cNvSpPr>
              <a:spLocks noChangeArrowheads="1"/>
            </p:cNvSpPr>
            <p:nvPr/>
          </p:nvSpPr>
          <p:spPr bwMode="auto">
            <a:xfrm>
              <a:off x="4144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p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1" name="Rectangle 153"/>
            <p:cNvSpPr>
              <a:spLocks noChangeArrowheads="1"/>
            </p:cNvSpPr>
            <p:nvPr/>
          </p:nvSpPr>
          <p:spPr bwMode="auto">
            <a:xfrm>
              <a:off x="4250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2" name="Rectangle 154"/>
            <p:cNvSpPr>
              <a:spLocks noChangeArrowheads="1"/>
            </p:cNvSpPr>
            <p:nvPr/>
          </p:nvSpPr>
          <p:spPr bwMode="auto">
            <a:xfrm>
              <a:off x="4356" y="1350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3" name="Rectangle 155"/>
            <p:cNvSpPr>
              <a:spLocks noChangeArrowheads="1"/>
            </p:cNvSpPr>
            <p:nvPr/>
          </p:nvSpPr>
          <p:spPr bwMode="auto">
            <a:xfrm>
              <a:off x="4419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4" name="Rectangle 156"/>
            <p:cNvSpPr>
              <a:spLocks noChangeArrowheads="1"/>
            </p:cNvSpPr>
            <p:nvPr/>
          </p:nvSpPr>
          <p:spPr bwMode="auto">
            <a:xfrm>
              <a:off x="4526" y="1350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5" name="Rectangle 157"/>
            <p:cNvSpPr>
              <a:spLocks noChangeArrowheads="1"/>
            </p:cNvSpPr>
            <p:nvPr/>
          </p:nvSpPr>
          <p:spPr bwMode="auto">
            <a:xfrm>
              <a:off x="4634" y="1350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6" name="Rectangle 158"/>
            <p:cNvSpPr>
              <a:spLocks noChangeArrowheads="1"/>
            </p:cNvSpPr>
            <p:nvPr/>
          </p:nvSpPr>
          <p:spPr bwMode="auto">
            <a:xfrm>
              <a:off x="4678" y="1350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7" name="Rectangle 159"/>
            <p:cNvSpPr>
              <a:spLocks noChangeArrowheads="1"/>
            </p:cNvSpPr>
            <p:nvPr/>
          </p:nvSpPr>
          <p:spPr bwMode="auto">
            <a:xfrm>
              <a:off x="4722" y="1350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8" name="Rectangle 160"/>
            <p:cNvSpPr>
              <a:spLocks noChangeArrowheads="1"/>
            </p:cNvSpPr>
            <p:nvPr/>
          </p:nvSpPr>
          <p:spPr bwMode="auto">
            <a:xfrm>
              <a:off x="4765" y="135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69" name="Rectangle 161"/>
            <p:cNvSpPr>
              <a:spLocks noChangeArrowheads="1"/>
            </p:cNvSpPr>
            <p:nvPr/>
          </p:nvSpPr>
          <p:spPr bwMode="auto">
            <a:xfrm>
              <a:off x="4820" y="1350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4" name="Group 162"/>
          <p:cNvGrpSpPr>
            <a:grpSpLocks/>
          </p:cNvGrpSpPr>
          <p:nvPr/>
        </p:nvGrpSpPr>
        <p:grpSpPr bwMode="auto">
          <a:xfrm>
            <a:off x="1641475" y="3746500"/>
            <a:ext cx="1655763" cy="341313"/>
            <a:chOff x="1034" y="2615"/>
            <a:chExt cx="1043" cy="215"/>
          </a:xfrm>
        </p:grpSpPr>
        <p:sp>
          <p:nvSpPr>
            <p:cNvPr id="1297571" name="Rectangle 163"/>
            <p:cNvSpPr>
              <a:spLocks noChangeArrowheads="1"/>
            </p:cNvSpPr>
            <p:nvPr/>
          </p:nvSpPr>
          <p:spPr bwMode="auto">
            <a:xfrm>
              <a:off x="1042" y="2623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2" name="Rectangle 164"/>
            <p:cNvSpPr>
              <a:spLocks noChangeArrowheads="1"/>
            </p:cNvSpPr>
            <p:nvPr/>
          </p:nvSpPr>
          <p:spPr bwMode="auto">
            <a:xfrm>
              <a:off x="1180" y="262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3" name="Rectangle 165"/>
            <p:cNvSpPr>
              <a:spLocks noChangeArrowheads="1"/>
            </p:cNvSpPr>
            <p:nvPr/>
          </p:nvSpPr>
          <p:spPr bwMode="auto">
            <a:xfrm>
              <a:off x="1286" y="2623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4" name="Rectangle 166"/>
            <p:cNvSpPr>
              <a:spLocks noChangeArrowheads="1"/>
            </p:cNvSpPr>
            <p:nvPr/>
          </p:nvSpPr>
          <p:spPr bwMode="auto">
            <a:xfrm>
              <a:off x="1349" y="2623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5" name="Rectangle 167"/>
            <p:cNvSpPr>
              <a:spLocks noChangeArrowheads="1"/>
            </p:cNvSpPr>
            <p:nvPr/>
          </p:nvSpPr>
          <p:spPr bwMode="auto">
            <a:xfrm>
              <a:off x="1412" y="262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6" name="Rectangle 168"/>
            <p:cNvSpPr>
              <a:spLocks noChangeArrowheads="1"/>
            </p:cNvSpPr>
            <p:nvPr/>
          </p:nvSpPr>
          <p:spPr bwMode="auto">
            <a:xfrm>
              <a:off x="1520" y="262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7" name="Rectangle 169"/>
            <p:cNvSpPr>
              <a:spLocks noChangeArrowheads="1"/>
            </p:cNvSpPr>
            <p:nvPr/>
          </p:nvSpPr>
          <p:spPr bwMode="auto">
            <a:xfrm>
              <a:off x="1615" y="2623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8" name="Rectangle 170"/>
            <p:cNvSpPr>
              <a:spLocks noChangeArrowheads="1"/>
            </p:cNvSpPr>
            <p:nvPr/>
          </p:nvSpPr>
          <p:spPr bwMode="auto">
            <a:xfrm>
              <a:off x="1670" y="262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79" name="Rectangle 171"/>
            <p:cNvSpPr>
              <a:spLocks noChangeArrowheads="1"/>
            </p:cNvSpPr>
            <p:nvPr/>
          </p:nvSpPr>
          <p:spPr bwMode="auto">
            <a:xfrm>
              <a:off x="1778" y="2623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0" name="Rectangle 172"/>
            <p:cNvSpPr>
              <a:spLocks noChangeArrowheads="1"/>
            </p:cNvSpPr>
            <p:nvPr/>
          </p:nvSpPr>
          <p:spPr bwMode="auto">
            <a:xfrm>
              <a:off x="1886" y="262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1" name="Rectangle 173"/>
            <p:cNvSpPr>
              <a:spLocks noChangeArrowheads="1"/>
            </p:cNvSpPr>
            <p:nvPr/>
          </p:nvSpPr>
          <p:spPr bwMode="auto">
            <a:xfrm>
              <a:off x="1981" y="2623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2" name="Rectangle 174"/>
            <p:cNvSpPr>
              <a:spLocks noChangeArrowheads="1"/>
            </p:cNvSpPr>
            <p:nvPr/>
          </p:nvSpPr>
          <p:spPr bwMode="auto">
            <a:xfrm>
              <a:off x="1034" y="261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3" name="Rectangle 175"/>
            <p:cNvSpPr>
              <a:spLocks noChangeArrowheads="1"/>
            </p:cNvSpPr>
            <p:nvPr/>
          </p:nvSpPr>
          <p:spPr bwMode="auto">
            <a:xfrm>
              <a:off x="1172" y="26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o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4" name="Rectangle 176"/>
            <p:cNvSpPr>
              <a:spLocks noChangeArrowheads="1"/>
            </p:cNvSpPr>
            <p:nvPr/>
          </p:nvSpPr>
          <p:spPr bwMode="auto">
            <a:xfrm>
              <a:off x="1278" y="2615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5" name="Rectangle 177"/>
            <p:cNvSpPr>
              <a:spLocks noChangeArrowheads="1"/>
            </p:cNvSpPr>
            <p:nvPr/>
          </p:nvSpPr>
          <p:spPr bwMode="auto">
            <a:xfrm>
              <a:off x="1341" y="2615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6" name="Rectangle 178"/>
            <p:cNvSpPr>
              <a:spLocks noChangeArrowheads="1"/>
            </p:cNvSpPr>
            <p:nvPr/>
          </p:nvSpPr>
          <p:spPr bwMode="auto">
            <a:xfrm>
              <a:off x="1404" y="26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7" name="Rectangle 179"/>
            <p:cNvSpPr>
              <a:spLocks noChangeArrowheads="1"/>
            </p:cNvSpPr>
            <p:nvPr/>
          </p:nvSpPr>
          <p:spPr bwMode="auto">
            <a:xfrm>
              <a:off x="1512" y="261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8" name="Rectangle 180"/>
            <p:cNvSpPr>
              <a:spLocks noChangeArrowheads="1"/>
            </p:cNvSpPr>
            <p:nvPr/>
          </p:nvSpPr>
          <p:spPr bwMode="auto">
            <a:xfrm>
              <a:off x="1607" y="261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89" name="Rectangle 181"/>
            <p:cNvSpPr>
              <a:spLocks noChangeArrowheads="1"/>
            </p:cNvSpPr>
            <p:nvPr/>
          </p:nvSpPr>
          <p:spPr bwMode="auto">
            <a:xfrm>
              <a:off x="1662" y="26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0" name="Rectangle 182"/>
            <p:cNvSpPr>
              <a:spLocks noChangeArrowheads="1"/>
            </p:cNvSpPr>
            <p:nvPr/>
          </p:nvSpPr>
          <p:spPr bwMode="auto">
            <a:xfrm>
              <a:off x="1770" y="2615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1" name="Rectangle 183"/>
            <p:cNvSpPr>
              <a:spLocks noChangeArrowheads="1"/>
            </p:cNvSpPr>
            <p:nvPr/>
          </p:nvSpPr>
          <p:spPr bwMode="auto">
            <a:xfrm>
              <a:off x="1878" y="261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2" name="Rectangle 184"/>
            <p:cNvSpPr>
              <a:spLocks noChangeArrowheads="1"/>
            </p:cNvSpPr>
            <p:nvPr/>
          </p:nvSpPr>
          <p:spPr bwMode="auto">
            <a:xfrm>
              <a:off x="1973" y="2615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5" name="Group 185"/>
          <p:cNvGrpSpPr>
            <a:grpSpLocks/>
          </p:cNvGrpSpPr>
          <p:nvPr/>
        </p:nvGrpSpPr>
        <p:grpSpPr bwMode="auto">
          <a:xfrm>
            <a:off x="3149600" y="4176713"/>
            <a:ext cx="1317625" cy="341312"/>
            <a:chOff x="1984" y="2886"/>
            <a:chExt cx="830" cy="215"/>
          </a:xfrm>
        </p:grpSpPr>
        <p:sp>
          <p:nvSpPr>
            <p:cNvPr id="1297594" name="Rectangle 186"/>
            <p:cNvSpPr>
              <a:spLocks noChangeArrowheads="1"/>
            </p:cNvSpPr>
            <p:nvPr/>
          </p:nvSpPr>
          <p:spPr bwMode="auto">
            <a:xfrm>
              <a:off x="1992" y="2894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5" name="Rectangle 187"/>
            <p:cNvSpPr>
              <a:spLocks noChangeArrowheads="1"/>
            </p:cNvSpPr>
            <p:nvPr/>
          </p:nvSpPr>
          <p:spPr bwMode="auto">
            <a:xfrm>
              <a:off x="2129" y="2894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6" name="Rectangle 188"/>
            <p:cNvSpPr>
              <a:spLocks noChangeArrowheads="1"/>
            </p:cNvSpPr>
            <p:nvPr/>
          </p:nvSpPr>
          <p:spPr bwMode="auto">
            <a:xfrm>
              <a:off x="2235" y="2894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7" name="Rectangle 189"/>
            <p:cNvSpPr>
              <a:spLocks noChangeArrowheads="1"/>
            </p:cNvSpPr>
            <p:nvPr/>
          </p:nvSpPr>
          <p:spPr bwMode="auto">
            <a:xfrm>
              <a:off x="2279" y="2894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8" name="Rectangle 190"/>
            <p:cNvSpPr>
              <a:spLocks noChangeArrowheads="1"/>
            </p:cNvSpPr>
            <p:nvPr/>
          </p:nvSpPr>
          <p:spPr bwMode="auto">
            <a:xfrm>
              <a:off x="2322" y="2894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599" name="Rectangle 191"/>
            <p:cNvSpPr>
              <a:spLocks noChangeArrowheads="1"/>
            </p:cNvSpPr>
            <p:nvPr/>
          </p:nvSpPr>
          <p:spPr bwMode="auto">
            <a:xfrm>
              <a:off x="2430" y="2894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0" name="Rectangle 192"/>
            <p:cNvSpPr>
              <a:spLocks noChangeArrowheads="1"/>
            </p:cNvSpPr>
            <p:nvPr/>
          </p:nvSpPr>
          <p:spPr bwMode="auto">
            <a:xfrm>
              <a:off x="2537" y="2894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1" name="Rectangle 193"/>
            <p:cNvSpPr>
              <a:spLocks noChangeArrowheads="1"/>
            </p:cNvSpPr>
            <p:nvPr/>
          </p:nvSpPr>
          <p:spPr bwMode="auto">
            <a:xfrm>
              <a:off x="2579" y="2894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2" name="Rectangle 194"/>
            <p:cNvSpPr>
              <a:spLocks noChangeArrowheads="1"/>
            </p:cNvSpPr>
            <p:nvPr/>
          </p:nvSpPr>
          <p:spPr bwMode="auto">
            <a:xfrm>
              <a:off x="2622" y="2894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3" name="Rectangle 195"/>
            <p:cNvSpPr>
              <a:spLocks noChangeArrowheads="1"/>
            </p:cNvSpPr>
            <p:nvPr/>
          </p:nvSpPr>
          <p:spPr bwMode="auto">
            <a:xfrm>
              <a:off x="2666" y="2894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4" name="Rectangle 196"/>
            <p:cNvSpPr>
              <a:spLocks noChangeArrowheads="1"/>
            </p:cNvSpPr>
            <p:nvPr/>
          </p:nvSpPr>
          <p:spPr bwMode="auto">
            <a:xfrm>
              <a:off x="2718" y="2894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5" name="Rectangle 197"/>
            <p:cNvSpPr>
              <a:spLocks noChangeArrowheads="1"/>
            </p:cNvSpPr>
            <p:nvPr/>
          </p:nvSpPr>
          <p:spPr bwMode="auto">
            <a:xfrm>
              <a:off x="1984" y="2886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6" name="Rectangle 198"/>
            <p:cNvSpPr>
              <a:spLocks noChangeArrowheads="1"/>
            </p:cNvSpPr>
            <p:nvPr/>
          </p:nvSpPr>
          <p:spPr bwMode="auto">
            <a:xfrm>
              <a:off x="2121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7" name="Rectangle 199"/>
            <p:cNvSpPr>
              <a:spLocks noChangeArrowheads="1"/>
            </p:cNvSpPr>
            <p:nvPr/>
          </p:nvSpPr>
          <p:spPr bwMode="auto">
            <a:xfrm>
              <a:off x="2227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8" name="Rectangle 200"/>
            <p:cNvSpPr>
              <a:spLocks noChangeArrowheads="1"/>
            </p:cNvSpPr>
            <p:nvPr/>
          </p:nvSpPr>
          <p:spPr bwMode="auto">
            <a:xfrm>
              <a:off x="2271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09" name="Rectangle 201"/>
            <p:cNvSpPr>
              <a:spLocks noChangeArrowheads="1"/>
            </p:cNvSpPr>
            <p:nvPr/>
          </p:nvSpPr>
          <p:spPr bwMode="auto">
            <a:xfrm>
              <a:off x="2314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0" name="Rectangle 202"/>
            <p:cNvSpPr>
              <a:spLocks noChangeArrowheads="1"/>
            </p:cNvSpPr>
            <p:nvPr/>
          </p:nvSpPr>
          <p:spPr bwMode="auto">
            <a:xfrm>
              <a:off x="2422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1" name="Rectangle 203"/>
            <p:cNvSpPr>
              <a:spLocks noChangeArrowheads="1"/>
            </p:cNvSpPr>
            <p:nvPr/>
          </p:nvSpPr>
          <p:spPr bwMode="auto">
            <a:xfrm>
              <a:off x="2529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2" name="Rectangle 204"/>
            <p:cNvSpPr>
              <a:spLocks noChangeArrowheads="1"/>
            </p:cNvSpPr>
            <p:nvPr/>
          </p:nvSpPr>
          <p:spPr bwMode="auto">
            <a:xfrm>
              <a:off x="2571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3" name="Rectangle 205"/>
            <p:cNvSpPr>
              <a:spLocks noChangeArrowheads="1"/>
            </p:cNvSpPr>
            <p:nvPr/>
          </p:nvSpPr>
          <p:spPr bwMode="auto">
            <a:xfrm>
              <a:off x="2614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4" name="Rectangle 206"/>
            <p:cNvSpPr>
              <a:spLocks noChangeArrowheads="1"/>
            </p:cNvSpPr>
            <p:nvPr/>
          </p:nvSpPr>
          <p:spPr bwMode="auto">
            <a:xfrm>
              <a:off x="2658" y="28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5" name="Rectangle 207"/>
            <p:cNvSpPr>
              <a:spLocks noChangeArrowheads="1"/>
            </p:cNvSpPr>
            <p:nvPr/>
          </p:nvSpPr>
          <p:spPr bwMode="auto">
            <a:xfrm>
              <a:off x="2710" y="2886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6" name="Group 208"/>
          <p:cNvGrpSpPr>
            <a:grpSpLocks/>
          </p:cNvGrpSpPr>
          <p:nvPr/>
        </p:nvGrpSpPr>
        <p:grpSpPr bwMode="auto">
          <a:xfrm>
            <a:off x="6065838" y="3784600"/>
            <a:ext cx="1314450" cy="341313"/>
            <a:chOff x="3821" y="2639"/>
            <a:chExt cx="828" cy="215"/>
          </a:xfrm>
        </p:grpSpPr>
        <p:sp>
          <p:nvSpPr>
            <p:cNvPr id="1297617" name="Rectangle 209"/>
            <p:cNvSpPr>
              <a:spLocks noChangeArrowheads="1"/>
            </p:cNvSpPr>
            <p:nvPr/>
          </p:nvSpPr>
          <p:spPr bwMode="auto">
            <a:xfrm>
              <a:off x="3829" y="2647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8" name="Rectangle 210"/>
            <p:cNvSpPr>
              <a:spLocks noChangeArrowheads="1"/>
            </p:cNvSpPr>
            <p:nvPr/>
          </p:nvSpPr>
          <p:spPr bwMode="auto">
            <a:xfrm>
              <a:off x="3958" y="264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19" name="Rectangle 211"/>
            <p:cNvSpPr>
              <a:spLocks noChangeArrowheads="1"/>
            </p:cNvSpPr>
            <p:nvPr/>
          </p:nvSpPr>
          <p:spPr bwMode="auto">
            <a:xfrm>
              <a:off x="4010" y="264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0" name="Rectangle 212"/>
            <p:cNvSpPr>
              <a:spLocks noChangeArrowheads="1"/>
            </p:cNvSpPr>
            <p:nvPr/>
          </p:nvSpPr>
          <p:spPr bwMode="auto">
            <a:xfrm>
              <a:off x="4065" y="264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1" name="Rectangle 213"/>
            <p:cNvSpPr>
              <a:spLocks noChangeArrowheads="1"/>
            </p:cNvSpPr>
            <p:nvPr/>
          </p:nvSpPr>
          <p:spPr bwMode="auto">
            <a:xfrm>
              <a:off x="4109" y="264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2" name="Rectangle 214"/>
            <p:cNvSpPr>
              <a:spLocks noChangeArrowheads="1"/>
            </p:cNvSpPr>
            <p:nvPr/>
          </p:nvSpPr>
          <p:spPr bwMode="auto">
            <a:xfrm>
              <a:off x="4204" y="2647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3" name="Rectangle 215"/>
            <p:cNvSpPr>
              <a:spLocks noChangeArrowheads="1"/>
            </p:cNvSpPr>
            <p:nvPr/>
          </p:nvSpPr>
          <p:spPr bwMode="auto">
            <a:xfrm>
              <a:off x="4246" y="264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4" name="Rectangle 216"/>
            <p:cNvSpPr>
              <a:spLocks noChangeArrowheads="1"/>
            </p:cNvSpPr>
            <p:nvPr/>
          </p:nvSpPr>
          <p:spPr bwMode="auto">
            <a:xfrm>
              <a:off x="4352" y="2647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5" name="Rectangle 217"/>
            <p:cNvSpPr>
              <a:spLocks noChangeArrowheads="1"/>
            </p:cNvSpPr>
            <p:nvPr/>
          </p:nvSpPr>
          <p:spPr bwMode="auto">
            <a:xfrm>
              <a:off x="4458" y="264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6" name="Rectangle 218"/>
            <p:cNvSpPr>
              <a:spLocks noChangeArrowheads="1"/>
            </p:cNvSpPr>
            <p:nvPr/>
          </p:nvSpPr>
          <p:spPr bwMode="auto">
            <a:xfrm>
              <a:off x="4553" y="2647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7" name="Rectangle 219"/>
            <p:cNvSpPr>
              <a:spLocks noChangeArrowheads="1"/>
            </p:cNvSpPr>
            <p:nvPr/>
          </p:nvSpPr>
          <p:spPr bwMode="auto">
            <a:xfrm>
              <a:off x="3821" y="2639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8" name="Rectangle 220"/>
            <p:cNvSpPr>
              <a:spLocks noChangeArrowheads="1"/>
            </p:cNvSpPr>
            <p:nvPr/>
          </p:nvSpPr>
          <p:spPr bwMode="auto">
            <a:xfrm>
              <a:off x="3950" y="2639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29" name="Rectangle 221"/>
            <p:cNvSpPr>
              <a:spLocks noChangeArrowheads="1"/>
            </p:cNvSpPr>
            <p:nvPr/>
          </p:nvSpPr>
          <p:spPr bwMode="auto">
            <a:xfrm>
              <a:off x="4002" y="2639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f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0" name="Rectangle 222"/>
            <p:cNvSpPr>
              <a:spLocks noChangeArrowheads="1"/>
            </p:cNvSpPr>
            <p:nvPr/>
          </p:nvSpPr>
          <p:spPr bwMode="auto">
            <a:xfrm>
              <a:off x="4057" y="2639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1" name="Rectangle 223"/>
            <p:cNvSpPr>
              <a:spLocks noChangeArrowheads="1"/>
            </p:cNvSpPr>
            <p:nvPr/>
          </p:nvSpPr>
          <p:spPr bwMode="auto">
            <a:xfrm>
              <a:off x="4101" y="2639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2" name="Rectangle 224"/>
            <p:cNvSpPr>
              <a:spLocks noChangeArrowheads="1"/>
            </p:cNvSpPr>
            <p:nvPr/>
          </p:nvSpPr>
          <p:spPr bwMode="auto">
            <a:xfrm>
              <a:off x="4196" y="2639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3" name="Rectangle 225"/>
            <p:cNvSpPr>
              <a:spLocks noChangeArrowheads="1"/>
            </p:cNvSpPr>
            <p:nvPr/>
          </p:nvSpPr>
          <p:spPr bwMode="auto">
            <a:xfrm>
              <a:off x="4238" y="2639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4" name="Rectangle 226"/>
            <p:cNvSpPr>
              <a:spLocks noChangeArrowheads="1"/>
            </p:cNvSpPr>
            <p:nvPr/>
          </p:nvSpPr>
          <p:spPr bwMode="auto">
            <a:xfrm>
              <a:off x="4344" y="2639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5" name="Rectangle 227"/>
            <p:cNvSpPr>
              <a:spLocks noChangeArrowheads="1"/>
            </p:cNvSpPr>
            <p:nvPr/>
          </p:nvSpPr>
          <p:spPr bwMode="auto">
            <a:xfrm>
              <a:off x="4450" y="2639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c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6" name="Rectangle 228"/>
            <p:cNvSpPr>
              <a:spLocks noChangeArrowheads="1"/>
            </p:cNvSpPr>
            <p:nvPr/>
          </p:nvSpPr>
          <p:spPr bwMode="auto">
            <a:xfrm>
              <a:off x="4545" y="2639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7" name="Group 229"/>
          <p:cNvGrpSpPr>
            <a:grpSpLocks/>
          </p:cNvGrpSpPr>
          <p:nvPr/>
        </p:nvGrpSpPr>
        <p:grpSpPr bwMode="auto">
          <a:xfrm>
            <a:off x="5519738" y="4164013"/>
            <a:ext cx="1104900" cy="341312"/>
            <a:chOff x="3477" y="2878"/>
            <a:chExt cx="696" cy="215"/>
          </a:xfrm>
        </p:grpSpPr>
        <p:sp>
          <p:nvSpPr>
            <p:cNvPr id="1297638" name="Rectangle 230"/>
            <p:cNvSpPr>
              <a:spLocks noChangeArrowheads="1"/>
            </p:cNvSpPr>
            <p:nvPr/>
          </p:nvSpPr>
          <p:spPr bwMode="auto">
            <a:xfrm>
              <a:off x="3485" y="28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39" name="Rectangle 231"/>
            <p:cNvSpPr>
              <a:spLocks noChangeArrowheads="1"/>
            </p:cNvSpPr>
            <p:nvPr/>
          </p:nvSpPr>
          <p:spPr bwMode="auto">
            <a:xfrm>
              <a:off x="3540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0" name="Rectangle 232"/>
            <p:cNvSpPr>
              <a:spLocks noChangeArrowheads="1"/>
            </p:cNvSpPr>
            <p:nvPr/>
          </p:nvSpPr>
          <p:spPr bwMode="auto">
            <a:xfrm>
              <a:off x="3648" y="28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1" name="Rectangle 233"/>
            <p:cNvSpPr>
              <a:spLocks noChangeArrowheads="1"/>
            </p:cNvSpPr>
            <p:nvPr/>
          </p:nvSpPr>
          <p:spPr bwMode="auto">
            <a:xfrm>
              <a:off x="3700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2" name="Rectangle 234"/>
            <p:cNvSpPr>
              <a:spLocks noChangeArrowheads="1"/>
            </p:cNvSpPr>
            <p:nvPr/>
          </p:nvSpPr>
          <p:spPr bwMode="auto">
            <a:xfrm>
              <a:off x="3808" y="2886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g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3" name="Rectangle 235"/>
            <p:cNvSpPr>
              <a:spLocks noChangeArrowheads="1"/>
            </p:cNvSpPr>
            <p:nvPr/>
          </p:nvSpPr>
          <p:spPr bwMode="auto">
            <a:xfrm>
              <a:off x="3916" y="2886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4" name="Rectangle 236"/>
            <p:cNvSpPr>
              <a:spLocks noChangeArrowheads="1"/>
            </p:cNvSpPr>
            <p:nvPr/>
          </p:nvSpPr>
          <p:spPr bwMode="auto">
            <a:xfrm>
              <a:off x="3981" y="2886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5" name="Rectangle 237"/>
            <p:cNvSpPr>
              <a:spLocks noChangeArrowheads="1"/>
            </p:cNvSpPr>
            <p:nvPr/>
          </p:nvSpPr>
          <p:spPr bwMode="auto">
            <a:xfrm>
              <a:off x="4023" y="2886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6" name="Rectangle 238"/>
            <p:cNvSpPr>
              <a:spLocks noChangeArrowheads="1"/>
            </p:cNvSpPr>
            <p:nvPr/>
          </p:nvSpPr>
          <p:spPr bwMode="auto">
            <a:xfrm>
              <a:off x="4077" y="2886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7" name="Rectangle 239"/>
            <p:cNvSpPr>
              <a:spLocks noChangeArrowheads="1"/>
            </p:cNvSpPr>
            <p:nvPr/>
          </p:nvSpPr>
          <p:spPr bwMode="auto">
            <a:xfrm>
              <a:off x="3477" y="287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8" name="Rectangle 240"/>
            <p:cNvSpPr>
              <a:spLocks noChangeArrowheads="1"/>
            </p:cNvSpPr>
            <p:nvPr/>
          </p:nvSpPr>
          <p:spPr bwMode="auto">
            <a:xfrm>
              <a:off x="3532" y="28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n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49" name="Rectangle 241"/>
            <p:cNvSpPr>
              <a:spLocks noChangeArrowheads="1"/>
            </p:cNvSpPr>
            <p:nvPr/>
          </p:nvSpPr>
          <p:spPr bwMode="auto">
            <a:xfrm>
              <a:off x="3640" y="287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0" name="Rectangle 242"/>
            <p:cNvSpPr>
              <a:spLocks noChangeArrowheads="1"/>
            </p:cNvSpPr>
            <p:nvPr/>
          </p:nvSpPr>
          <p:spPr bwMode="auto">
            <a:xfrm>
              <a:off x="3692" y="28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e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1" name="Rectangle 243"/>
            <p:cNvSpPr>
              <a:spLocks noChangeArrowheads="1"/>
            </p:cNvSpPr>
            <p:nvPr/>
          </p:nvSpPr>
          <p:spPr bwMode="auto">
            <a:xfrm>
              <a:off x="3800" y="2878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g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2" name="Rectangle 244"/>
            <p:cNvSpPr>
              <a:spLocks noChangeArrowheads="1"/>
            </p:cNvSpPr>
            <p:nvPr/>
          </p:nvSpPr>
          <p:spPr bwMode="auto">
            <a:xfrm>
              <a:off x="3908" y="2878"/>
              <a:ext cx="64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r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3" name="Rectangle 245"/>
            <p:cNvSpPr>
              <a:spLocks noChangeArrowheads="1"/>
            </p:cNvSpPr>
            <p:nvPr/>
          </p:nvSpPr>
          <p:spPr bwMode="auto">
            <a:xfrm>
              <a:off x="3973" y="2878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4" name="Rectangle 246"/>
            <p:cNvSpPr>
              <a:spLocks noChangeArrowheads="1"/>
            </p:cNvSpPr>
            <p:nvPr/>
          </p:nvSpPr>
          <p:spPr bwMode="auto">
            <a:xfrm>
              <a:off x="4015" y="287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5" name="Rectangle 247"/>
            <p:cNvSpPr>
              <a:spLocks noChangeArrowheads="1"/>
            </p:cNvSpPr>
            <p:nvPr/>
          </p:nvSpPr>
          <p:spPr bwMode="auto">
            <a:xfrm>
              <a:off x="4069" y="2878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8" name="Group 248"/>
          <p:cNvGrpSpPr>
            <a:grpSpLocks/>
          </p:cNvGrpSpPr>
          <p:nvPr/>
        </p:nvGrpSpPr>
        <p:grpSpPr bwMode="auto">
          <a:xfrm>
            <a:off x="4240213" y="3771900"/>
            <a:ext cx="1168400" cy="341313"/>
            <a:chOff x="2671" y="2631"/>
            <a:chExt cx="736" cy="215"/>
          </a:xfrm>
        </p:grpSpPr>
        <p:sp>
          <p:nvSpPr>
            <p:cNvPr id="1297657" name="Rectangle 249"/>
            <p:cNvSpPr>
              <a:spLocks noChangeArrowheads="1"/>
            </p:cNvSpPr>
            <p:nvPr/>
          </p:nvSpPr>
          <p:spPr bwMode="auto">
            <a:xfrm>
              <a:off x="2679" y="2639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U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8" name="Rectangle 250"/>
            <p:cNvSpPr>
              <a:spLocks noChangeArrowheads="1"/>
            </p:cNvSpPr>
            <p:nvPr/>
          </p:nvSpPr>
          <p:spPr bwMode="auto">
            <a:xfrm>
              <a:off x="2816" y="2639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59" name="Rectangle 251"/>
            <p:cNvSpPr>
              <a:spLocks noChangeArrowheads="1"/>
            </p:cNvSpPr>
            <p:nvPr/>
          </p:nvSpPr>
          <p:spPr bwMode="auto">
            <a:xfrm>
              <a:off x="2912" y="2639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0" name="Rectangle 252"/>
            <p:cNvSpPr>
              <a:spLocks noChangeArrowheads="1"/>
            </p:cNvSpPr>
            <p:nvPr/>
          </p:nvSpPr>
          <p:spPr bwMode="auto">
            <a:xfrm>
              <a:off x="3019" y="2639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1" name="Rectangle 253"/>
            <p:cNvSpPr>
              <a:spLocks noChangeArrowheads="1"/>
            </p:cNvSpPr>
            <p:nvPr/>
          </p:nvSpPr>
          <p:spPr bwMode="auto">
            <a:xfrm>
              <a:off x="3127" y="2639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2" name="Rectangle 254"/>
            <p:cNvSpPr>
              <a:spLocks noChangeArrowheads="1"/>
            </p:cNvSpPr>
            <p:nvPr/>
          </p:nvSpPr>
          <p:spPr bwMode="auto">
            <a:xfrm>
              <a:off x="3171" y="2639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3" name="Rectangle 255"/>
            <p:cNvSpPr>
              <a:spLocks noChangeArrowheads="1"/>
            </p:cNvSpPr>
            <p:nvPr/>
          </p:nvSpPr>
          <p:spPr bwMode="auto">
            <a:xfrm>
              <a:off x="3215" y="2639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4" name="Rectangle 256"/>
            <p:cNvSpPr>
              <a:spLocks noChangeArrowheads="1"/>
            </p:cNvSpPr>
            <p:nvPr/>
          </p:nvSpPr>
          <p:spPr bwMode="auto">
            <a:xfrm>
              <a:off x="3259" y="2639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5" name="Rectangle 257"/>
            <p:cNvSpPr>
              <a:spLocks noChangeArrowheads="1"/>
            </p:cNvSpPr>
            <p:nvPr/>
          </p:nvSpPr>
          <p:spPr bwMode="auto">
            <a:xfrm>
              <a:off x="3311" y="2639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6" name="Rectangle 258"/>
            <p:cNvSpPr>
              <a:spLocks noChangeArrowheads="1"/>
            </p:cNvSpPr>
            <p:nvPr/>
          </p:nvSpPr>
          <p:spPr bwMode="auto">
            <a:xfrm>
              <a:off x="2671" y="2631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U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7" name="Rectangle 259"/>
            <p:cNvSpPr>
              <a:spLocks noChangeArrowheads="1"/>
            </p:cNvSpPr>
            <p:nvPr/>
          </p:nvSpPr>
          <p:spPr bwMode="auto">
            <a:xfrm>
              <a:off x="2808" y="2631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s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8" name="Rectangle 260"/>
            <p:cNvSpPr>
              <a:spLocks noChangeArrowheads="1"/>
            </p:cNvSpPr>
            <p:nvPr/>
          </p:nvSpPr>
          <p:spPr bwMode="auto">
            <a:xfrm>
              <a:off x="2904" y="263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a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69" name="Rectangle 261"/>
            <p:cNvSpPr>
              <a:spLocks noChangeArrowheads="1"/>
            </p:cNvSpPr>
            <p:nvPr/>
          </p:nvSpPr>
          <p:spPr bwMode="auto">
            <a:xfrm>
              <a:off x="3011" y="2631"/>
              <a:ext cx="10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 dirty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b</a:t>
              </a:r>
              <a:endParaRPr lang="en-US" altLang="ko-KR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70" name="Rectangle 262"/>
            <p:cNvSpPr>
              <a:spLocks noChangeArrowheads="1"/>
            </p:cNvSpPr>
            <p:nvPr/>
          </p:nvSpPr>
          <p:spPr bwMode="auto">
            <a:xfrm>
              <a:off x="3119" y="263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71" name="Rectangle 263"/>
            <p:cNvSpPr>
              <a:spLocks noChangeArrowheads="1"/>
            </p:cNvSpPr>
            <p:nvPr/>
          </p:nvSpPr>
          <p:spPr bwMode="auto">
            <a:xfrm>
              <a:off x="3163" y="263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l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72" name="Rectangle 264"/>
            <p:cNvSpPr>
              <a:spLocks noChangeArrowheads="1"/>
            </p:cNvSpPr>
            <p:nvPr/>
          </p:nvSpPr>
          <p:spPr bwMode="auto">
            <a:xfrm>
              <a:off x="3207" y="2631"/>
              <a:ext cx="4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i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73" name="Rectangle 265"/>
            <p:cNvSpPr>
              <a:spLocks noChangeArrowheads="1"/>
            </p:cNvSpPr>
            <p:nvPr/>
          </p:nvSpPr>
          <p:spPr bwMode="auto">
            <a:xfrm>
              <a:off x="3251" y="2631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  <p:sp>
          <p:nvSpPr>
            <p:cNvPr id="1297674" name="Rectangle 266"/>
            <p:cNvSpPr>
              <a:spLocks noChangeArrowheads="1"/>
            </p:cNvSpPr>
            <p:nvPr/>
          </p:nvSpPr>
          <p:spPr bwMode="auto">
            <a:xfrm>
              <a:off x="3303" y="2631"/>
              <a:ext cx="96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ko-KR" sz="2400" b="0">
                  <a:solidFill>
                    <a:srgbClr val="FF99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y</a:t>
              </a:r>
              <a:endParaRPr lang="en-US" altLang="ko-KR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itchFamily="50" charset="-127"/>
              </a:endParaRPr>
            </a:p>
          </p:txBody>
        </p:sp>
      </p:grpSp>
      <p:grpSp>
        <p:nvGrpSpPr>
          <p:cNvPr id="5139" name="Group 267"/>
          <p:cNvGrpSpPr>
            <a:grpSpLocks/>
          </p:cNvGrpSpPr>
          <p:nvPr/>
        </p:nvGrpSpPr>
        <p:grpSpPr bwMode="auto">
          <a:xfrm>
            <a:off x="4632325" y="2413000"/>
            <a:ext cx="3462338" cy="341313"/>
            <a:chOff x="2918" y="1700"/>
            <a:chExt cx="2181" cy="215"/>
          </a:xfrm>
        </p:grpSpPr>
        <p:sp>
          <p:nvSpPr>
            <p:cNvPr id="5209" name="Rectangle 268"/>
            <p:cNvSpPr>
              <a:spLocks noChangeArrowheads="1"/>
            </p:cNvSpPr>
            <p:nvPr/>
          </p:nvSpPr>
          <p:spPr bwMode="auto">
            <a:xfrm>
              <a:off x="2926" y="1708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0" name="Rectangle 269"/>
            <p:cNvSpPr>
              <a:spLocks noChangeArrowheads="1"/>
            </p:cNvSpPr>
            <p:nvPr/>
          </p:nvSpPr>
          <p:spPr bwMode="auto">
            <a:xfrm>
              <a:off x="3054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1" name="Rectangle 270"/>
            <p:cNvSpPr>
              <a:spLocks noChangeArrowheads="1"/>
            </p:cNvSpPr>
            <p:nvPr/>
          </p:nvSpPr>
          <p:spPr bwMode="auto">
            <a:xfrm>
              <a:off x="3191" y="1708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2" name="Rectangle 271"/>
            <p:cNvSpPr>
              <a:spLocks noChangeArrowheads="1"/>
            </p:cNvSpPr>
            <p:nvPr/>
          </p:nvSpPr>
          <p:spPr bwMode="auto">
            <a:xfrm>
              <a:off x="3338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3" name="Rectangle 272"/>
            <p:cNvSpPr>
              <a:spLocks noChangeArrowheads="1"/>
            </p:cNvSpPr>
            <p:nvPr/>
          </p:nvSpPr>
          <p:spPr bwMode="auto">
            <a:xfrm>
              <a:off x="3474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4" name="Rectangle 273"/>
            <p:cNvSpPr>
              <a:spLocks noChangeArrowheads="1"/>
            </p:cNvSpPr>
            <p:nvPr/>
          </p:nvSpPr>
          <p:spPr bwMode="auto">
            <a:xfrm>
              <a:off x="3612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5" name="Rectangle 274"/>
            <p:cNvSpPr>
              <a:spLocks noChangeArrowheads="1"/>
            </p:cNvSpPr>
            <p:nvPr/>
          </p:nvSpPr>
          <p:spPr bwMode="auto">
            <a:xfrm>
              <a:off x="3751" y="1708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6" name="Rectangle 275"/>
            <p:cNvSpPr>
              <a:spLocks noChangeArrowheads="1"/>
            </p:cNvSpPr>
            <p:nvPr/>
          </p:nvSpPr>
          <p:spPr bwMode="auto">
            <a:xfrm>
              <a:off x="3868" y="170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7" name="Rectangle 276"/>
            <p:cNvSpPr>
              <a:spLocks noChangeArrowheads="1"/>
            </p:cNvSpPr>
            <p:nvPr/>
          </p:nvSpPr>
          <p:spPr bwMode="auto">
            <a:xfrm>
              <a:off x="3935" y="1708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8" name="Rectangle 277"/>
            <p:cNvSpPr>
              <a:spLocks noChangeArrowheads="1"/>
            </p:cNvSpPr>
            <p:nvPr/>
          </p:nvSpPr>
          <p:spPr bwMode="auto">
            <a:xfrm>
              <a:off x="4050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19" name="Rectangle 278"/>
            <p:cNvSpPr>
              <a:spLocks noChangeArrowheads="1"/>
            </p:cNvSpPr>
            <p:nvPr/>
          </p:nvSpPr>
          <p:spPr bwMode="auto">
            <a:xfrm>
              <a:off x="4187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A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0" name="Rectangle 279"/>
            <p:cNvSpPr>
              <a:spLocks noChangeArrowheads="1"/>
            </p:cNvSpPr>
            <p:nvPr/>
          </p:nvSpPr>
          <p:spPr bwMode="auto">
            <a:xfrm>
              <a:off x="4325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1" name="Rectangle 280"/>
            <p:cNvSpPr>
              <a:spLocks noChangeArrowheads="1"/>
            </p:cNvSpPr>
            <p:nvPr/>
          </p:nvSpPr>
          <p:spPr bwMode="auto">
            <a:xfrm>
              <a:off x="4463" y="1708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S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2" name="Rectangle 281"/>
            <p:cNvSpPr>
              <a:spLocks noChangeArrowheads="1"/>
            </p:cNvSpPr>
            <p:nvPr/>
          </p:nvSpPr>
          <p:spPr bwMode="auto">
            <a:xfrm>
              <a:off x="4591" y="170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3" name="Rectangle 282"/>
            <p:cNvSpPr>
              <a:spLocks noChangeArrowheads="1"/>
            </p:cNvSpPr>
            <p:nvPr/>
          </p:nvSpPr>
          <p:spPr bwMode="auto">
            <a:xfrm>
              <a:off x="4644" y="1708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4" name="Rectangle 283"/>
            <p:cNvSpPr>
              <a:spLocks noChangeArrowheads="1"/>
            </p:cNvSpPr>
            <p:nvPr/>
          </p:nvSpPr>
          <p:spPr bwMode="auto">
            <a:xfrm>
              <a:off x="4759" y="1708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5" name="Rectangle 284"/>
            <p:cNvSpPr>
              <a:spLocks noChangeArrowheads="1"/>
            </p:cNvSpPr>
            <p:nvPr/>
          </p:nvSpPr>
          <p:spPr bwMode="auto">
            <a:xfrm>
              <a:off x="4813" y="1708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6" name="Rectangle 285"/>
            <p:cNvSpPr>
              <a:spLocks noChangeArrowheads="1"/>
            </p:cNvSpPr>
            <p:nvPr/>
          </p:nvSpPr>
          <p:spPr bwMode="auto">
            <a:xfrm>
              <a:off x="4960" y="1708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7" name="Rectangle 286"/>
            <p:cNvSpPr>
              <a:spLocks noChangeArrowheads="1"/>
            </p:cNvSpPr>
            <p:nvPr/>
          </p:nvSpPr>
          <p:spPr bwMode="auto">
            <a:xfrm>
              <a:off x="2918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8" name="Rectangle 287"/>
            <p:cNvSpPr>
              <a:spLocks noChangeArrowheads="1"/>
            </p:cNvSpPr>
            <p:nvPr/>
          </p:nvSpPr>
          <p:spPr bwMode="auto">
            <a:xfrm>
              <a:off x="3046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 dirty="0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29" name="Rectangle 288"/>
            <p:cNvSpPr>
              <a:spLocks noChangeArrowheads="1"/>
            </p:cNvSpPr>
            <p:nvPr/>
          </p:nvSpPr>
          <p:spPr bwMode="auto">
            <a:xfrm>
              <a:off x="3183" y="1700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0" name="Rectangle 289"/>
            <p:cNvSpPr>
              <a:spLocks noChangeArrowheads="1"/>
            </p:cNvSpPr>
            <p:nvPr/>
          </p:nvSpPr>
          <p:spPr bwMode="auto">
            <a:xfrm>
              <a:off x="3330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1" name="Rectangle 290"/>
            <p:cNvSpPr>
              <a:spLocks noChangeArrowheads="1"/>
            </p:cNvSpPr>
            <p:nvPr/>
          </p:nvSpPr>
          <p:spPr bwMode="auto">
            <a:xfrm>
              <a:off x="3466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2" name="Rectangle 291"/>
            <p:cNvSpPr>
              <a:spLocks noChangeArrowheads="1"/>
            </p:cNvSpPr>
            <p:nvPr/>
          </p:nvSpPr>
          <p:spPr bwMode="auto">
            <a:xfrm>
              <a:off x="3604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3" name="Rectangle 292"/>
            <p:cNvSpPr>
              <a:spLocks noChangeArrowheads="1"/>
            </p:cNvSpPr>
            <p:nvPr/>
          </p:nvSpPr>
          <p:spPr bwMode="auto">
            <a:xfrm>
              <a:off x="3743" y="1700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4" name="Rectangle 293"/>
            <p:cNvSpPr>
              <a:spLocks noChangeArrowheads="1"/>
            </p:cNvSpPr>
            <p:nvPr/>
          </p:nvSpPr>
          <p:spPr bwMode="auto">
            <a:xfrm>
              <a:off x="3860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5" name="Rectangle 294"/>
            <p:cNvSpPr>
              <a:spLocks noChangeArrowheads="1"/>
            </p:cNvSpPr>
            <p:nvPr/>
          </p:nvSpPr>
          <p:spPr bwMode="auto">
            <a:xfrm>
              <a:off x="3927" y="1700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6" name="Rectangle 295"/>
            <p:cNvSpPr>
              <a:spLocks noChangeArrowheads="1"/>
            </p:cNvSpPr>
            <p:nvPr/>
          </p:nvSpPr>
          <p:spPr bwMode="auto">
            <a:xfrm>
              <a:off x="4042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7" name="Rectangle 296"/>
            <p:cNvSpPr>
              <a:spLocks noChangeArrowheads="1"/>
            </p:cNvSpPr>
            <p:nvPr/>
          </p:nvSpPr>
          <p:spPr bwMode="auto">
            <a:xfrm>
              <a:off x="4179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A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8" name="Rectangle 297"/>
            <p:cNvSpPr>
              <a:spLocks noChangeArrowheads="1"/>
            </p:cNvSpPr>
            <p:nvPr/>
          </p:nvSpPr>
          <p:spPr bwMode="auto">
            <a:xfrm>
              <a:off x="4317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39" name="Rectangle 298"/>
            <p:cNvSpPr>
              <a:spLocks noChangeArrowheads="1"/>
            </p:cNvSpPr>
            <p:nvPr/>
          </p:nvSpPr>
          <p:spPr bwMode="auto">
            <a:xfrm>
              <a:off x="4455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S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40" name="Rectangle 299"/>
            <p:cNvSpPr>
              <a:spLocks noChangeArrowheads="1"/>
            </p:cNvSpPr>
            <p:nvPr/>
          </p:nvSpPr>
          <p:spPr bwMode="auto">
            <a:xfrm>
              <a:off x="4583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41" name="Rectangle 300"/>
            <p:cNvSpPr>
              <a:spLocks noChangeArrowheads="1"/>
            </p:cNvSpPr>
            <p:nvPr/>
          </p:nvSpPr>
          <p:spPr bwMode="auto">
            <a:xfrm>
              <a:off x="4636" y="1700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42" name="Rectangle 301"/>
            <p:cNvSpPr>
              <a:spLocks noChangeArrowheads="1"/>
            </p:cNvSpPr>
            <p:nvPr/>
          </p:nvSpPr>
          <p:spPr bwMode="auto">
            <a:xfrm>
              <a:off x="4751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43" name="Rectangle 302"/>
            <p:cNvSpPr>
              <a:spLocks noChangeArrowheads="1"/>
            </p:cNvSpPr>
            <p:nvPr/>
          </p:nvSpPr>
          <p:spPr bwMode="auto">
            <a:xfrm>
              <a:off x="4805" y="1700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44" name="Rectangle 303"/>
            <p:cNvSpPr>
              <a:spLocks noChangeArrowheads="1"/>
            </p:cNvSpPr>
            <p:nvPr/>
          </p:nvSpPr>
          <p:spPr bwMode="auto">
            <a:xfrm>
              <a:off x="4952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</p:grpSp>
      <p:grpSp>
        <p:nvGrpSpPr>
          <p:cNvPr id="5140" name="Group 304"/>
          <p:cNvGrpSpPr>
            <a:grpSpLocks/>
          </p:cNvGrpSpPr>
          <p:nvPr/>
        </p:nvGrpSpPr>
        <p:grpSpPr bwMode="auto">
          <a:xfrm>
            <a:off x="1044575" y="2400300"/>
            <a:ext cx="3057525" cy="341313"/>
            <a:chOff x="658" y="1692"/>
            <a:chExt cx="1926" cy="215"/>
          </a:xfrm>
        </p:grpSpPr>
        <p:sp>
          <p:nvSpPr>
            <p:cNvPr id="5177" name="Rectangle 305"/>
            <p:cNvSpPr>
              <a:spLocks noChangeArrowheads="1"/>
            </p:cNvSpPr>
            <p:nvPr/>
          </p:nvSpPr>
          <p:spPr bwMode="auto">
            <a:xfrm>
              <a:off x="666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8" name="Rectangle 306"/>
            <p:cNvSpPr>
              <a:spLocks noChangeArrowheads="1"/>
            </p:cNvSpPr>
            <p:nvPr/>
          </p:nvSpPr>
          <p:spPr bwMode="auto">
            <a:xfrm>
              <a:off x="794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9" name="Rectangle 307"/>
            <p:cNvSpPr>
              <a:spLocks noChangeArrowheads="1"/>
            </p:cNvSpPr>
            <p:nvPr/>
          </p:nvSpPr>
          <p:spPr bwMode="auto">
            <a:xfrm>
              <a:off x="931" y="1700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0" name="Rectangle 308"/>
            <p:cNvSpPr>
              <a:spLocks noChangeArrowheads="1"/>
            </p:cNvSpPr>
            <p:nvPr/>
          </p:nvSpPr>
          <p:spPr bwMode="auto">
            <a:xfrm>
              <a:off x="1078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1" name="Rectangle 309"/>
            <p:cNvSpPr>
              <a:spLocks noChangeArrowheads="1"/>
            </p:cNvSpPr>
            <p:nvPr/>
          </p:nvSpPr>
          <p:spPr bwMode="auto">
            <a:xfrm>
              <a:off x="1214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2" name="Rectangle 310"/>
            <p:cNvSpPr>
              <a:spLocks noChangeArrowheads="1"/>
            </p:cNvSpPr>
            <p:nvPr/>
          </p:nvSpPr>
          <p:spPr bwMode="auto">
            <a:xfrm>
              <a:off x="1352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3" name="Rectangle 311"/>
            <p:cNvSpPr>
              <a:spLocks noChangeArrowheads="1"/>
            </p:cNvSpPr>
            <p:nvPr/>
          </p:nvSpPr>
          <p:spPr bwMode="auto">
            <a:xfrm>
              <a:off x="1491" y="1700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4" name="Rectangle 312"/>
            <p:cNvSpPr>
              <a:spLocks noChangeArrowheads="1"/>
            </p:cNvSpPr>
            <p:nvPr/>
          </p:nvSpPr>
          <p:spPr bwMode="auto">
            <a:xfrm>
              <a:off x="1608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5" name="Rectangle 313"/>
            <p:cNvSpPr>
              <a:spLocks noChangeArrowheads="1"/>
            </p:cNvSpPr>
            <p:nvPr/>
          </p:nvSpPr>
          <p:spPr bwMode="auto">
            <a:xfrm>
              <a:off x="1671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6" name="Rectangle 314"/>
            <p:cNvSpPr>
              <a:spLocks noChangeArrowheads="1"/>
            </p:cNvSpPr>
            <p:nvPr/>
          </p:nvSpPr>
          <p:spPr bwMode="auto">
            <a:xfrm>
              <a:off x="1810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E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7" name="Rectangle 315"/>
            <p:cNvSpPr>
              <a:spLocks noChangeArrowheads="1"/>
            </p:cNvSpPr>
            <p:nvPr/>
          </p:nvSpPr>
          <p:spPr bwMode="auto">
            <a:xfrm>
              <a:off x="1937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V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8" name="Rectangle 316"/>
            <p:cNvSpPr>
              <a:spLocks noChangeArrowheads="1"/>
            </p:cNvSpPr>
            <p:nvPr/>
          </p:nvSpPr>
          <p:spPr bwMode="auto">
            <a:xfrm>
              <a:off x="2065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89" name="Rectangle 317"/>
            <p:cNvSpPr>
              <a:spLocks noChangeArrowheads="1"/>
            </p:cNvSpPr>
            <p:nvPr/>
          </p:nvSpPr>
          <p:spPr bwMode="auto">
            <a:xfrm>
              <a:off x="2116" y="1700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S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0" name="Rectangle 318"/>
            <p:cNvSpPr>
              <a:spLocks noChangeArrowheads="1"/>
            </p:cNvSpPr>
            <p:nvPr/>
          </p:nvSpPr>
          <p:spPr bwMode="auto">
            <a:xfrm>
              <a:off x="2244" y="1700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1" name="Rectangle 319"/>
            <p:cNvSpPr>
              <a:spLocks noChangeArrowheads="1"/>
            </p:cNvSpPr>
            <p:nvPr/>
          </p:nvSpPr>
          <p:spPr bwMode="auto">
            <a:xfrm>
              <a:off x="2296" y="1700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2" name="Rectangle 320"/>
            <p:cNvSpPr>
              <a:spLocks noChangeArrowheads="1"/>
            </p:cNvSpPr>
            <p:nvPr/>
          </p:nvSpPr>
          <p:spPr bwMode="auto">
            <a:xfrm>
              <a:off x="2445" y="1700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3" name="Rectangle 321"/>
            <p:cNvSpPr>
              <a:spLocks noChangeArrowheads="1"/>
            </p:cNvSpPr>
            <p:nvPr/>
          </p:nvSpPr>
          <p:spPr bwMode="auto">
            <a:xfrm>
              <a:off x="658" y="1692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4" name="Rectangle 322"/>
            <p:cNvSpPr>
              <a:spLocks noChangeArrowheads="1"/>
            </p:cNvSpPr>
            <p:nvPr/>
          </p:nvSpPr>
          <p:spPr bwMode="auto">
            <a:xfrm>
              <a:off x="786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 dirty="0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5" name="Rectangle 323"/>
            <p:cNvSpPr>
              <a:spLocks noChangeArrowheads="1"/>
            </p:cNvSpPr>
            <p:nvPr/>
          </p:nvSpPr>
          <p:spPr bwMode="auto">
            <a:xfrm>
              <a:off x="923" y="1692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6" name="Rectangle 324"/>
            <p:cNvSpPr>
              <a:spLocks noChangeArrowheads="1"/>
            </p:cNvSpPr>
            <p:nvPr/>
          </p:nvSpPr>
          <p:spPr bwMode="auto">
            <a:xfrm>
              <a:off x="1070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7" name="Rectangle 325"/>
            <p:cNvSpPr>
              <a:spLocks noChangeArrowheads="1"/>
            </p:cNvSpPr>
            <p:nvPr/>
          </p:nvSpPr>
          <p:spPr bwMode="auto">
            <a:xfrm>
              <a:off x="1206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8" name="Rectangle 326"/>
            <p:cNvSpPr>
              <a:spLocks noChangeArrowheads="1"/>
            </p:cNvSpPr>
            <p:nvPr/>
          </p:nvSpPr>
          <p:spPr bwMode="auto">
            <a:xfrm>
              <a:off x="1344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99" name="Rectangle 327"/>
            <p:cNvSpPr>
              <a:spLocks noChangeArrowheads="1"/>
            </p:cNvSpPr>
            <p:nvPr/>
          </p:nvSpPr>
          <p:spPr bwMode="auto">
            <a:xfrm>
              <a:off x="1483" y="1692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0" name="Rectangle 328"/>
            <p:cNvSpPr>
              <a:spLocks noChangeArrowheads="1"/>
            </p:cNvSpPr>
            <p:nvPr/>
          </p:nvSpPr>
          <p:spPr bwMode="auto">
            <a:xfrm>
              <a:off x="1600" y="1692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1" name="Rectangle 329"/>
            <p:cNvSpPr>
              <a:spLocks noChangeArrowheads="1"/>
            </p:cNvSpPr>
            <p:nvPr/>
          </p:nvSpPr>
          <p:spPr bwMode="auto">
            <a:xfrm>
              <a:off x="1663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2" name="Rectangle 330"/>
            <p:cNvSpPr>
              <a:spLocks noChangeArrowheads="1"/>
            </p:cNvSpPr>
            <p:nvPr/>
          </p:nvSpPr>
          <p:spPr bwMode="auto">
            <a:xfrm>
              <a:off x="1802" y="1692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E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3" name="Rectangle 331"/>
            <p:cNvSpPr>
              <a:spLocks noChangeArrowheads="1"/>
            </p:cNvSpPr>
            <p:nvPr/>
          </p:nvSpPr>
          <p:spPr bwMode="auto">
            <a:xfrm>
              <a:off x="1929" y="1692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V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4" name="Rectangle 332"/>
            <p:cNvSpPr>
              <a:spLocks noChangeArrowheads="1"/>
            </p:cNvSpPr>
            <p:nvPr/>
          </p:nvSpPr>
          <p:spPr bwMode="auto">
            <a:xfrm>
              <a:off x="2057" y="1692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5" name="Rectangle 333"/>
            <p:cNvSpPr>
              <a:spLocks noChangeArrowheads="1"/>
            </p:cNvSpPr>
            <p:nvPr/>
          </p:nvSpPr>
          <p:spPr bwMode="auto">
            <a:xfrm>
              <a:off x="2108" y="1692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ea typeface="굴림" pitchFamily="50" charset="-127"/>
                </a:rPr>
                <a:t>S</a:t>
              </a:r>
              <a:endParaRPr lang="en-US" altLang="ko-KR" dirty="0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6" name="Rectangle 334"/>
            <p:cNvSpPr>
              <a:spLocks noChangeArrowheads="1"/>
            </p:cNvSpPr>
            <p:nvPr/>
          </p:nvSpPr>
          <p:spPr bwMode="auto">
            <a:xfrm>
              <a:off x="2236" y="1692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7" name="Rectangle 335"/>
            <p:cNvSpPr>
              <a:spLocks noChangeArrowheads="1"/>
            </p:cNvSpPr>
            <p:nvPr/>
          </p:nvSpPr>
          <p:spPr bwMode="auto">
            <a:xfrm>
              <a:off x="2288" y="1692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208" name="Rectangle 336"/>
            <p:cNvSpPr>
              <a:spLocks noChangeArrowheads="1"/>
            </p:cNvSpPr>
            <p:nvPr/>
          </p:nvSpPr>
          <p:spPr bwMode="auto">
            <a:xfrm>
              <a:off x="2437" y="1692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</p:grpSp>
      <p:grpSp>
        <p:nvGrpSpPr>
          <p:cNvPr id="5141" name="Group 337"/>
          <p:cNvGrpSpPr>
            <a:grpSpLocks/>
          </p:cNvGrpSpPr>
          <p:nvPr/>
        </p:nvGrpSpPr>
        <p:grpSpPr bwMode="auto">
          <a:xfrm>
            <a:off x="2806700" y="3305175"/>
            <a:ext cx="3408363" cy="341313"/>
            <a:chOff x="1768" y="2337"/>
            <a:chExt cx="2147" cy="215"/>
          </a:xfrm>
        </p:grpSpPr>
        <p:sp>
          <p:nvSpPr>
            <p:cNvPr id="5143" name="Rectangle 338"/>
            <p:cNvSpPr>
              <a:spLocks noChangeArrowheads="1"/>
            </p:cNvSpPr>
            <p:nvPr/>
          </p:nvSpPr>
          <p:spPr bwMode="auto">
            <a:xfrm>
              <a:off x="1776" y="2345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4" name="Rectangle 339"/>
            <p:cNvSpPr>
              <a:spLocks noChangeArrowheads="1"/>
            </p:cNvSpPr>
            <p:nvPr/>
          </p:nvSpPr>
          <p:spPr bwMode="auto">
            <a:xfrm>
              <a:off x="1904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5" name="Rectangle 340"/>
            <p:cNvSpPr>
              <a:spLocks noChangeArrowheads="1"/>
            </p:cNvSpPr>
            <p:nvPr/>
          </p:nvSpPr>
          <p:spPr bwMode="auto">
            <a:xfrm>
              <a:off x="2041" y="2345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6" name="Rectangle 341"/>
            <p:cNvSpPr>
              <a:spLocks noChangeArrowheads="1"/>
            </p:cNvSpPr>
            <p:nvPr/>
          </p:nvSpPr>
          <p:spPr bwMode="auto">
            <a:xfrm>
              <a:off x="2188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7" name="Rectangle 342"/>
            <p:cNvSpPr>
              <a:spLocks noChangeArrowheads="1"/>
            </p:cNvSpPr>
            <p:nvPr/>
          </p:nvSpPr>
          <p:spPr bwMode="auto">
            <a:xfrm>
              <a:off x="2324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8" name="Rectangle 343"/>
            <p:cNvSpPr>
              <a:spLocks noChangeArrowheads="1"/>
            </p:cNvSpPr>
            <p:nvPr/>
          </p:nvSpPr>
          <p:spPr bwMode="auto">
            <a:xfrm>
              <a:off x="2462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49" name="Rectangle 344"/>
            <p:cNvSpPr>
              <a:spLocks noChangeArrowheads="1"/>
            </p:cNvSpPr>
            <p:nvPr/>
          </p:nvSpPr>
          <p:spPr bwMode="auto">
            <a:xfrm>
              <a:off x="2601" y="2345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0" name="Rectangle 345"/>
            <p:cNvSpPr>
              <a:spLocks noChangeArrowheads="1"/>
            </p:cNvSpPr>
            <p:nvPr/>
          </p:nvSpPr>
          <p:spPr bwMode="auto">
            <a:xfrm>
              <a:off x="2718" y="234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1" name="Rectangle 346"/>
            <p:cNvSpPr>
              <a:spLocks noChangeArrowheads="1"/>
            </p:cNvSpPr>
            <p:nvPr/>
          </p:nvSpPr>
          <p:spPr bwMode="auto">
            <a:xfrm>
              <a:off x="2783" y="2345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2" name="Rectangle 347"/>
            <p:cNvSpPr>
              <a:spLocks noChangeArrowheads="1"/>
            </p:cNvSpPr>
            <p:nvPr/>
          </p:nvSpPr>
          <p:spPr bwMode="auto">
            <a:xfrm>
              <a:off x="2930" y="2345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3" name="Rectangle 348"/>
            <p:cNvSpPr>
              <a:spLocks noChangeArrowheads="1"/>
            </p:cNvSpPr>
            <p:nvPr/>
          </p:nvSpPr>
          <p:spPr bwMode="auto">
            <a:xfrm>
              <a:off x="3058" y="2345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E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4" name="Rectangle 349"/>
            <p:cNvSpPr>
              <a:spLocks noChangeArrowheads="1"/>
            </p:cNvSpPr>
            <p:nvPr/>
          </p:nvSpPr>
          <p:spPr bwMode="auto">
            <a:xfrm>
              <a:off x="3186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5" name="Rectangle 350"/>
            <p:cNvSpPr>
              <a:spLocks noChangeArrowheads="1"/>
            </p:cNvSpPr>
            <p:nvPr/>
          </p:nvSpPr>
          <p:spPr bwMode="auto">
            <a:xfrm>
              <a:off x="3322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A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6" name="Rectangle 351"/>
            <p:cNvSpPr>
              <a:spLocks noChangeArrowheads="1"/>
            </p:cNvSpPr>
            <p:nvPr/>
          </p:nvSpPr>
          <p:spPr bwMode="auto">
            <a:xfrm>
              <a:off x="3461" y="2345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7" name="Rectangle 352"/>
            <p:cNvSpPr>
              <a:spLocks noChangeArrowheads="1"/>
            </p:cNvSpPr>
            <p:nvPr/>
          </p:nvSpPr>
          <p:spPr bwMode="auto">
            <a:xfrm>
              <a:off x="3576" y="2345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8" name="Rectangle 353"/>
            <p:cNvSpPr>
              <a:spLocks noChangeArrowheads="1"/>
            </p:cNvSpPr>
            <p:nvPr/>
          </p:nvSpPr>
          <p:spPr bwMode="auto">
            <a:xfrm>
              <a:off x="3627" y="2345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59" name="Rectangle 354"/>
            <p:cNvSpPr>
              <a:spLocks noChangeArrowheads="1"/>
            </p:cNvSpPr>
            <p:nvPr/>
          </p:nvSpPr>
          <p:spPr bwMode="auto">
            <a:xfrm>
              <a:off x="3776" y="2345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0" name="Rectangle 355"/>
            <p:cNvSpPr>
              <a:spLocks noChangeArrowheads="1"/>
            </p:cNvSpPr>
            <p:nvPr/>
          </p:nvSpPr>
          <p:spPr bwMode="auto">
            <a:xfrm>
              <a:off x="1768" y="2337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1" name="Rectangle 356"/>
            <p:cNvSpPr>
              <a:spLocks noChangeArrowheads="1"/>
            </p:cNvSpPr>
            <p:nvPr/>
          </p:nvSpPr>
          <p:spPr bwMode="auto">
            <a:xfrm>
              <a:off x="1896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2" name="Rectangle 357"/>
            <p:cNvSpPr>
              <a:spLocks noChangeArrowheads="1"/>
            </p:cNvSpPr>
            <p:nvPr/>
          </p:nvSpPr>
          <p:spPr bwMode="auto">
            <a:xfrm>
              <a:off x="2033" y="2337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3" name="Rectangle 358"/>
            <p:cNvSpPr>
              <a:spLocks noChangeArrowheads="1"/>
            </p:cNvSpPr>
            <p:nvPr/>
          </p:nvSpPr>
          <p:spPr bwMode="auto">
            <a:xfrm>
              <a:off x="2180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D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4" name="Rectangle 359"/>
            <p:cNvSpPr>
              <a:spLocks noChangeArrowheads="1"/>
            </p:cNvSpPr>
            <p:nvPr/>
          </p:nvSpPr>
          <p:spPr bwMode="auto">
            <a:xfrm>
              <a:off x="2316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U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5" name="Rectangle 360"/>
            <p:cNvSpPr>
              <a:spLocks noChangeArrowheads="1"/>
            </p:cNvSpPr>
            <p:nvPr/>
          </p:nvSpPr>
          <p:spPr bwMode="auto">
            <a:xfrm>
              <a:off x="2454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C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6" name="Rectangle 361"/>
            <p:cNvSpPr>
              <a:spLocks noChangeArrowheads="1"/>
            </p:cNvSpPr>
            <p:nvPr/>
          </p:nvSpPr>
          <p:spPr bwMode="auto">
            <a:xfrm>
              <a:off x="2593" y="2337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7" name="Rectangle 362"/>
            <p:cNvSpPr>
              <a:spLocks noChangeArrowheads="1"/>
            </p:cNvSpPr>
            <p:nvPr/>
          </p:nvSpPr>
          <p:spPr bwMode="auto">
            <a:xfrm>
              <a:off x="2710" y="233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2400">
                  <a:solidFill>
                    <a:schemeClr val="bg1"/>
                  </a:solidFill>
                  <a:ea typeface="굴림" pitchFamily="50" charset="-127"/>
                </a:rPr>
                <a:t> </a:t>
              </a:r>
              <a:endParaRPr lang="ko-KR" altLang="en-US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8" name="Rectangle 363"/>
            <p:cNvSpPr>
              <a:spLocks noChangeArrowheads="1"/>
            </p:cNvSpPr>
            <p:nvPr/>
          </p:nvSpPr>
          <p:spPr bwMode="auto">
            <a:xfrm>
              <a:off x="2775" y="2337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69" name="Rectangle 364"/>
            <p:cNvSpPr>
              <a:spLocks noChangeArrowheads="1"/>
            </p:cNvSpPr>
            <p:nvPr/>
          </p:nvSpPr>
          <p:spPr bwMode="auto">
            <a:xfrm>
              <a:off x="2922" y="2337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P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0" name="Rectangle 365"/>
            <p:cNvSpPr>
              <a:spLocks noChangeArrowheads="1"/>
            </p:cNvSpPr>
            <p:nvPr/>
          </p:nvSpPr>
          <p:spPr bwMode="auto">
            <a:xfrm>
              <a:off x="3050" y="2337"/>
              <a:ext cx="128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E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1" name="Rectangle 366"/>
            <p:cNvSpPr>
              <a:spLocks noChangeArrowheads="1"/>
            </p:cNvSpPr>
            <p:nvPr/>
          </p:nvSpPr>
          <p:spPr bwMode="auto">
            <a:xfrm>
              <a:off x="3178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ea typeface="굴림" pitchFamily="50" charset="-127"/>
                </a:rPr>
                <a:t>R</a:t>
              </a:r>
              <a:endParaRPr lang="en-US" altLang="ko-KR" dirty="0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2" name="Rectangle 367"/>
            <p:cNvSpPr>
              <a:spLocks noChangeArrowheads="1"/>
            </p:cNvSpPr>
            <p:nvPr/>
          </p:nvSpPr>
          <p:spPr bwMode="auto">
            <a:xfrm>
              <a:off x="3314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A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3" name="Rectangle 368"/>
            <p:cNvSpPr>
              <a:spLocks noChangeArrowheads="1"/>
            </p:cNvSpPr>
            <p:nvPr/>
          </p:nvSpPr>
          <p:spPr bwMode="auto">
            <a:xfrm>
              <a:off x="3453" y="2337"/>
              <a:ext cx="117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T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4" name="Rectangle 369"/>
            <p:cNvSpPr>
              <a:spLocks noChangeArrowheads="1"/>
            </p:cNvSpPr>
            <p:nvPr/>
          </p:nvSpPr>
          <p:spPr bwMode="auto">
            <a:xfrm>
              <a:off x="3568" y="2337"/>
              <a:ext cx="53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I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5" name="Rectangle 370"/>
            <p:cNvSpPr>
              <a:spLocks noChangeArrowheads="1"/>
            </p:cNvSpPr>
            <p:nvPr/>
          </p:nvSpPr>
          <p:spPr bwMode="auto">
            <a:xfrm>
              <a:off x="3619" y="2337"/>
              <a:ext cx="14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O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  <p:sp>
          <p:nvSpPr>
            <p:cNvPr id="5176" name="Rectangle 371"/>
            <p:cNvSpPr>
              <a:spLocks noChangeArrowheads="1"/>
            </p:cNvSpPr>
            <p:nvPr/>
          </p:nvSpPr>
          <p:spPr bwMode="auto">
            <a:xfrm>
              <a:off x="3768" y="2337"/>
              <a:ext cx="139" cy="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>
                  <a:solidFill>
                    <a:schemeClr val="bg1"/>
                  </a:solidFill>
                  <a:ea typeface="굴림" pitchFamily="50" charset="-127"/>
                </a:rPr>
                <a:t>N</a:t>
              </a:r>
              <a:endParaRPr lang="en-US" altLang="ko-KR">
                <a:solidFill>
                  <a:schemeClr val="bg1"/>
                </a:solidFill>
                <a:ea typeface="굴림" pitchFamily="50" charset="-127"/>
              </a:endParaRPr>
            </a:p>
          </p:txBody>
        </p:sp>
      </p:grpSp>
      <p:sp>
        <p:nvSpPr>
          <p:cNvPr id="1297780" name="Rectangle 372"/>
          <p:cNvSpPr>
            <a:spLocks noChangeArrowheads="1"/>
          </p:cNvSpPr>
          <p:nvPr/>
        </p:nvSpPr>
        <p:spPr bwMode="auto">
          <a:xfrm>
            <a:off x="474663" y="4814888"/>
            <a:ext cx="8194675" cy="644525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defRPr/>
            </a:pPr>
            <a:r>
              <a:rPr lang="en-US" altLang="ko-KR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ISO 9126 Quality Factors</a:t>
            </a:r>
          </a:p>
          <a:p>
            <a:pPr>
              <a:defRPr/>
            </a:pPr>
            <a:r>
              <a:rPr lang="en-US" altLang="ko-KR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- Functionality, reliability, usability, efficiency, maintainability, portability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614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AFE90F8-E28C-467E-962D-C0ED67BB0B95}" type="slidenum">
              <a:rPr lang="ko-KR" altLang="en-US" smtClean="0"/>
              <a:pPr/>
              <a:t>3</a:t>
            </a:fld>
            <a:endParaRPr lang="en-US" altLang="ko-KR"/>
          </a:p>
        </p:txBody>
      </p:sp>
      <p:sp>
        <p:nvSpPr>
          <p:cNvPr id="129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65200" y="352425"/>
            <a:ext cx="7412038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Measures, Metrics and Indicators</a:t>
            </a:r>
          </a:p>
        </p:txBody>
      </p:sp>
      <p:sp>
        <p:nvSpPr>
          <p:cNvPr id="12994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0" y="1027113"/>
            <a:ext cx="9144000" cy="39989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 SW engineer collects </a:t>
            </a: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measures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and develops </a:t>
            </a: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metrics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so that </a:t>
            </a: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indicators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will be obtained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 </a:t>
            </a:r>
            <a:r>
              <a:rPr lang="en-US" altLang="ko-KR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measure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provides a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quantitative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indication of the extent, amount, dimension, capacity, or size of some attribute of a product or process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The IEEE defines a</a:t>
            </a:r>
            <a:r>
              <a:rPr lang="en-US" altLang="ko-KR" i="1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metric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as “a quantitative measure of the degree to which a system, component, or process possesses a given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attribute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.”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IEEE Standard Glossary of Software Engineering Terminology (IEEE Std 610.12-1990)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An </a:t>
            </a:r>
            <a:r>
              <a:rPr lang="en-US" altLang="ko-KR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indicator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is a metric or combination of metrics that provide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insight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into the software process, a software project, or the product itself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Ex. 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Moonzoo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Kim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Measure:  height=170cm, weight=65 kg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Metric: fat metric= 0.38 ( =weight/height)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Indicator:  normal health condition (since fat metric &lt; 0.5 )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7171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7FD996B-32F7-4AF2-BC81-D724375312C3}" type="slidenum">
              <a:rPr lang="ko-KR" altLang="en-US" smtClean="0"/>
              <a:pPr/>
              <a:t>4</a:t>
            </a:fld>
            <a:endParaRPr lang="en-US" altLang="ko-KR"/>
          </a:p>
        </p:txBody>
      </p:sp>
      <p:sp>
        <p:nvSpPr>
          <p:cNvPr id="13004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39913" y="244475"/>
            <a:ext cx="54610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Measurement Principles</a:t>
            </a:r>
          </a:p>
        </p:txBody>
      </p:sp>
      <p:sp>
        <p:nvSpPr>
          <p:cNvPr id="130048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40846" y="1082002"/>
            <a:ext cx="8748713" cy="36576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The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objectives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of measurement should be established before data collection begins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Ex. It is useless for black-box testers to measure a # of words in a C file.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Ex. It is useful for C compiler developers to measure a # of words in a C file.</a:t>
            </a:r>
          </a:p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Each technical metric should be defined in an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unambiguous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manner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Ex. For measuring a total line number of a C program</a:t>
            </a:r>
          </a:p>
          <a:p>
            <a:pPr lvl="2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Including comments? Including empty lines?</a:t>
            </a:r>
          </a:p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should be derived based on a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theory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that is valid for the domain of application 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for design should draw upon </a:t>
            </a:r>
            <a:r>
              <a:rPr lang="en-US" altLang="ko-KR" sz="18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basic design concepts and principles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and attempt to provide an </a:t>
            </a:r>
            <a:r>
              <a:rPr lang="en-US" altLang="ko-KR" sz="18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indication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of the presence of a desirable attribute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should be </a:t>
            </a:r>
            <a:r>
              <a:rPr lang="en-US" altLang="ko-KR" sz="18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tailored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to best accommodate specific products and processes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8195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9D70C16-2900-4000-8803-FDD509336735}" type="slidenum">
              <a:rPr lang="ko-KR" altLang="en-US" smtClean="0"/>
              <a:pPr/>
              <a:t>5</a:t>
            </a:fld>
            <a:endParaRPr lang="en-US" altLang="ko-KR"/>
          </a:p>
        </p:txBody>
      </p:sp>
      <p:sp>
        <p:nvSpPr>
          <p:cNvPr id="130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03350" y="244475"/>
            <a:ext cx="6364288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Measurement Process</a:t>
            </a:r>
          </a:p>
        </p:txBody>
      </p:sp>
      <p:sp>
        <p:nvSpPr>
          <p:cNvPr id="13015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01613" y="1033463"/>
            <a:ext cx="4308475" cy="5062537"/>
          </a:xfrm>
          <a:solidFill>
            <a:schemeClr val="tx1"/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altLang="ko-KR" sz="16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Formulation</a:t>
            </a:r>
            <a:r>
              <a:rPr lang="en-US" altLang="ko-KR" sz="1600" i="1" dirty="0">
                <a:solidFill>
                  <a:schemeClr val="folHlink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spcBef>
                <a:spcPts val="300"/>
              </a:spcBef>
              <a:buFont typeface="Wingdings" pitchFamily="2" charset="2"/>
              <a:buNone/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	The derivation of software measures and metrics appropriate for the representation of the software that is being considered.</a:t>
            </a:r>
          </a:p>
          <a:p>
            <a:pPr eaLnBrk="1" hangingPunct="1">
              <a:defRPr/>
            </a:pPr>
            <a:r>
              <a:rPr lang="en-US" altLang="ko-KR" sz="16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Collection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mechanism used to accumulate data required to derive the formulated metrics.</a:t>
            </a:r>
          </a:p>
          <a:p>
            <a:pPr eaLnBrk="1" hangingPunct="1">
              <a:defRPr/>
            </a:pPr>
            <a:r>
              <a:rPr lang="en-US" altLang="ko-KR" sz="16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Analysis</a:t>
            </a:r>
            <a:r>
              <a:rPr lang="en-US" altLang="ko-KR" sz="1600" i="1" dirty="0">
                <a:solidFill>
                  <a:schemeClr val="folHlink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i="1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	The computation of metrics and the application of mathematical tools.</a:t>
            </a:r>
          </a:p>
          <a:p>
            <a:pPr eaLnBrk="1" hangingPunct="1">
              <a:defRPr/>
            </a:pPr>
            <a:r>
              <a:rPr lang="en-US" altLang="ko-KR" sz="16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Interpretation</a:t>
            </a:r>
            <a:r>
              <a:rPr lang="en-US" altLang="ko-KR" sz="1600" i="1" dirty="0">
                <a:solidFill>
                  <a:schemeClr val="folHlink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	The evaluation of metrics results in an effort to gain insight into the quality of the representation.</a:t>
            </a:r>
          </a:p>
          <a:p>
            <a:pPr eaLnBrk="1" hangingPunct="1">
              <a:defRPr/>
            </a:pPr>
            <a:r>
              <a:rPr lang="en-US" altLang="ko-KR" sz="16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Feedback</a:t>
            </a:r>
            <a:r>
              <a:rPr lang="en-US" altLang="ko-KR" sz="1600" i="1" dirty="0">
                <a:solidFill>
                  <a:srgbClr val="F3FF07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	Recommendations derived from the interpretation of product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transmitted to the software team.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4724400" y="1033463"/>
            <a:ext cx="4308475" cy="506253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00000"/>
              </a:lnSpc>
              <a:spcBef>
                <a:spcPts val="3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600" b="0" i="1" kern="0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Example  of Formulation</a:t>
            </a:r>
            <a:endParaRPr lang="en-US" altLang="ko-KR" sz="1600" b="0" kern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3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	To check whether a give software is </a:t>
            </a:r>
            <a:r>
              <a:rPr lang="en-US" altLang="ko-KR" sz="1600" b="0" i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hot-spotted 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(i.e. has intensive loops)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600" b="0" i="1" kern="0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Example of Collection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	Instrument a source program/binary to count how many time a given statement is executed in one second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600" b="0" i="1" kern="0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Example of Analysis</a:t>
            </a:r>
            <a:r>
              <a:rPr lang="en-US" altLang="ko-KR" sz="1600" b="0" i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b="0" i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	Using Excel/</a:t>
            </a:r>
            <a:r>
              <a:rPr lang="en-US" altLang="ko-KR" sz="1600" b="0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MatLab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 to get average numbers of executions of statements 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600" b="0" i="1" kern="0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Example of Interpretation</a:t>
            </a:r>
            <a:r>
              <a:rPr lang="en-US" altLang="ko-KR" sz="1600" b="0" i="1" kern="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	 If there exist statements which were executed more than 10</a:t>
            </a:r>
            <a:r>
              <a:rPr lang="en-US" altLang="ko-KR" sz="1600" b="0" kern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8 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, on a 3 </a:t>
            </a:r>
            <a:r>
              <a:rPr lang="en-US" altLang="ko-KR" sz="1600" b="0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Ghz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 machine, then the program is hot-spotted</a:t>
            </a:r>
            <a:endParaRPr lang="en-US" altLang="ko-KR" sz="1600" b="0" kern="0" baseline="3000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ko-KR" sz="1600" b="0" i="1" kern="0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Example of Feedback</a:t>
            </a:r>
            <a:r>
              <a:rPr lang="en-US" altLang="ko-KR" sz="1600" b="0" i="1" kern="0" dirty="0">
                <a:solidFill>
                  <a:srgbClr val="F3FF0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.</a:t>
            </a: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altLang="ko-KR" sz="16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굴림" pitchFamily="50" charset="-127"/>
                <a:cs typeface="Arial" pitchFamily="34" charset="0"/>
              </a:rPr>
              <a:t>	Try to optimize those hot-spotted statements.  Or those hot-spotted statement might have logical flaws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921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4A03AC5-70B7-4FBE-BBC5-5A6AB961B753}" type="slidenum">
              <a:rPr lang="ko-KR" altLang="en-US" smtClean="0"/>
              <a:pPr/>
              <a:t>6</a:t>
            </a:fld>
            <a:endParaRPr lang="en-US" altLang="ko-KR"/>
          </a:p>
        </p:txBody>
      </p:sp>
      <p:sp>
        <p:nvSpPr>
          <p:cNvPr id="130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93700" y="355600"/>
            <a:ext cx="8555038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Goal-Oriented Software Measurement</a:t>
            </a:r>
          </a:p>
        </p:txBody>
      </p:sp>
      <p:sp>
        <p:nvSpPr>
          <p:cNvPr id="130253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25450" y="1058863"/>
            <a:ext cx="8405813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The Goal/Question/Metric Paradigm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establish an explicit measurement </a:t>
            </a:r>
            <a:r>
              <a:rPr lang="en-US" altLang="ko-KR" sz="1800" i="1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goal</a:t>
            </a:r>
            <a:endParaRPr lang="en-US" altLang="ko-KR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define a set of </a:t>
            </a:r>
            <a:r>
              <a:rPr lang="en-US" altLang="ko-KR" sz="1800" i="1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questions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that must be answered to achieve the goal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identify well-formulated</a:t>
            </a:r>
            <a:r>
              <a:rPr lang="en-US" altLang="ko-KR" sz="1800" dirty="0">
                <a:solidFill>
                  <a:srgbClr val="F3FF07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sz="1800" i="1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metrics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that help to answer these questions.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Goal definition template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Analyze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{the name of activity or attribute to be measured}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for the purpose of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{the overall objective of the analysis}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with respect to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{the aspect of the activity or attribute that is considered}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from the viewpoint of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{the people who have an interest in the measurement}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 the context of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{the environment in which the measurement takes place}.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024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6E8818-88D2-4503-B89A-3B7B4F96F239}" type="slidenum">
              <a:rPr lang="ko-KR" altLang="en-US" smtClean="0"/>
              <a:pPr/>
              <a:t>7</a:t>
            </a:fld>
            <a:endParaRPr lang="en-US" altLang="ko-KR"/>
          </a:p>
        </p:txBody>
      </p:sp>
      <p:sp>
        <p:nvSpPr>
          <p:cNvPr id="13209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Ex&gt; Goal definition for SafeHome</a:t>
            </a:r>
          </a:p>
        </p:txBody>
      </p:sp>
      <p:sp>
        <p:nvSpPr>
          <p:cNvPr id="132096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20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Analyze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the </a:t>
            </a: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Safehome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SW architecture</a:t>
            </a:r>
          </a:p>
          <a:p>
            <a:pPr eaLnBrk="1" hangingPunct="1">
              <a:defRPr/>
            </a:pPr>
            <a:r>
              <a:rPr lang="en-US" altLang="ko-KR" sz="20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for the purpose of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evaluating architectural components </a:t>
            </a:r>
          </a:p>
          <a:p>
            <a:pPr eaLnBrk="1" hangingPunct="1">
              <a:defRPr/>
            </a:pPr>
            <a:r>
              <a:rPr lang="en-US" altLang="ko-KR" sz="20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with respect to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the ability to make </a:t>
            </a: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Safehome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more extensible </a:t>
            </a:r>
          </a:p>
          <a:p>
            <a:pPr eaLnBrk="1" hangingPunct="1">
              <a:defRPr/>
            </a:pPr>
            <a:r>
              <a:rPr lang="en-US" altLang="ko-KR" sz="20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from the viewpoint of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the SW engineers performing the work </a:t>
            </a:r>
          </a:p>
          <a:p>
            <a:pPr eaLnBrk="1" hangingPunct="1">
              <a:defRPr/>
            </a:pPr>
            <a:r>
              <a:rPr lang="en-US" altLang="ko-KR" sz="20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in the context of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enhancement over the next 3 years</a:t>
            </a:r>
          </a:p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Questions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Q1: Are architectural components characterized in a manner that compartmentalizes function and related data?</a:t>
            </a:r>
          </a:p>
          <a:p>
            <a:pPr lvl="2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Answer: 0 … 10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Q2: Is the complexity of each component within bounds that will facilitate modification and extension?</a:t>
            </a:r>
          </a:p>
          <a:p>
            <a:pPr lvl="2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Answer: 0 …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126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06DAB7-C4AA-40F3-AA8B-5EEB90E21A1F}" type="slidenum">
              <a:rPr lang="ko-KR" altLang="en-US" smtClean="0"/>
              <a:pPr/>
              <a:t>8</a:t>
            </a:fld>
            <a:endParaRPr lang="en-US" altLang="ko-KR"/>
          </a:p>
        </p:txBody>
      </p:sp>
      <p:sp>
        <p:nvSpPr>
          <p:cNvPr id="1303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514600" y="244475"/>
            <a:ext cx="41275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Metrics Attributes</a:t>
            </a:r>
          </a:p>
        </p:txBody>
      </p:sp>
      <p:sp>
        <p:nvSpPr>
          <p:cNvPr id="130355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96913" y="917575"/>
            <a:ext cx="7772400" cy="3657600"/>
          </a:xfrm>
        </p:spPr>
        <p:txBody>
          <a:bodyPr lIns="90487" tIns="44450" rIns="90487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Simple and computable.</a:t>
            </a: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It should be relatively easy to learn how to derive the metric, and its computation should not demand inordinate effort or time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Empirically and intuitively persuasive.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metric should satisfy the engineer’s intuitive notions about the product attribute under consideration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Consistent and objective.</a:t>
            </a: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metric should always yield results that are unambiguous.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Consistent in its use of units and dimensions.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mathematical computation of the metric should use measures that do not lead to bizarre combinations of unit.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ex. MZ measure of a software complexity: kg x </a:t>
            </a:r>
            <a:r>
              <a:rPr lang="en-US" altLang="ko-KR" sz="2000" dirty="0"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sz="2000" baseline="30000" dirty="0">
                <a:latin typeface="Arial"/>
                <a:ea typeface="굴림" pitchFamily="50" charset="-127"/>
                <a:cs typeface="Arial" pitchFamily="34" charset="0"/>
              </a:rPr>
              <a:t>4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An effective mechanism for quality feedback.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That is, the metric should provide a software engineer with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information that can lead to a higher quality end product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2291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2E0DD66-72AF-483D-A55B-46197E31E236}" type="slidenum">
              <a:rPr lang="ko-KR" altLang="en-US" smtClean="0"/>
              <a:pPr/>
              <a:t>9</a:t>
            </a:fld>
            <a:endParaRPr lang="en-US" altLang="ko-KR"/>
          </a:p>
        </p:txBody>
      </p:sp>
      <p:sp>
        <p:nvSpPr>
          <p:cNvPr id="13045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90575" y="355600"/>
            <a:ext cx="77470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Collection and Analysis Principles</a:t>
            </a:r>
          </a:p>
        </p:txBody>
      </p:sp>
      <p:sp>
        <p:nvSpPr>
          <p:cNvPr id="130457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Whenever possible, data collection and analysis should be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automated</a:t>
            </a: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Valid statistical techniques should be applied to establish relationship between internal product attributes and external quality characteristics 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Interpretative guidelines and recommendations should be established for each metric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Ex. Fat metric greater than 0.5 indicates obesity.  A person who has more than 0.7 fat metric should consult a doctor.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409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86CD57-263F-4460-9972-C0FCB7F31EBA}" type="slidenum">
              <a:rPr lang="ko-KR" altLang="en-US" smtClean="0"/>
              <a:pPr/>
              <a:t>10</a:t>
            </a:fld>
            <a:endParaRPr lang="en-US" altLang="ko-KR"/>
          </a:p>
        </p:txBody>
      </p:sp>
      <p:sp>
        <p:nvSpPr>
          <p:cNvPr id="11909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Overview of Ch23. Product Metrics</a:t>
            </a:r>
          </a:p>
        </p:txBody>
      </p:sp>
      <p:sp>
        <p:nvSpPr>
          <p:cNvPr id="11909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15938" y="1214438"/>
            <a:ext cx="8229600" cy="3998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23.3.1 Metrics for the Requirement</a:t>
            </a:r>
            <a:r>
              <a:rPr lang="ko-KR" altLang="en-US" dirty="0"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(Analysis) Model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Function point metrics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23.3.2 Design Metrics for Conventional Software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23.3.3 Design Metrics for OO Software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Class-oriented metrics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Component-level design metrics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Operation oriented metrics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23.3.4 User Interface Design Metrics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23.3.5 Metrics for Source Code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23.4 Metrics for Testing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23.5 Metrics for Maintenance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420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Arial" charset="0"/>
                <a:ea typeface="굴림" pitchFamily="50" charset="-127"/>
                <a:cs typeface="Arial" charset="0"/>
              </a:rPr>
              <a:t>Metrics for the Analysis Model</a:t>
            </a:r>
            <a:endParaRPr lang="ko-KR" altLang="en-US">
              <a:latin typeface="Arial" charset="0"/>
              <a:ea typeface="굴림" pitchFamily="50" charset="-127"/>
              <a:cs typeface="Arial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These metrics examine the analysis model with the intent of predicting the “</a:t>
            </a:r>
            <a:r>
              <a:rPr lang="en-US" altLang="ko-KR" dirty="0">
                <a:solidFill>
                  <a:srgbClr val="FF0000"/>
                </a:solidFill>
                <a:latin typeface="Arial" charset="0"/>
                <a:ea typeface="굴림" pitchFamily="50" charset="-127"/>
                <a:cs typeface="Arial" charset="0"/>
              </a:rPr>
              <a:t>size</a:t>
            </a: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” of the resultant system</a:t>
            </a:r>
          </a:p>
          <a:p>
            <a:pPr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Size can be an indicator of </a:t>
            </a:r>
            <a:r>
              <a:rPr lang="en-US" altLang="ko-KR" dirty="0">
                <a:solidFill>
                  <a:srgbClr val="FF0000"/>
                </a:solidFill>
                <a:latin typeface="Arial" charset="0"/>
                <a:ea typeface="굴림" pitchFamily="50" charset="-127"/>
                <a:cs typeface="Arial" charset="0"/>
              </a:rPr>
              <a:t>design complexity</a:t>
            </a:r>
          </a:p>
          <a:p>
            <a:pPr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Size can be</a:t>
            </a:r>
            <a:r>
              <a:rPr lang="ko-KR" altLang="en-US" dirty="0">
                <a:latin typeface="Arial" charset="0"/>
                <a:ea typeface="굴림" pitchFamily="50" charset="-127"/>
                <a:cs typeface="Arial" charset="0"/>
              </a:rPr>
              <a:t> </a:t>
            </a: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an indicator of </a:t>
            </a:r>
            <a:r>
              <a:rPr lang="en-US" altLang="ko-KR" dirty="0">
                <a:solidFill>
                  <a:srgbClr val="FF0000"/>
                </a:solidFill>
                <a:latin typeface="Arial" charset="0"/>
                <a:ea typeface="굴림" pitchFamily="50" charset="-127"/>
                <a:cs typeface="Arial" charset="0"/>
              </a:rPr>
              <a:t>increased coding, integration, and testing efforts</a:t>
            </a:r>
          </a:p>
          <a:p>
            <a:pPr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Example</a:t>
            </a:r>
          </a:p>
          <a:p>
            <a:pPr lvl="1"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Function-based metrics</a:t>
            </a:r>
          </a:p>
          <a:p>
            <a:pPr lvl="1">
              <a:defRPr/>
            </a:pPr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Metrics for specification quality</a:t>
            </a:r>
            <a:endParaRPr lang="ko-KR" altLang="en-US" dirty="0">
              <a:latin typeface="Arial" charset="0"/>
              <a:ea typeface="굴림" pitchFamily="50" charset="-127"/>
              <a:cs typeface="Arial" charset="0"/>
            </a:endParaRPr>
          </a:p>
        </p:txBody>
      </p:sp>
      <p:sp>
        <p:nvSpPr>
          <p:cNvPr id="1331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331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9F55E49-2590-4213-A70F-B17A3E051E30}" type="slidenum">
              <a:rPr lang="ko-KR" altLang="en-US" smtClean="0"/>
              <a:pPr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433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071CECB-D79E-4C89-9F3F-2D4D83371C8C}" type="slidenum">
              <a:rPr lang="ko-KR" altLang="en-US" smtClean="0"/>
              <a:pPr/>
              <a:t>12</a:t>
            </a:fld>
            <a:endParaRPr lang="en-US" altLang="ko-KR"/>
          </a:p>
        </p:txBody>
      </p:sp>
      <p:sp>
        <p:nvSpPr>
          <p:cNvPr id="13066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19200" y="244475"/>
            <a:ext cx="672465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Function-Based Metrics</a:t>
            </a:r>
          </a:p>
        </p:txBody>
      </p:sp>
      <p:sp>
        <p:nvSpPr>
          <p:cNvPr id="130662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The </a:t>
            </a:r>
            <a:r>
              <a:rPr lang="en-US" altLang="ko-KR" sz="2000" i="1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function point metric</a:t>
            </a: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(FP),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first proposed by Albrecht [ALB79], can be used effectively as a means for measuring the functionality delivered by a system.</a:t>
            </a:r>
          </a:p>
          <a:p>
            <a:pPr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Function points are derived using an empirical relationship based on countable (direct) measures of software's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information domain 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and assessments of </a:t>
            </a:r>
            <a:r>
              <a:rPr lang="en-US" altLang="ko-KR" sz="20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software complexity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Information domain values are defined in the following manner: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# of external inputs (EIs) </a:t>
            </a:r>
          </a:p>
          <a:p>
            <a:pPr lvl="2" eaLnBrk="1" hangingPunct="1">
              <a:spcBef>
                <a:spcPts val="300"/>
              </a:spcBef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often used to update internal logical files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# of external outputs (EOs)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# of external inquiries (EQs)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# of internal logical files (ILFs)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# of external interface files (EIFs)</a:t>
            </a:r>
          </a:p>
          <a:p>
            <a:pPr lvl="2" eaLnBrk="1" hangingPunct="1">
              <a:spcBef>
                <a:spcPts val="300"/>
              </a:spcBef>
              <a:defRPr/>
            </a:pPr>
            <a:endParaRPr lang="en-US" altLang="ko-KR" sz="22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536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2FB848-EA81-4922-B734-92D8F891FA91}" type="slidenum">
              <a:rPr lang="ko-KR" altLang="en-US" smtClean="0"/>
              <a:pPr/>
              <a:t>13</a:t>
            </a:fld>
            <a:endParaRPr lang="en-US" altLang="ko-KR"/>
          </a:p>
        </p:txBody>
      </p:sp>
      <p:sp>
        <p:nvSpPr>
          <p:cNvPr id="1307651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2411413" y="244475"/>
            <a:ext cx="4335462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Function Points</a:t>
            </a:r>
          </a:p>
        </p:txBody>
      </p:sp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813" y="1204913"/>
            <a:ext cx="8385175" cy="3336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1654175" y="4689475"/>
            <a:ext cx="6734175" cy="942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ea typeface="굴림" pitchFamily="50" charset="-127"/>
              </a:rPr>
              <a:t>FP = count total x (0.65 + 0.01 x ∑(F</a:t>
            </a:r>
            <a:r>
              <a:rPr lang="en-US" altLang="ko-KR" sz="2400" baseline="-25000" dirty="0">
                <a:solidFill>
                  <a:schemeClr val="bg1"/>
                </a:solidFill>
                <a:ea typeface="굴림" pitchFamily="50" charset="-127"/>
              </a:rPr>
              <a:t>i</a:t>
            </a:r>
            <a:r>
              <a:rPr lang="en-US" altLang="ko-KR" sz="2400" dirty="0">
                <a:solidFill>
                  <a:schemeClr val="bg1"/>
                </a:solidFill>
                <a:ea typeface="굴림" pitchFamily="50" charset="-127"/>
              </a:rPr>
              <a:t>)) </a:t>
            </a:r>
          </a:p>
          <a:p>
            <a:r>
              <a:rPr lang="en-US" altLang="ko-KR" sz="2000" dirty="0">
                <a:solidFill>
                  <a:schemeClr val="bg1"/>
                </a:solidFill>
                <a:ea typeface="굴림" pitchFamily="50" charset="-127"/>
              </a:rPr>
              <a:t>where </a:t>
            </a:r>
            <a:r>
              <a:rPr lang="en-US" altLang="ko-KR" dirty="0" err="1">
                <a:solidFill>
                  <a:schemeClr val="bg1"/>
                </a:solidFill>
                <a:ea typeface="굴림" pitchFamily="50" charset="-127"/>
              </a:rPr>
              <a:t>Fi’s</a:t>
            </a:r>
            <a:r>
              <a:rPr lang="en-US" altLang="ko-KR" dirty="0">
                <a:solidFill>
                  <a:schemeClr val="bg1"/>
                </a:solidFill>
                <a:ea typeface="굴림" pitchFamily="50" charset="-127"/>
              </a:rPr>
              <a:t> are value adjustment factors based on responses to the 14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638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B3B44E-8A7A-4576-912B-FF97E1D783DB}" type="slidenum">
              <a:rPr lang="ko-KR" altLang="en-US" smtClean="0"/>
              <a:pPr/>
              <a:t>14</a:t>
            </a:fld>
            <a:endParaRPr lang="en-US" altLang="ko-KR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55738" y="-236538"/>
            <a:ext cx="6194425" cy="36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9575" y="3359150"/>
            <a:ext cx="5827713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latin typeface="Arial" charset="0"/>
                <a:ea typeface="굴림" pitchFamily="50" charset="-127"/>
                <a:cs typeface="Arial" charset="0"/>
              </a:rPr>
              <a:t>Value Adjustment Factors (F</a:t>
            </a:r>
            <a:r>
              <a:rPr lang="en-US" altLang="ko-KR" baseline="-25000">
                <a:latin typeface="Arial" charset="0"/>
                <a:ea typeface="굴림" pitchFamily="50" charset="-127"/>
                <a:cs typeface="Arial" charset="0"/>
              </a:rPr>
              <a:t>i</a:t>
            </a:r>
            <a:r>
              <a:rPr lang="en-US" altLang="ko-KR">
                <a:latin typeface="Arial" charset="0"/>
                <a:ea typeface="굴림" pitchFamily="50" charset="-127"/>
                <a:cs typeface="Arial" charset="0"/>
              </a:rPr>
              <a:t>)</a:t>
            </a:r>
            <a:endParaRPr lang="ko-KR" altLang="en-US" baseline="-25000">
              <a:latin typeface="Arial" charset="0"/>
              <a:ea typeface="굴림" pitchFamily="50" charset="-127"/>
              <a:cs typeface="Arial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1613" y="1308100"/>
            <a:ext cx="8686800" cy="3998913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Following questions should be answered using a scale that ranges from 0 (not important) to 5 (absolutely essential)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Does the system require reliable backup and recovery?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Are specialized data communications required to transfer information to or from the application?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Are there distributed processing functions?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Is performance critical?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Will the system run in an existing, heavily utilized operational environment?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Does the system require on-line data entry?</a:t>
            </a:r>
          </a:p>
          <a:p>
            <a:pPr lvl="1">
              <a:defRPr/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Does the on-line data entry require the input transaction to be built over multiple screens or operations?</a:t>
            </a:r>
          </a:p>
        </p:txBody>
      </p:sp>
      <p:sp>
        <p:nvSpPr>
          <p:cNvPr id="1741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741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A6A1BC9-BCDB-4210-9FF4-22B7153484FF}" type="slidenum">
              <a:rPr lang="ko-KR" altLang="en-US" smtClean="0"/>
              <a:pPr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8435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ADC29B-451A-44F0-9B62-6C1B6E8E0C6E}" type="slidenum">
              <a:rPr lang="ko-KR" altLang="en-US" smtClean="0"/>
              <a:pPr/>
              <a:t>16</a:t>
            </a:fld>
            <a:endParaRPr lang="en-US" altLang="ko-KR"/>
          </a:p>
        </p:txBody>
      </p:sp>
      <p:sp>
        <p:nvSpPr>
          <p:cNvPr id="13230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Usage of Function Points</a:t>
            </a:r>
          </a:p>
        </p:txBody>
      </p:sp>
      <p:sp>
        <p:nvSpPr>
          <p:cNvPr id="13230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152525"/>
            <a:ext cx="8229600" cy="3998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Assume that </a:t>
            </a:r>
          </a:p>
          <a:p>
            <a:pPr lvl="1" eaLnBrk="1" hangingPunct="1">
              <a:defRPr/>
            </a:pPr>
            <a:r>
              <a:rPr lang="en-US" altLang="ko-KR" sz="1600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past data 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indicates that one FP translates into 60 lines of code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12 FPs are produced for each person-month of effort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Past projects have found an average of 3 errors per FP during analysis and design reviews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4 errors per FP during unit and integration testing</a:t>
            </a:r>
          </a:p>
          <a:p>
            <a:pPr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These data can help SW engineers assess the completeness of their review and testing activities.  </a:t>
            </a:r>
          </a:p>
          <a:p>
            <a:pPr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Suppose that </a:t>
            </a:r>
            <a:r>
              <a:rPr lang="en-US" altLang="ko-KR" sz="18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Safehome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 has 56 FPs 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56 =50 x [0.65 +0.01 x 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∑(</a:t>
            </a:r>
            <a:r>
              <a:rPr lang="en-US" altLang="ko-KR" sz="16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1600" b="1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 (= 46)]</a:t>
            </a:r>
          </a:p>
          <a:p>
            <a:pPr eaLnBrk="1" hangingPunct="1">
              <a:defRPr/>
            </a:pP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Safehome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will be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Expected size: 60 lines * 56 =3360 lines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Expected required man-month:  1/12 MM * 56 = 4.7 MM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Total analysis/design errors expected: 3 * 56 = 168 errors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Total testing errors expected: 4 * 56 = 224 errors</a:t>
            </a:r>
          </a:p>
          <a:p>
            <a:pPr lvl="1" eaLnBrk="1" hangingPunct="1">
              <a:defRPr/>
            </a:pPr>
            <a:endParaRPr lang="en-US" altLang="ko-KR" sz="16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2" eaLnBrk="1" hangingPunct="1">
              <a:defRPr/>
            </a:pPr>
            <a:endParaRPr lang="en-US" altLang="ko-KR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 eaLnBrk="1" hangingPunct="1">
              <a:defRPr/>
            </a:pPr>
            <a:endParaRPr lang="en-US" altLang="ko-KR" sz="16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endParaRPr lang="en-US" altLang="ko-KR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1945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F665BCB-32EF-4346-938A-4333279B8AF8}" type="slidenum">
              <a:rPr lang="ko-KR" altLang="en-US" smtClean="0"/>
              <a:pPr/>
              <a:t>17</a:t>
            </a:fld>
            <a:endParaRPr lang="en-US" altLang="ko-KR"/>
          </a:p>
        </p:txBody>
      </p:sp>
      <p:sp>
        <p:nvSpPr>
          <p:cNvPr id="130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50863" y="244475"/>
            <a:ext cx="8062912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for the Design Model</a:t>
            </a:r>
          </a:p>
        </p:txBody>
      </p:sp>
      <p:sp>
        <p:nvSpPr>
          <p:cNvPr id="13086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80988" y="1319213"/>
            <a:ext cx="8686800" cy="3352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The design of engineering products (i.e. a new aircraft, a new computer chip, or a new building) is conducted with well-defined design metrics for various design qualities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Ex 1. Quality does matter, see AMD’s success </a:t>
            </a: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in 2000~2006.</a:t>
            </a: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Ex 2. Pentium X should have 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Heat dispense ratio &lt; 100 Kcal/s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Should operate 99.99% time correctly at 10 </a:t>
            </a:r>
            <a:r>
              <a:rPr lang="en-US" altLang="ko-KR" sz="18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Ghz</a:t>
            </a:r>
            <a:endParaRPr lang="en-US" altLang="ko-KR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Should consume less than 100 watts/h electric power 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The design of complex software, however, often proceeds with virtually no metric measurement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Although design metric is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not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perfect, design without metric is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not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acceptable.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048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4B73D4-B9CD-448C-90B0-47D917316730}" type="slidenum">
              <a:rPr lang="ko-KR" altLang="en-US" smtClean="0"/>
              <a:pPr/>
              <a:t>18</a:t>
            </a:fld>
            <a:endParaRPr lang="en-US" altLang="ko-KR"/>
          </a:p>
        </p:txBody>
      </p:sp>
      <p:sp>
        <p:nvSpPr>
          <p:cNvPr id="130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50863" y="244475"/>
            <a:ext cx="8062912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dirty="0">
                <a:latin typeface="Arial" pitchFamily="34" charset="0"/>
                <a:ea typeface="굴림" pitchFamily="50" charset="-127"/>
                <a:cs typeface="Arial" pitchFamily="34" charset="0"/>
              </a:rPr>
              <a:t>Architectural Design Metrics</a:t>
            </a:r>
          </a:p>
        </p:txBody>
      </p:sp>
      <p:sp>
        <p:nvSpPr>
          <p:cNvPr id="13086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033463"/>
            <a:ext cx="8229600" cy="39989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Architectural design metrics put emphasis on the effectiveness of modules or components within the architecture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These metrics are “black box”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Architectural design metrics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Structural complexity of a module m= (# of fan-out of module m)</a:t>
            </a:r>
            <a:r>
              <a:rPr lang="en-US" altLang="ko-KR" baseline="30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</a:p>
          <a:p>
            <a:pPr lvl="2"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Fan-out is the number of modules immediately subordinate to the module</a:t>
            </a:r>
          </a:p>
          <a:p>
            <a:pPr lvl="3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i.e. the # of modules that are directly invoked by the module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Data complexity = (# of input &amp; output variables)/ (fan-out+1)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System complexity = structural complexity + data complexity </a:t>
            </a:r>
          </a:p>
          <a:p>
            <a:pPr eaLnBrk="1" hangingPunct="1">
              <a:defRPr/>
            </a:pP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150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B5727C6-5048-4D2B-A3F4-C07DE618E46C}" type="slidenum">
              <a:rPr lang="ko-KR" altLang="en-US" smtClean="0"/>
              <a:pPr/>
              <a:t>19</a:t>
            </a:fld>
            <a:endParaRPr lang="en-US" altLang="ko-KR"/>
          </a:p>
        </p:txBody>
      </p:sp>
      <p:sp>
        <p:nvSpPr>
          <p:cNvPr id="1308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50863" y="244475"/>
            <a:ext cx="8062912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200" dirty="0">
                <a:latin typeface="Arial" pitchFamily="34" charset="0"/>
                <a:ea typeface="굴림" pitchFamily="50" charset="-127"/>
                <a:cs typeface="Arial" pitchFamily="34" charset="0"/>
              </a:rPr>
              <a:t>Morphology Metrics</a:t>
            </a:r>
          </a:p>
        </p:txBody>
      </p:sp>
      <p:sp>
        <p:nvSpPr>
          <p:cNvPr id="13086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033463"/>
            <a:ext cx="8229600" cy="39989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Morphology metrics: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a function of the number of modules and the number of interfaces between modules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Size = n + a 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Depth = the longest path from the root node to a leaf node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Width =maximum # of nodes at any one level of the architecture</a:t>
            </a:r>
          </a:p>
          <a:p>
            <a:pPr lvl="1"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Arc-to-node ratio</a:t>
            </a:r>
          </a:p>
        </p:txBody>
      </p:sp>
      <p:pic>
        <p:nvPicPr>
          <p:cNvPr id="21510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06500" y="3074988"/>
            <a:ext cx="6916738" cy="287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A27190A1-26B2-9311-C95E-5D8DB9E1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53" y="2237955"/>
            <a:ext cx="4559451" cy="97350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2610" y="-118138"/>
            <a:ext cx="8560676" cy="1016000"/>
          </a:xfrm>
        </p:spPr>
        <p:txBody>
          <a:bodyPr/>
          <a:lstStyle/>
          <a:p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Design Structure Quality Index (DSQI)</a:t>
            </a:r>
            <a:endParaRPr lang="ko-KR" altLang="en-US" dirty="0">
              <a:latin typeface="Arial" charset="0"/>
              <a:ea typeface="굴림" pitchFamily="50" charset="-127"/>
              <a:cs typeface="Arial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8732" y="807535"/>
            <a:ext cx="8434554" cy="3998913"/>
          </a:xfrm>
        </p:spPr>
        <p:txBody>
          <a:bodyPr/>
          <a:lstStyle/>
          <a:p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Developed by U.S. Air Force Systems Command </a:t>
            </a:r>
          </a:p>
          <a:p>
            <a:r>
              <a:rPr lang="en-US" altLang="ko-KR" dirty="0">
                <a:latin typeface="Arial" charset="0"/>
                <a:ea typeface="굴림" pitchFamily="50" charset="-127"/>
                <a:cs typeface="Arial" charset="0"/>
              </a:rPr>
              <a:t>It rates how well a SW design is 1) structured, 2) modularized, and 3) maintainable, producing a score from 0 (worst) to 1 (best) from the following factors:</a:t>
            </a:r>
          </a:p>
          <a:p>
            <a:pPr lvl="1"/>
            <a:endParaRPr lang="ko-KR" altLang="en-US" baseline="-25000" dirty="0">
              <a:latin typeface="Arial" charset="0"/>
              <a:ea typeface="굴림" pitchFamily="50" charset="-127"/>
              <a:cs typeface="Arial" charset="0"/>
            </a:endParaRPr>
          </a:p>
        </p:txBody>
      </p:sp>
      <p:sp>
        <p:nvSpPr>
          <p:cNvPr id="3686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3686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D2238F1-06EE-4E68-971F-D49DA5C5FD69}" type="slidenum">
              <a:rPr lang="ko-KR" altLang="en-US" smtClean="0">
                <a:cs typeface="Arial" charset="0"/>
              </a:rPr>
              <a:pPr/>
              <a:t>20</a:t>
            </a:fld>
            <a:endParaRPr lang="en-US" altLang="ko-KR">
              <a:cs typeface="Arial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F3809FD-8952-46E5-E010-645E1C5D0F3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238976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26828753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982920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Evaluation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40292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5937A68-1EF1-D09E-70C6-EB5D2AFB137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238976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7202490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541049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Interfaces between modules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Dependency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787357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07638BA-5A0A-9C0B-2D4F-F3233EFE6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80865"/>
              </p:ext>
            </p:extLst>
          </p:nvPr>
        </p:nvGraphicFramePr>
        <p:xfrm>
          <a:off x="914400" y="3222081"/>
          <a:ext cx="8229600" cy="2560320"/>
        </p:xfrm>
        <a:graphic>
          <a:graphicData uri="http://schemas.openxmlformats.org/drawingml/2006/table">
            <a:tbl>
              <a:tblPr/>
              <a:tblGrid>
                <a:gridCol w="3131946">
                  <a:extLst>
                    <a:ext uri="{9D8B030D-6E8A-4147-A177-3AD203B41FA5}">
                      <a16:colId xmlns:a16="http://schemas.microsoft.com/office/drawing/2014/main" val="2167606324"/>
                    </a:ext>
                  </a:extLst>
                </a:gridCol>
                <a:gridCol w="5097654">
                  <a:extLst>
                    <a:ext uri="{9D8B030D-6E8A-4147-A177-3AD203B41FA5}">
                      <a16:colId xmlns:a16="http://schemas.microsoft.com/office/drawing/2014/main" val="43750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Evaluation Factor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017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# of modules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Design modularity and separation of concerns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04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Interfaces between modules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Dependency complexity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50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Data structures used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Data clarity and organization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46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Global/shared data usage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Risk of side-effects / tight coupling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93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Component reuse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Efficiency and maintainability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65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Known design flaws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Problems found during review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8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961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2531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7F04BE-429E-4650-A0EF-F9E9EE9E4234}" type="slidenum">
              <a:rPr lang="ko-KR" altLang="en-US" smtClean="0"/>
              <a:pPr/>
              <a:t>21</a:t>
            </a:fld>
            <a:endParaRPr lang="en-US" altLang="ko-KR"/>
          </a:p>
        </p:txBody>
      </p:sp>
      <p:sp>
        <p:nvSpPr>
          <p:cNvPr id="130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31900" y="244475"/>
            <a:ext cx="6702425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Metrics for OO Design-I</a:t>
            </a:r>
          </a:p>
        </p:txBody>
      </p:sp>
      <p:sp>
        <p:nvSpPr>
          <p:cNvPr id="13096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288" y="1006475"/>
            <a:ext cx="8486775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Whitmire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[WHI97] describes nine distinct and measurable characteristics of an OO design: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Size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Size is defined in terms of the following four views: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altLang="ko-KR" sz="1400" dirty="0">
                <a:latin typeface="Arial" pitchFamily="34" charset="0"/>
                <a:ea typeface="굴림" pitchFamily="50" charset="-127"/>
                <a:cs typeface="Arial" pitchFamily="34" charset="0"/>
              </a:rPr>
              <a:t>Population: a static count of OO entities such as classes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altLang="ko-KR" sz="1400" dirty="0">
                <a:latin typeface="Arial" pitchFamily="34" charset="0"/>
                <a:ea typeface="굴림" pitchFamily="50" charset="-127"/>
                <a:cs typeface="Arial" pitchFamily="34" charset="0"/>
              </a:rPr>
              <a:t>Volume: a dynamic count of OO entities such as objects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altLang="ko-KR" sz="1400" dirty="0">
                <a:latin typeface="Arial" pitchFamily="34" charset="0"/>
                <a:ea typeface="굴림" pitchFamily="50" charset="-127"/>
                <a:cs typeface="Arial" pitchFamily="34" charset="0"/>
              </a:rPr>
              <a:t>Length: a measure of a chain of interconnected design elements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altLang="ko-KR" sz="1400" dirty="0">
                <a:latin typeface="Arial" pitchFamily="34" charset="0"/>
                <a:ea typeface="굴림" pitchFamily="50" charset="-127"/>
                <a:cs typeface="Arial" pitchFamily="34" charset="0"/>
              </a:rPr>
              <a:t>Functionality: value delivered to the customer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Complexity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How classes of an OO design are interrelated to one another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Coupling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The physical connections between elements of the OO design</a:t>
            </a:r>
          </a:p>
          <a:p>
            <a:pPr lvl="3" eaLnBrk="1" hangingPunct="1">
              <a:lnSpc>
                <a:spcPct val="90000"/>
              </a:lnSpc>
              <a:defRPr/>
            </a:pPr>
            <a:r>
              <a:rPr lang="en-US" altLang="ko-KR" sz="1400" dirty="0">
                <a:latin typeface="Arial" pitchFamily="34" charset="0"/>
                <a:ea typeface="굴림" pitchFamily="50" charset="-127"/>
                <a:cs typeface="Arial" pitchFamily="34" charset="0"/>
              </a:rPr>
              <a:t>The # of collaborations between classes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Sufficiency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“the degree to which an </a:t>
            </a:r>
            <a:r>
              <a:rPr lang="en-US" altLang="ko-KR" sz="1600" u="sng" dirty="0">
                <a:latin typeface="Arial" pitchFamily="34" charset="0"/>
                <a:ea typeface="굴림" pitchFamily="50" charset="-127"/>
                <a:cs typeface="Arial" pitchFamily="34" charset="0"/>
              </a:rPr>
              <a:t>abstraction</a:t>
            </a: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 possesses the features required of it, ... from the point of view of the current application.”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Whether the abstraction (class) possesses the features required of it </a:t>
            </a:r>
          </a:p>
          <a:p>
            <a:pPr lvl="2" eaLnBrk="1" hangingPunct="1">
              <a:lnSpc>
                <a:spcPct val="90000"/>
              </a:lnSpc>
              <a:defRPr/>
            </a:pPr>
            <a:endParaRPr lang="en-US" altLang="ko-KR" sz="16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3555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59B9788-B838-44D4-A79D-786271C8F04B}" type="slidenum">
              <a:rPr lang="ko-KR" altLang="en-US" smtClean="0"/>
              <a:pPr/>
              <a:t>22</a:t>
            </a:fld>
            <a:endParaRPr lang="en-US" altLang="ko-KR"/>
          </a:p>
        </p:txBody>
      </p:sp>
      <p:sp>
        <p:nvSpPr>
          <p:cNvPr id="131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39825" y="244475"/>
            <a:ext cx="686435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for OO Design-II</a:t>
            </a:r>
          </a:p>
        </p:txBody>
      </p:sp>
      <p:sp>
        <p:nvSpPr>
          <p:cNvPr id="131072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203325"/>
            <a:ext cx="8229600" cy="3998913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Completeness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An indirect implication about the degree to which the abstraction or design component can be reused</a:t>
            </a:r>
          </a:p>
          <a:p>
            <a:pPr lvl="1" eaLnBrk="1" hangingPunct="1"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Cohesion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The degree to which all operations working together to achieve a single, well-defined purpose</a:t>
            </a:r>
          </a:p>
          <a:p>
            <a:pPr lvl="1" eaLnBrk="1" hangingPunct="1"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Primitiveness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Applied to both operations and classes, the degree to which an operation is atomic</a:t>
            </a:r>
          </a:p>
          <a:p>
            <a:pPr lvl="1" eaLnBrk="1" hangingPunct="1"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Similarity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The degree to which two or more classes are similar in terms of their structure, function, behavior, or purpose</a:t>
            </a:r>
          </a:p>
          <a:p>
            <a:pPr lvl="1" eaLnBrk="1" hangingPunct="1"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Volatility</a:t>
            </a:r>
          </a:p>
          <a:p>
            <a:pPr lvl="2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Measures the likelihood that a change will occur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457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2BD879-C753-42D5-9E0F-33E6635F129B}" type="slidenum">
              <a:rPr lang="ko-KR" altLang="en-US" smtClean="0"/>
              <a:pPr/>
              <a:t>23</a:t>
            </a:fld>
            <a:endParaRPr lang="en-US" altLang="ko-KR"/>
          </a:p>
        </p:txBody>
      </p:sp>
      <p:sp>
        <p:nvSpPr>
          <p:cNvPr id="1311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44600" y="355600"/>
            <a:ext cx="68326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Distinguishing Characteristics</a:t>
            </a:r>
          </a:p>
        </p:txBody>
      </p:sp>
      <p:sp>
        <p:nvSpPr>
          <p:cNvPr id="13117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44475" y="1447800"/>
            <a:ext cx="8710613" cy="28749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Encapsulation</a:t>
            </a:r>
            <a:endParaRPr lang="en-US" altLang="ko-KR" sz="2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packaging of data and processing</a:t>
            </a:r>
          </a:p>
          <a:p>
            <a:pPr eaLnBrk="1" hangingPunct="1">
              <a:defRPr/>
            </a:pP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Information hiding</a:t>
            </a:r>
            <a:endParaRPr lang="en-US" altLang="ko-KR" sz="2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way in which information about operational details is hidden by a secure interface</a:t>
            </a:r>
          </a:p>
          <a:p>
            <a:pPr eaLnBrk="1" hangingPunct="1">
              <a:defRPr/>
            </a:pP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Inheritance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manner in which the responsibilities of one class are propagated to another</a:t>
            </a:r>
          </a:p>
          <a:p>
            <a:pPr eaLnBrk="1" hangingPunct="1">
              <a:defRPr/>
            </a:pP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Abstraction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mechanism that allows a design to focus on essential details</a:t>
            </a:r>
          </a:p>
          <a:p>
            <a:pPr eaLnBrk="1" hangingPunct="1">
              <a:defRPr/>
            </a:pPr>
            <a:r>
              <a:rPr lang="en-US" altLang="ko-KR" sz="2000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Localization</a:t>
            </a:r>
            <a:endParaRPr lang="en-US" altLang="ko-KR" sz="2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	the way in which information is concentrated in a program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ko-KR" sz="2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1039813" y="950913"/>
            <a:ext cx="7216775" cy="584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  <a:ea typeface="굴림" pitchFamily="50" charset="-127"/>
              </a:rPr>
              <a:t>Berard [BER95] argues that the following characteristics require </a:t>
            </a:r>
          </a:p>
          <a:p>
            <a:r>
              <a:rPr lang="en-US" altLang="ko-KR">
                <a:solidFill>
                  <a:schemeClr val="bg1"/>
                </a:solidFill>
                <a:ea typeface="굴림" pitchFamily="50" charset="-127"/>
              </a:rPr>
              <a:t>that special OO metrics be developed: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560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B8C72E9-7C2D-496D-920D-78E301EA50E6}" type="slidenum">
              <a:rPr lang="ko-KR" altLang="en-US" smtClean="0"/>
              <a:pPr/>
              <a:t>24</a:t>
            </a:fld>
            <a:endParaRPr lang="en-US" altLang="ko-KR"/>
          </a:p>
        </p:txBody>
      </p:sp>
      <p:sp>
        <p:nvSpPr>
          <p:cNvPr id="1312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2313" y="244475"/>
            <a:ext cx="51562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Class-Oriented Metrics</a:t>
            </a:r>
          </a:p>
        </p:txBody>
      </p:sp>
      <p:sp>
        <p:nvSpPr>
          <p:cNvPr id="13127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50875" y="1519238"/>
            <a:ext cx="7778750" cy="3082925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 sz="2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Weighted Methods per Class (WMC)</a:t>
            </a:r>
          </a:p>
          <a:p>
            <a:pPr lvl="1" eaLnBrk="1" hangingPunct="1">
              <a:defRPr/>
            </a:pP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Weighted methods per class ∑C</a:t>
            </a:r>
            <a:r>
              <a:rPr lang="en-US" altLang="ko-KR" sz="1800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where C</a:t>
            </a:r>
            <a:r>
              <a:rPr lang="en-US" altLang="ko-KR" sz="1800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 </a:t>
            </a: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is a normalized complexity 0~1 for method </a:t>
            </a:r>
            <a:r>
              <a:rPr lang="en-US" altLang="ko-KR" sz="18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(e.g., cyclometric complexity) </a:t>
            </a:r>
          </a:p>
          <a:p>
            <a:pPr lvl="1" eaLnBrk="1" hangingPunct="1">
              <a:defRPr/>
            </a:pP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The # of methods and their complexity are reasonable indicators of the amount of effort required to implement and test a class</a:t>
            </a:r>
          </a:p>
          <a:p>
            <a:pPr lvl="1" eaLnBrk="1" hangingPunct="1">
              <a:defRPr/>
            </a:pP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As the # of methods grows for a given class, it is likely to become more application specific -&gt; less reusability</a:t>
            </a:r>
          </a:p>
          <a:p>
            <a:pPr lvl="1" eaLnBrk="1" hangingPunct="1">
              <a:defRPr/>
            </a:pPr>
            <a:r>
              <a:rPr lang="en-US" altLang="ko-KR" sz="1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Counting the # of methods is not trivial</a:t>
            </a:r>
            <a:endParaRPr lang="en-US" altLang="ko-KR" sz="2400" baseline="-25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28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Depth of the inheritance tree (DIT)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 DIT grow, potential difficulties when attempting to predict the behavior of a class</a:t>
            </a:r>
          </a:p>
        </p:txBody>
      </p:sp>
      <p:sp>
        <p:nvSpPr>
          <p:cNvPr id="1312772" name="Rectangle 4"/>
          <p:cNvSpPr>
            <a:spLocks noChangeArrowheads="1"/>
          </p:cNvSpPr>
          <p:nvPr/>
        </p:nvSpPr>
        <p:spPr bwMode="auto">
          <a:xfrm>
            <a:off x="963613" y="977900"/>
            <a:ext cx="7202355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altLang="ko-KR" sz="2400" b="0" i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Proposed by </a:t>
            </a:r>
            <a:r>
              <a:rPr lang="en-US" altLang="ko-KR" sz="2400" b="0" i="1" dirty="0" err="1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Chidamber</a:t>
            </a:r>
            <a:r>
              <a:rPr lang="en-US" altLang="ko-KR" sz="2400" b="0" i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 and </a:t>
            </a:r>
            <a:r>
              <a:rPr lang="en-US" altLang="ko-KR" sz="2400" b="0" i="1" dirty="0" err="1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Kemerer</a:t>
            </a:r>
            <a:r>
              <a:rPr lang="en-US" altLang="ko-KR" sz="2400" b="0" i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 (CK metrics suite)</a:t>
            </a:r>
            <a:r>
              <a:rPr lang="en-US" altLang="ko-KR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:</a:t>
            </a:r>
            <a:endParaRPr lang="en-US" altLang="ko-KR" sz="2400" b="0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0950" y="2736850"/>
            <a:ext cx="2813050" cy="335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6627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6628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500D9FF-0805-40FA-8FF0-04FE9B7591E0}" type="slidenum">
              <a:rPr lang="ko-KR" altLang="en-US" smtClean="0"/>
              <a:pPr/>
              <a:t>25</a:t>
            </a:fld>
            <a:endParaRPr lang="en-US" altLang="ko-KR"/>
          </a:p>
        </p:txBody>
      </p:sp>
      <p:sp>
        <p:nvSpPr>
          <p:cNvPr id="1312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2313" y="244475"/>
            <a:ext cx="51562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Class-Oriented Metrics</a:t>
            </a:r>
          </a:p>
        </p:txBody>
      </p:sp>
      <p:sp>
        <p:nvSpPr>
          <p:cNvPr id="13127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6213" y="1054268"/>
            <a:ext cx="8694737" cy="3082925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Number of children/subclasses (NOC)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 NOC grows, more reuse, but the abstraction of the parent class is diluted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 NOC grows, the amount of testing will also increase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Coupling between object classes (CBO)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CBO is the # of collaborations listed on CRC index cards 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 CBO increases, reusability decreases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Response for a class (RFC)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 set of methods that can be executed in response 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to a request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As RFC increases, test sequence grows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Lack of cohesion in methods (LCOM)</a:t>
            </a:r>
          </a:p>
          <a:p>
            <a:pPr lvl="1" eaLnBrk="1" hangingPunct="1">
              <a:defRPr/>
            </a:pPr>
            <a:r>
              <a:rPr lang="en-US" altLang="ko-KR" sz="1600" dirty="0">
                <a:latin typeface="Arial" pitchFamily="34" charset="0"/>
                <a:ea typeface="굴림" pitchFamily="50" charset="-127"/>
                <a:cs typeface="Arial" pitchFamily="34" charset="0"/>
              </a:rPr>
              <a:t>A # of methods that access same attributes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바닥글 개체 틀 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7651" name="슬라이드 번호 개체 틀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212B29-2760-469A-885E-EFEB0D04B71D}" type="slidenum">
              <a:rPr lang="ko-KR" altLang="en-US" smtClean="0"/>
              <a:pPr/>
              <a:t>26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457200" y="244475"/>
            <a:ext cx="8229600" cy="5603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900" i="1" dirty="0">
                <a:latin typeface="Arial" pitchFamily="34" charset="0"/>
                <a:ea typeface="굴림" pitchFamily="50" charset="-127"/>
                <a:cs typeface="Arial" pitchFamily="34" charset="0"/>
              </a:rPr>
              <a:t>Applying CK Metrics</a:t>
            </a:r>
            <a:endParaRPr lang="ko-KR" altLang="en-US" sz="29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457200" y="795338"/>
            <a:ext cx="4164013" cy="4625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b="1">
                <a:latin typeface="Arial" pitchFamily="34" charset="0"/>
                <a:ea typeface="굴림" pitchFamily="50" charset="-127"/>
                <a:cs typeface="Arial" pitchFamily="34" charset="0"/>
              </a:rPr>
              <a:t>The scene: </a:t>
            </a:r>
          </a:p>
          <a:p>
            <a:pPr lvl="1" eaLnBrk="1" hangingPunct="1">
              <a:defRPr/>
            </a:pP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Vinod's cubicle.</a:t>
            </a:r>
            <a:endParaRPr lang="ko-KR" altLang="en-US" sz="140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>
                <a:latin typeface="Arial" pitchFamily="34" charset="0"/>
                <a:ea typeface="굴림" pitchFamily="50" charset="-127"/>
                <a:cs typeface="Arial" pitchFamily="34" charset="0"/>
              </a:rPr>
              <a:t>The players: </a:t>
            </a:r>
          </a:p>
          <a:p>
            <a:pPr lvl="1" eaLnBrk="1" hangingPunct="1">
              <a:defRPr/>
            </a:pPr>
            <a:r>
              <a:rPr lang="en-US" altLang="ko-KR" sz="140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, </a:t>
            </a:r>
            <a:r>
              <a:rPr lang="en-US" altLang="ko-KR" sz="140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Jamie</a:t>
            </a: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, </a:t>
            </a:r>
            <a:r>
              <a:rPr lang="en-US" altLang="ko-KR" sz="140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Shakira</a:t>
            </a: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, </a:t>
            </a:r>
            <a:r>
              <a:rPr lang="en-US" altLang="ko-KR" sz="140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Ed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	members of the </a:t>
            </a:r>
            <a:r>
              <a:rPr lang="en-US" altLang="ko-KR" sz="1400" i="1">
                <a:latin typeface="Arial" pitchFamily="34" charset="0"/>
                <a:ea typeface="굴림" pitchFamily="50" charset="-127"/>
                <a:cs typeface="Arial" pitchFamily="34" charset="0"/>
              </a:rPr>
              <a:t>SafeHome </a:t>
            </a:r>
            <a:r>
              <a:rPr lang="en-US" altLang="ko-KR" sz="1400">
                <a:latin typeface="Arial" pitchFamily="34" charset="0"/>
                <a:ea typeface="굴림" pitchFamily="50" charset="-127"/>
                <a:cs typeface="Arial" pitchFamily="34" charset="0"/>
              </a:rPr>
              <a:t>software engineering team, who are continuing work on component-level design and test case design.</a:t>
            </a:r>
            <a:endParaRPr lang="ko-KR" altLang="en-US" sz="140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>
                <a:latin typeface="Arial" pitchFamily="34" charset="0"/>
                <a:ea typeface="굴림" pitchFamily="50" charset="-127"/>
                <a:cs typeface="Arial" pitchFamily="34" charset="0"/>
              </a:rPr>
              <a:t>The conversation:</a:t>
            </a:r>
            <a:endParaRPr lang="ko-KR" altLang="en-US" sz="180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800" b="1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>
                <a:latin typeface="Arial" pitchFamily="34" charset="0"/>
                <a:ea typeface="굴림" pitchFamily="50" charset="-127"/>
                <a:cs typeface="Arial" pitchFamily="34" charset="0"/>
              </a:rPr>
              <a:t>Did you guys get a chance to read the description of the CK metrics suite I sent you on Wednesday and make those measurements?</a:t>
            </a:r>
            <a:endParaRPr lang="ko-KR" altLang="en-US" sz="180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endParaRPr lang="ko-KR" altLang="en-US" sz="180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half" idx="4294967295"/>
          </p:nvPr>
        </p:nvSpPr>
        <p:spPr>
          <a:xfrm>
            <a:off x="4648200" y="795338"/>
            <a:ext cx="4167188" cy="4625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Shakira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Wasn't too complicated. I went back to my UML class and sequence diagrams, like you suggested, and got rough counts for DIT, RFC, and LCOM. I couldn't find the CRC model, so I didn't count CBO.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Jamie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 (smiling):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You couldn't find the CRC model because I had it.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Shakira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That's what I love about this team, superb communication.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I did my counts . . . did you guys develop numbers for the CK metrics?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7655" name="바닥글 개체 틀 4"/>
          <p:cNvSpPr txBox="1">
            <a:spLocks noGrp="1"/>
          </p:cNvSpPr>
          <p:nvPr/>
        </p:nvSpPr>
        <p:spPr bwMode="auto">
          <a:xfrm>
            <a:off x="933450" y="5759450"/>
            <a:ext cx="1500188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50000"/>
              </a:spcBef>
            </a:pPr>
            <a:endParaRPr lang="en-US" altLang="ko-KR" sz="1000" b="0" dirty="0">
              <a:solidFill>
                <a:schemeClr val="bg1"/>
              </a:solidFill>
              <a:latin typeface="Avant Garde" charset="0"/>
              <a:ea typeface="굴림" pitchFamily="50" charset="-127"/>
            </a:endParaRPr>
          </a:p>
        </p:txBody>
      </p:sp>
      <p:sp>
        <p:nvSpPr>
          <p:cNvPr id="27656" name="슬라이드 번호 개체 틀 5"/>
          <p:cNvSpPr txBox="1">
            <a:spLocks noGrp="1"/>
          </p:cNvSpPr>
          <p:nvPr/>
        </p:nvSpPr>
        <p:spPr bwMode="auto">
          <a:xfrm>
            <a:off x="8239125" y="5554663"/>
            <a:ext cx="63182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</a:pPr>
            <a:fld id="{AF683BD6-DE8F-486F-AD3D-E48B08BD57CA}" type="slidenum">
              <a:rPr lang="ko-KR" altLang="en-US" sz="1200" b="0">
                <a:latin typeface="Arial" charset="0"/>
                <a:ea typeface="굴림" pitchFamily="50" charset="-127"/>
              </a:rPr>
              <a:pPr algn="r" eaLnBrk="1" hangingPunct="1">
                <a:lnSpc>
                  <a:spcPct val="100000"/>
                </a:lnSpc>
              </a:pPr>
              <a:t>26</a:t>
            </a:fld>
            <a:endParaRPr lang="en-US" altLang="ko-KR" sz="1200" b="0">
              <a:latin typeface="Arial" charset="0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바닥글 개체 틀 1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8675" name="슬라이드 번호 개체 틀 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D194D94-41EE-4A19-80AA-AAAB2A811E40}" type="slidenum">
              <a:rPr lang="ko-KR" altLang="en-US" smtClean="0"/>
              <a:pPr/>
              <a:t>27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317500" y="795338"/>
            <a:ext cx="4433888" cy="46259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(Jamie and Ed nod in the affirmative.)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Jamie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Since I had the CRC cards, I took a look at CBO, and it looked pretty uniform across most of the classes. There was one exception, which I noted.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Ed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There are a few classes where RFC is pretty high, compared with the averages . . . maybe we should take a look at simplifying them.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Jamie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Maybe yes, maybe no. I'm still concerned about time, and I don't want to fix stuff that isn't really broken.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I agree with that. Maybe we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half" idx="4294967295"/>
          </p:nvPr>
        </p:nvSpPr>
        <p:spPr>
          <a:xfrm>
            <a:off x="4443413" y="676275"/>
            <a:ext cx="4371975" cy="46259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	should look for classes that have bad numbers in </a:t>
            </a:r>
            <a:r>
              <a:rPr lang="en-US" altLang="ko-KR" sz="1800" u="sng" dirty="0">
                <a:latin typeface="Arial" pitchFamily="34" charset="0"/>
                <a:ea typeface="굴림" pitchFamily="50" charset="-127"/>
                <a:cs typeface="Arial" pitchFamily="34" charset="0"/>
              </a:rPr>
              <a:t>at least two or more of the CK metrics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. Kind of two strikes and you're modified.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Shakira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 (looking over Ed's list of classes with high RFC):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Look, see this class? It's got a high LCOM as well as a high RFC. Two strikes?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Yeah I think so . . . it'll be difficult to implement because of complexity and difficult to test for the same reason. Probably worth designing two separate classes to achieve the same behavior.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Jamie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You think modifying it'll save us time? 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altLang="ko-KR" sz="1800" b="1" dirty="0" err="1">
                <a:solidFill>
                  <a:srgbClr val="FF6699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Vinod</a:t>
            </a:r>
            <a:r>
              <a:rPr lang="en-US" altLang="ko-KR" sz="1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: </a:t>
            </a:r>
            <a:r>
              <a:rPr lang="en-US" altLang="ko-KR" sz="1800" dirty="0">
                <a:latin typeface="Arial" pitchFamily="34" charset="0"/>
                <a:ea typeface="굴림" pitchFamily="50" charset="-127"/>
                <a:cs typeface="Arial" pitchFamily="34" charset="0"/>
              </a:rPr>
              <a:t>Over the long haul, yes.</a:t>
            </a: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defRPr/>
            </a:pPr>
            <a:endParaRPr lang="ko-KR" altLang="en-US" sz="18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8678" name="바닥글 개체 틀 4"/>
          <p:cNvSpPr txBox="1">
            <a:spLocks noGrp="1"/>
          </p:cNvSpPr>
          <p:nvPr/>
        </p:nvSpPr>
        <p:spPr bwMode="auto">
          <a:xfrm>
            <a:off x="933450" y="5759450"/>
            <a:ext cx="1500188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50000"/>
              </a:spcBef>
            </a:pPr>
            <a:endParaRPr lang="en-US" altLang="ko-KR" sz="1000" b="0" dirty="0">
              <a:solidFill>
                <a:schemeClr val="bg1"/>
              </a:solidFill>
              <a:latin typeface="Avant Garde" charset="0"/>
              <a:ea typeface="굴림" pitchFamily="50" charset="-127"/>
            </a:endParaRPr>
          </a:p>
        </p:txBody>
      </p:sp>
      <p:sp>
        <p:nvSpPr>
          <p:cNvPr id="28679" name="슬라이드 번호 개체 틀 5"/>
          <p:cNvSpPr txBox="1">
            <a:spLocks noGrp="1"/>
          </p:cNvSpPr>
          <p:nvPr/>
        </p:nvSpPr>
        <p:spPr bwMode="auto">
          <a:xfrm>
            <a:off x="8239125" y="5554663"/>
            <a:ext cx="63182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</a:pPr>
            <a:fld id="{2E822A8D-3C79-409B-93C7-1D49FEC37FF7}" type="slidenum">
              <a:rPr lang="ko-KR" altLang="en-US" sz="1200" b="0">
                <a:latin typeface="Arial" charset="0"/>
                <a:ea typeface="굴림" pitchFamily="50" charset="-127"/>
              </a:rPr>
              <a:pPr algn="r" eaLnBrk="1" hangingPunct="1">
                <a:lnSpc>
                  <a:spcPct val="100000"/>
                </a:lnSpc>
              </a:pPr>
              <a:t>27</a:t>
            </a:fld>
            <a:endParaRPr lang="en-US" altLang="ko-KR" sz="1200" b="0">
              <a:latin typeface="Arial" charset="0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2969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1C72FD7-F16C-4D4C-884D-1FBBAA38372B}" type="slidenum">
              <a:rPr lang="ko-KR" altLang="en-US" smtClean="0"/>
              <a:pPr/>
              <a:t>28</a:t>
            </a:fld>
            <a:endParaRPr lang="en-US" altLang="ko-KR"/>
          </a:p>
        </p:txBody>
      </p:sp>
      <p:sp>
        <p:nvSpPr>
          <p:cNvPr id="13148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9050" y="244475"/>
            <a:ext cx="6564313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Class-Oriented Metrics</a:t>
            </a:r>
          </a:p>
        </p:txBody>
      </p:sp>
      <p:sp>
        <p:nvSpPr>
          <p:cNvPr id="13148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84188" y="2130425"/>
            <a:ext cx="8351837" cy="35242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Method inheritance factor (MIF) MIF = 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∑ M</a:t>
            </a:r>
            <a:r>
              <a:rPr lang="en-US" altLang="ko-KR" sz="20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sz="20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b="1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)/ ∑M</a:t>
            </a:r>
            <a:r>
              <a:rPr lang="en-US" altLang="ko-KR" sz="20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sz="20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b="1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</a:t>
            </a:r>
          </a:p>
          <a:p>
            <a:pPr lvl="1" eaLnBrk="1" hangingPunct="1">
              <a:defRPr/>
            </a:pP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= the # of methods inherited (and not overridden) in 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endParaRPr lang="en-US" altLang="ko-KR" dirty="0">
              <a:effectLst/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 eaLnBrk="1" hangingPunct="1">
              <a:defRPr/>
            </a:pP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d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= the # of methods declared in the class 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endParaRPr lang="en-US" altLang="ko-KR" baseline="-25000" dirty="0">
              <a:effectLst/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 eaLnBrk="1" hangingPunct="1">
              <a:defRPr/>
            </a:pP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= 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d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+ M</a:t>
            </a:r>
            <a:r>
              <a:rPr lang="en-US" altLang="ko-KR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 </a:t>
            </a:r>
          </a:p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Coupling factor CF = 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∑ ∑ </a:t>
            </a:r>
            <a:r>
              <a:rPr lang="en-US" altLang="ko-KR" sz="20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is_client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(</a:t>
            </a:r>
            <a:r>
              <a:rPr lang="en-US" altLang="ko-KR" sz="20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b="1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</a:t>
            </a:r>
            <a:r>
              <a:rPr lang="en-US" altLang="ko-KR" sz="20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,C</a:t>
            </a:r>
            <a:r>
              <a:rPr lang="en-US" altLang="ko-KR" sz="2000" b="1" baseline="-25000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j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)/ (T</a:t>
            </a:r>
            <a:r>
              <a:rPr lang="en-US" altLang="ko-KR" sz="20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b="1" baseline="30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-T</a:t>
            </a:r>
            <a:r>
              <a:rPr lang="en-US" altLang="ko-KR" sz="20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ko-KR" sz="1600" b="1" dirty="0" err="1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Is_client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= 1 if and only if a relationship exists between the client class C</a:t>
            </a:r>
            <a:r>
              <a:rPr lang="en-US" altLang="ko-KR" sz="16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 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and C</a:t>
            </a:r>
            <a:r>
              <a:rPr lang="en-US" altLang="ko-KR" sz="16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s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(C</a:t>
            </a:r>
            <a:r>
              <a:rPr lang="en-US" altLang="ko-KR" sz="16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c 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 != C</a:t>
            </a:r>
            <a:r>
              <a:rPr lang="en-US" altLang="ko-KR" sz="1600" b="1" baseline="-25000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s</a:t>
            </a: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)</a:t>
            </a:r>
          </a:p>
          <a:p>
            <a:pPr lvl="1" eaLnBrk="1" hangingPunct="1">
              <a:defRPr/>
            </a:pPr>
            <a:r>
              <a:rPr lang="en-US" altLang="ko-KR" sz="16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High CF makes trouble to understandability, maintainability and reusability.</a:t>
            </a:r>
          </a:p>
          <a:p>
            <a:pPr lvl="1" eaLnBrk="1" hangingPunct="1">
              <a:defRPr/>
            </a:pPr>
            <a:endParaRPr lang="en-US" altLang="ko-KR" sz="1600" b="1" baseline="-25000" dirty="0">
              <a:effectLst/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sz="2000" b="1" dirty="0">
                <a:effectLst/>
                <a:latin typeface="Arial" pitchFamily="34" charset="0"/>
                <a:ea typeface="굴림" pitchFamily="50" charset="-127"/>
                <a:cs typeface="Arial" pitchFamily="34" charset="0"/>
              </a:rPr>
              <a:t>	 </a:t>
            </a: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14820" name="Rectangle 4"/>
          <p:cNvSpPr>
            <a:spLocks noChangeArrowheads="1"/>
          </p:cNvSpPr>
          <p:nvPr/>
        </p:nvSpPr>
        <p:spPr bwMode="auto">
          <a:xfrm>
            <a:off x="1125538" y="1339850"/>
            <a:ext cx="3587750" cy="4206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2400" b="0" i="1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The MOOD Metrics Suite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1747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7D3CD11-8914-421A-A7DC-A259B2F3EA9F}" type="slidenum">
              <a:rPr lang="ko-KR" altLang="en-US" smtClean="0"/>
              <a:pPr/>
              <a:t>29</a:t>
            </a:fld>
            <a:endParaRPr lang="en-US" altLang="ko-KR"/>
          </a:p>
        </p:txBody>
      </p:sp>
      <p:sp>
        <p:nvSpPr>
          <p:cNvPr id="13168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38213" y="352425"/>
            <a:ext cx="74676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Component-Level Design Metrics</a:t>
            </a:r>
          </a:p>
        </p:txBody>
      </p:sp>
      <p:sp>
        <p:nvSpPr>
          <p:cNvPr id="131686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Cohesion metrics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	a function of data objects and the locus of their definition</a:t>
            </a:r>
          </a:p>
          <a:p>
            <a:pPr eaLnBrk="1" hangingPunct="1">
              <a:defRPr/>
            </a:pPr>
            <a:r>
              <a:rPr lang="en-US" altLang="ko-KR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Coupling metrics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	a function of input and output parameters, global variables, and modules called</a:t>
            </a:r>
          </a:p>
          <a:p>
            <a:pPr eaLnBrk="1" hangingPunct="1">
              <a:defRPr/>
            </a:pPr>
            <a:r>
              <a:rPr lang="en-US" altLang="ko-KR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Complexity metrics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	hundreds have been proposed (e.g., cyclomatic complexity)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2771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5627AB8-CA57-47C2-8C52-681555CDC60B}" type="slidenum">
              <a:rPr lang="ko-KR" altLang="en-US" smtClean="0"/>
              <a:pPr/>
              <a:t>30</a:t>
            </a:fld>
            <a:endParaRPr lang="en-US" altLang="ko-KR"/>
          </a:p>
        </p:txBody>
      </p:sp>
      <p:sp>
        <p:nvSpPr>
          <p:cNvPr id="131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79550" y="244475"/>
            <a:ext cx="61849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Operation-Oriented Metrics</a:t>
            </a:r>
          </a:p>
        </p:txBody>
      </p:sp>
      <p:sp>
        <p:nvSpPr>
          <p:cNvPr id="13158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58913" y="1847850"/>
            <a:ext cx="7239000" cy="18161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average operation size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	# of messages sent by the operation</a:t>
            </a:r>
          </a:p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operation complexity</a:t>
            </a:r>
          </a:p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average number of parameters per operation</a:t>
            </a:r>
          </a:p>
        </p:txBody>
      </p:sp>
      <p:sp>
        <p:nvSpPr>
          <p:cNvPr id="1315844" name="Rectangle 4"/>
          <p:cNvSpPr>
            <a:spLocks noChangeArrowheads="1"/>
          </p:cNvSpPr>
          <p:nvPr/>
        </p:nvSpPr>
        <p:spPr bwMode="auto">
          <a:xfrm>
            <a:off x="1127125" y="1241425"/>
            <a:ext cx="5503863" cy="4175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altLang="ko-KR" sz="2400" b="0" i="1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Proposed by Lorenz and Kidd [LOR94]:</a:t>
            </a:r>
            <a:endParaRPr lang="en-US" altLang="ko-KR" sz="2400" b="0">
              <a:solidFill>
                <a:srgbClr val="FF9933"/>
              </a:solidFill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Arial" pitchFamily="34" charset="0"/>
                <a:cs typeface="Arial" pitchFamily="34" charset="0"/>
              </a:rPr>
              <a:t>Metrics for Source Code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20802"/>
            <a:ext cx="8229600" cy="3998913"/>
          </a:xfrm>
        </p:spPr>
        <p:txBody>
          <a:bodyPr/>
          <a:lstStyle/>
          <a:p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Halstead’s Software Science:  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 comprehensive collection of metrics based on the number (count and occurrence) of operators and operands within a component or program</a:t>
            </a:r>
          </a:p>
          <a:p>
            <a:pPr lvl="1"/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1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: # of distinct operators that appears in a program</a:t>
            </a:r>
          </a:p>
          <a:p>
            <a:pPr lvl="1"/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: # of distinct operands that appears in a program</a:t>
            </a:r>
          </a:p>
          <a:p>
            <a:pPr lvl="1"/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1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: # of operator occurrences</a:t>
            </a:r>
          </a:p>
          <a:p>
            <a:pPr lvl="1"/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: # of operand occurrences</a:t>
            </a:r>
          </a:p>
          <a:p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Program length N = 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1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log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1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+ 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log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Program volume V= N log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(n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1 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+ n</a:t>
            </a:r>
            <a:r>
              <a:rPr lang="en-US" altLang="ko-KR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2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)</a:t>
            </a:r>
          </a:p>
          <a:p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And many more metrics</a:t>
            </a:r>
          </a:p>
          <a:p>
            <a:pPr lvl="1">
              <a:buNone/>
            </a:pPr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/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  <a:p>
            <a:pPr lvl="1"/>
            <a:endParaRPr lang="en-US" altLang="ko-KR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875E70-5D8F-49A8-ADA8-ABFCCCCAF9DD}" type="slidenum">
              <a:rPr lang="ko-KR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31</a:t>
            </a:fld>
            <a:endParaRPr lang="en-US" altLang="ko-KR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933450" y="5759450"/>
            <a:ext cx="1500188" cy="249238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ko-KR" dirty="0">
                <a:solidFill>
                  <a:srgbClr val="FFFFFF"/>
                </a:solidFill>
              </a:rPr>
              <a:t>CS350   </a:t>
            </a:r>
          </a:p>
        </p:txBody>
      </p:sp>
      <p:sp>
        <p:nvSpPr>
          <p:cNvPr id="32771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8D879A-985F-41B7-9982-90C4763A1AAC}" type="slidenum">
              <a:rPr lang="ko-KR" altLang="en-US" smtClean="0">
                <a:solidFill>
                  <a:srgbClr val="003399"/>
                </a:solidFill>
              </a:rPr>
              <a:pPr/>
              <a:t>32</a:t>
            </a:fld>
            <a:endParaRPr lang="en-US" altLang="ko-KR">
              <a:solidFill>
                <a:srgbClr val="003399"/>
              </a:solidFill>
            </a:endParaRPr>
          </a:p>
        </p:txBody>
      </p:sp>
      <p:sp>
        <p:nvSpPr>
          <p:cNvPr id="1242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80638" y="308367"/>
            <a:ext cx="5206555" cy="605294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Cyclometic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Complexity</a:t>
            </a:r>
          </a:p>
        </p:txBody>
      </p:sp>
      <p:sp>
        <p:nvSpPr>
          <p:cNvPr id="32773" name="Freeform 3"/>
          <p:cNvSpPr>
            <a:spLocks/>
          </p:cNvSpPr>
          <p:nvPr/>
        </p:nvSpPr>
        <p:spPr bwMode="auto">
          <a:xfrm>
            <a:off x="2046288" y="2727325"/>
            <a:ext cx="455612" cy="455613"/>
          </a:xfrm>
          <a:custGeom>
            <a:avLst/>
            <a:gdLst>
              <a:gd name="T0" fmla="*/ 2147483647 w 287"/>
              <a:gd name="T1" fmla="*/ 0 h 287"/>
              <a:gd name="T2" fmla="*/ 0 w 287"/>
              <a:gd name="T3" fmla="*/ 2147483647 h 287"/>
              <a:gd name="T4" fmla="*/ 2147483647 w 287"/>
              <a:gd name="T5" fmla="*/ 2147483647 h 287"/>
              <a:gd name="T6" fmla="*/ 2147483647 w 287"/>
              <a:gd name="T7" fmla="*/ 2147483647 h 287"/>
              <a:gd name="T8" fmla="*/ 2147483647 w 287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7"/>
              <a:gd name="T16" fmla="*/ 0 h 287"/>
              <a:gd name="T17" fmla="*/ 287 w 287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7" h="287">
                <a:moveTo>
                  <a:pt x="143" y="0"/>
                </a:moveTo>
                <a:lnTo>
                  <a:pt x="0" y="143"/>
                </a:lnTo>
                <a:lnTo>
                  <a:pt x="143" y="287"/>
                </a:lnTo>
                <a:lnTo>
                  <a:pt x="287" y="143"/>
                </a:lnTo>
                <a:lnTo>
                  <a:pt x="143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4" name="Freeform 4"/>
          <p:cNvSpPr>
            <a:spLocks/>
          </p:cNvSpPr>
          <p:nvPr/>
        </p:nvSpPr>
        <p:spPr bwMode="auto">
          <a:xfrm>
            <a:off x="2046288" y="2727325"/>
            <a:ext cx="455612" cy="455613"/>
          </a:xfrm>
          <a:custGeom>
            <a:avLst/>
            <a:gdLst>
              <a:gd name="T0" fmla="*/ 2147483647 w 287"/>
              <a:gd name="T1" fmla="*/ 0 h 287"/>
              <a:gd name="T2" fmla="*/ 0 w 287"/>
              <a:gd name="T3" fmla="*/ 2147483647 h 287"/>
              <a:gd name="T4" fmla="*/ 0 w 287"/>
              <a:gd name="T5" fmla="*/ 2147483647 h 287"/>
              <a:gd name="T6" fmla="*/ 2147483647 w 287"/>
              <a:gd name="T7" fmla="*/ 2147483647 h 287"/>
              <a:gd name="T8" fmla="*/ 2147483647 w 287"/>
              <a:gd name="T9" fmla="*/ 2147483647 h 287"/>
              <a:gd name="T10" fmla="*/ 2147483647 w 287"/>
              <a:gd name="T11" fmla="*/ 2147483647 h 287"/>
              <a:gd name="T12" fmla="*/ 2147483647 w 287"/>
              <a:gd name="T13" fmla="*/ 2147483647 h 287"/>
              <a:gd name="T14" fmla="*/ 2147483647 w 287"/>
              <a:gd name="T15" fmla="*/ 0 h 287"/>
              <a:gd name="T16" fmla="*/ 2147483647 w 287"/>
              <a:gd name="T17" fmla="*/ 0 h 2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7"/>
              <a:gd name="T28" fmla="*/ 0 h 287"/>
              <a:gd name="T29" fmla="*/ 287 w 287"/>
              <a:gd name="T30" fmla="*/ 287 h 2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7" h="287">
                <a:moveTo>
                  <a:pt x="143" y="0"/>
                </a:moveTo>
                <a:lnTo>
                  <a:pt x="0" y="143"/>
                </a:lnTo>
                <a:lnTo>
                  <a:pt x="143" y="287"/>
                </a:lnTo>
                <a:lnTo>
                  <a:pt x="287" y="143"/>
                </a:lnTo>
                <a:lnTo>
                  <a:pt x="143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5" name="Freeform 5"/>
          <p:cNvSpPr>
            <a:spLocks/>
          </p:cNvSpPr>
          <p:nvPr/>
        </p:nvSpPr>
        <p:spPr bwMode="auto">
          <a:xfrm>
            <a:off x="2033588" y="2714625"/>
            <a:ext cx="455612" cy="455613"/>
          </a:xfrm>
          <a:custGeom>
            <a:avLst/>
            <a:gdLst>
              <a:gd name="T0" fmla="*/ 2147483647 w 287"/>
              <a:gd name="T1" fmla="*/ 0 h 287"/>
              <a:gd name="T2" fmla="*/ 0 w 287"/>
              <a:gd name="T3" fmla="*/ 2147483647 h 287"/>
              <a:gd name="T4" fmla="*/ 2147483647 w 287"/>
              <a:gd name="T5" fmla="*/ 2147483647 h 287"/>
              <a:gd name="T6" fmla="*/ 2147483647 w 287"/>
              <a:gd name="T7" fmla="*/ 2147483647 h 287"/>
              <a:gd name="T8" fmla="*/ 2147483647 w 287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7"/>
              <a:gd name="T16" fmla="*/ 0 h 287"/>
              <a:gd name="T17" fmla="*/ 287 w 287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7" h="287">
                <a:moveTo>
                  <a:pt x="143" y="0"/>
                </a:moveTo>
                <a:lnTo>
                  <a:pt x="0" y="143"/>
                </a:lnTo>
                <a:lnTo>
                  <a:pt x="143" y="287"/>
                </a:lnTo>
                <a:lnTo>
                  <a:pt x="287" y="143"/>
                </a:lnTo>
                <a:lnTo>
                  <a:pt x="143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6" name="Oval 6"/>
          <p:cNvSpPr>
            <a:spLocks noChangeArrowheads="1"/>
          </p:cNvSpPr>
          <p:nvPr/>
        </p:nvSpPr>
        <p:spPr bwMode="auto">
          <a:xfrm>
            <a:off x="1474788" y="1335088"/>
            <a:ext cx="139700" cy="16510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7" name="Oval 7"/>
          <p:cNvSpPr>
            <a:spLocks noChangeArrowheads="1"/>
          </p:cNvSpPr>
          <p:nvPr/>
        </p:nvSpPr>
        <p:spPr bwMode="auto">
          <a:xfrm>
            <a:off x="1462088" y="1322388"/>
            <a:ext cx="165100" cy="190500"/>
          </a:xfrm>
          <a:prstGeom prst="ellips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8" name="Freeform 8"/>
          <p:cNvSpPr>
            <a:spLocks/>
          </p:cNvSpPr>
          <p:nvPr/>
        </p:nvSpPr>
        <p:spPr bwMode="auto">
          <a:xfrm>
            <a:off x="1335088" y="223361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2147483647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287"/>
              <a:gd name="T17" fmla="*/ 288 w 288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287">
                <a:moveTo>
                  <a:pt x="144" y="0"/>
                </a:moveTo>
                <a:lnTo>
                  <a:pt x="0" y="143"/>
                </a:lnTo>
                <a:lnTo>
                  <a:pt x="144" y="287"/>
                </a:lnTo>
                <a:lnTo>
                  <a:pt x="288" y="143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79" name="Freeform 9"/>
          <p:cNvSpPr>
            <a:spLocks/>
          </p:cNvSpPr>
          <p:nvPr/>
        </p:nvSpPr>
        <p:spPr bwMode="auto">
          <a:xfrm>
            <a:off x="1335088" y="223361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0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2147483647 h 287"/>
              <a:gd name="T10" fmla="*/ 2147483647 w 288"/>
              <a:gd name="T11" fmla="*/ 2147483647 h 287"/>
              <a:gd name="T12" fmla="*/ 2147483647 w 288"/>
              <a:gd name="T13" fmla="*/ 2147483647 h 287"/>
              <a:gd name="T14" fmla="*/ 2147483647 w 288"/>
              <a:gd name="T15" fmla="*/ 0 h 287"/>
              <a:gd name="T16" fmla="*/ 2147483647 w 288"/>
              <a:gd name="T17" fmla="*/ 0 h 2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8"/>
              <a:gd name="T28" fmla="*/ 0 h 287"/>
              <a:gd name="T29" fmla="*/ 288 w 288"/>
              <a:gd name="T30" fmla="*/ 287 h 2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8" h="287">
                <a:moveTo>
                  <a:pt x="144" y="0"/>
                </a:moveTo>
                <a:lnTo>
                  <a:pt x="0" y="143"/>
                </a:lnTo>
                <a:lnTo>
                  <a:pt x="144" y="287"/>
                </a:lnTo>
                <a:lnTo>
                  <a:pt x="288" y="143"/>
                </a:lnTo>
                <a:lnTo>
                  <a:pt x="144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0" name="Freeform 10"/>
          <p:cNvSpPr>
            <a:spLocks/>
          </p:cNvSpPr>
          <p:nvPr/>
        </p:nvSpPr>
        <p:spPr bwMode="auto">
          <a:xfrm>
            <a:off x="1322388" y="222091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2147483647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287"/>
              <a:gd name="T17" fmla="*/ 288 w 288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287">
                <a:moveTo>
                  <a:pt x="144" y="0"/>
                </a:moveTo>
                <a:lnTo>
                  <a:pt x="0" y="143"/>
                </a:lnTo>
                <a:lnTo>
                  <a:pt x="144" y="287"/>
                </a:lnTo>
                <a:lnTo>
                  <a:pt x="288" y="143"/>
                </a:lnTo>
                <a:lnTo>
                  <a:pt x="144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1" name="Freeform 11"/>
          <p:cNvSpPr>
            <a:spLocks/>
          </p:cNvSpPr>
          <p:nvPr/>
        </p:nvSpPr>
        <p:spPr bwMode="auto">
          <a:xfrm>
            <a:off x="1335088" y="391636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2147483647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287"/>
              <a:gd name="T17" fmla="*/ 288 w 288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287">
                <a:moveTo>
                  <a:pt x="144" y="0"/>
                </a:moveTo>
                <a:lnTo>
                  <a:pt x="0" y="144"/>
                </a:lnTo>
                <a:lnTo>
                  <a:pt x="144" y="287"/>
                </a:lnTo>
                <a:lnTo>
                  <a:pt x="288" y="144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2" name="Freeform 12"/>
          <p:cNvSpPr>
            <a:spLocks/>
          </p:cNvSpPr>
          <p:nvPr/>
        </p:nvSpPr>
        <p:spPr bwMode="auto">
          <a:xfrm>
            <a:off x="1335088" y="391636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0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2147483647 h 287"/>
              <a:gd name="T10" fmla="*/ 2147483647 w 288"/>
              <a:gd name="T11" fmla="*/ 2147483647 h 287"/>
              <a:gd name="T12" fmla="*/ 2147483647 w 288"/>
              <a:gd name="T13" fmla="*/ 2147483647 h 287"/>
              <a:gd name="T14" fmla="*/ 2147483647 w 288"/>
              <a:gd name="T15" fmla="*/ 0 h 287"/>
              <a:gd name="T16" fmla="*/ 2147483647 w 288"/>
              <a:gd name="T17" fmla="*/ 0 h 2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8"/>
              <a:gd name="T28" fmla="*/ 0 h 287"/>
              <a:gd name="T29" fmla="*/ 288 w 288"/>
              <a:gd name="T30" fmla="*/ 287 h 2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8" h="287">
                <a:moveTo>
                  <a:pt x="144" y="0"/>
                </a:moveTo>
                <a:lnTo>
                  <a:pt x="0" y="144"/>
                </a:lnTo>
                <a:lnTo>
                  <a:pt x="144" y="287"/>
                </a:lnTo>
                <a:lnTo>
                  <a:pt x="288" y="144"/>
                </a:lnTo>
                <a:lnTo>
                  <a:pt x="144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3" name="Freeform 13"/>
          <p:cNvSpPr>
            <a:spLocks/>
          </p:cNvSpPr>
          <p:nvPr/>
        </p:nvSpPr>
        <p:spPr bwMode="auto">
          <a:xfrm>
            <a:off x="1322388" y="3903663"/>
            <a:ext cx="457200" cy="455612"/>
          </a:xfrm>
          <a:custGeom>
            <a:avLst/>
            <a:gdLst>
              <a:gd name="T0" fmla="*/ 2147483647 w 288"/>
              <a:gd name="T1" fmla="*/ 0 h 287"/>
              <a:gd name="T2" fmla="*/ 0 w 288"/>
              <a:gd name="T3" fmla="*/ 2147483647 h 287"/>
              <a:gd name="T4" fmla="*/ 2147483647 w 288"/>
              <a:gd name="T5" fmla="*/ 2147483647 h 287"/>
              <a:gd name="T6" fmla="*/ 2147483647 w 288"/>
              <a:gd name="T7" fmla="*/ 2147483647 h 287"/>
              <a:gd name="T8" fmla="*/ 2147483647 w 288"/>
              <a:gd name="T9" fmla="*/ 0 h 2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287"/>
              <a:gd name="T17" fmla="*/ 288 w 288"/>
              <a:gd name="T18" fmla="*/ 287 h 2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287">
                <a:moveTo>
                  <a:pt x="144" y="0"/>
                </a:moveTo>
                <a:lnTo>
                  <a:pt x="0" y="144"/>
                </a:lnTo>
                <a:lnTo>
                  <a:pt x="144" y="287"/>
                </a:lnTo>
                <a:lnTo>
                  <a:pt x="288" y="144"/>
                </a:lnTo>
                <a:lnTo>
                  <a:pt x="144" y="0"/>
                </a:lnTo>
                <a:close/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4" name="Freeform 14"/>
          <p:cNvSpPr>
            <a:spLocks/>
          </p:cNvSpPr>
          <p:nvPr/>
        </p:nvSpPr>
        <p:spPr bwMode="auto">
          <a:xfrm>
            <a:off x="1817688" y="2460625"/>
            <a:ext cx="455612" cy="152400"/>
          </a:xfrm>
          <a:custGeom>
            <a:avLst/>
            <a:gdLst>
              <a:gd name="T0" fmla="*/ 0 w 287"/>
              <a:gd name="T1" fmla="*/ 0 h 96"/>
              <a:gd name="T2" fmla="*/ 2147483647 w 287"/>
              <a:gd name="T3" fmla="*/ 0 h 96"/>
              <a:gd name="T4" fmla="*/ 2147483647 w 287"/>
              <a:gd name="T5" fmla="*/ 0 h 96"/>
              <a:gd name="T6" fmla="*/ 2147483647 w 287"/>
              <a:gd name="T7" fmla="*/ 2147483647 h 96"/>
              <a:gd name="T8" fmla="*/ 2147483647 w 287"/>
              <a:gd name="T9" fmla="*/ 2147483647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7"/>
              <a:gd name="T16" fmla="*/ 0 h 96"/>
              <a:gd name="T17" fmla="*/ 287 w 287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7" h="96">
                <a:moveTo>
                  <a:pt x="0" y="0"/>
                </a:moveTo>
                <a:lnTo>
                  <a:pt x="287" y="0"/>
                </a:lnTo>
                <a:lnTo>
                  <a:pt x="287" y="96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5" name="Freeform 15"/>
          <p:cNvSpPr>
            <a:spLocks/>
          </p:cNvSpPr>
          <p:nvPr/>
        </p:nvSpPr>
        <p:spPr bwMode="auto">
          <a:xfrm>
            <a:off x="1804988" y="2447925"/>
            <a:ext cx="455612" cy="152400"/>
          </a:xfrm>
          <a:custGeom>
            <a:avLst/>
            <a:gdLst>
              <a:gd name="T0" fmla="*/ 0 w 287"/>
              <a:gd name="T1" fmla="*/ 0 h 96"/>
              <a:gd name="T2" fmla="*/ 2147483647 w 287"/>
              <a:gd name="T3" fmla="*/ 0 h 96"/>
              <a:gd name="T4" fmla="*/ 2147483647 w 287"/>
              <a:gd name="T5" fmla="*/ 2147483647 h 96"/>
              <a:gd name="T6" fmla="*/ 0 60000 65536"/>
              <a:gd name="T7" fmla="*/ 0 60000 65536"/>
              <a:gd name="T8" fmla="*/ 0 60000 65536"/>
              <a:gd name="T9" fmla="*/ 0 w 287"/>
              <a:gd name="T10" fmla="*/ 0 h 96"/>
              <a:gd name="T11" fmla="*/ 287 w 287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" h="96">
                <a:moveTo>
                  <a:pt x="0" y="0"/>
                </a:moveTo>
                <a:lnTo>
                  <a:pt x="287" y="0"/>
                </a:lnTo>
                <a:lnTo>
                  <a:pt x="287" y="96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6" name="Line 16"/>
          <p:cNvSpPr>
            <a:spLocks noChangeShapeType="1"/>
          </p:cNvSpPr>
          <p:nvPr/>
        </p:nvSpPr>
        <p:spPr bwMode="auto">
          <a:xfrm>
            <a:off x="1525588" y="1487488"/>
            <a:ext cx="1587" cy="708025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2787" name="Rectangle 17"/>
          <p:cNvSpPr>
            <a:spLocks noChangeArrowheads="1"/>
          </p:cNvSpPr>
          <p:nvPr/>
        </p:nvSpPr>
        <p:spPr bwMode="auto">
          <a:xfrm>
            <a:off x="1335088" y="1676400"/>
            <a:ext cx="393700" cy="3032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8" name="Rectangle 18"/>
          <p:cNvSpPr>
            <a:spLocks noChangeArrowheads="1"/>
          </p:cNvSpPr>
          <p:nvPr/>
        </p:nvSpPr>
        <p:spPr bwMode="auto">
          <a:xfrm>
            <a:off x="1322388" y="1663700"/>
            <a:ext cx="419100" cy="328613"/>
          </a:xfrm>
          <a:prstGeom prst="rect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89" name="Freeform 19"/>
          <p:cNvSpPr>
            <a:spLocks/>
          </p:cNvSpPr>
          <p:nvPr/>
        </p:nvSpPr>
        <p:spPr bwMode="auto">
          <a:xfrm>
            <a:off x="955675" y="2422525"/>
            <a:ext cx="341313" cy="406400"/>
          </a:xfrm>
          <a:custGeom>
            <a:avLst/>
            <a:gdLst>
              <a:gd name="T0" fmla="*/ 2147483647 w 215"/>
              <a:gd name="T1" fmla="*/ 0 h 256"/>
              <a:gd name="T2" fmla="*/ 0 w 215"/>
              <a:gd name="T3" fmla="*/ 0 h 256"/>
              <a:gd name="T4" fmla="*/ 0 w 215"/>
              <a:gd name="T5" fmla="*/ 2147483647 h 256"/>
              <a:gd name="T6" fmla="*/ 0 60000 65536"/>
              <a:gd name="T7" fmla="*/ 0 60000 65536"/>
              <a:gd name="T8" fmla="*/ 0 60000 65536"/>
              <a:gd name="T9" fmla="*/ 0 w 215"/>
              <a:gd name="T10" fmla="*/ 0 h 256"/>
              <a:gd name="T11" fmla="*/ 215 w 215"/>
              <a:gd name="T12" fmla="*/ 256 h 2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" h="256">
                <a:moveTo>
                  <a:pt x="215" y="0"/>
                </a:moveTo>
                <a:lnTo>
                  <a:pt x="0" y="0"/>
                </a:lnTo>
                <a:lnTo>
                  <a:pt x="0" y="256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0" name="Freeform 20"/>
          <p:cNvSpPr>
            <a:spLocks/>
          </p:cNvSpPr>
          <p:nvPr/>
        </p:nvSpPr>
        <p:spPr bwMode="auto">
          <a:xfrm>
            <a:off x="2501900" y="2954338"/>
            <a:ext cx="279400" cy="228600"/>
          </a:xfrm>
          <a:custGeom>
            <a:avLst/>
            <a:gdLst>
              <a:gd name="T0" fmla="*/ 0 w 176"/>
              <a:gd name="T1" fmla="*/ 0 h 144"/>
              <a:gd name="T2" fmla="*/ 2147483647 w 176"/>
              <a:gd name="T3" fmla="*/ 0 h 144"/>
              <a:gd name="T4" fmla="*/ 2147483647 w 176"/>
              <a:gd name="T5" fmla="*/ 0 h 144"/>
              <a:gd name="T6" fmla="*/ 2147483647 w 176"/>
              <a:gd name="T7" fmla="*/ 2147483647 h 144"/>
              <a:gd name="T8" fmla="*/ 2147483647 w 176"/>
              <a:gd name="T9" fmla="*/ 2147483647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6"/>
              <a:gd name="T16" fmla="*/ 0 h 144"/>
              <a:gd name="T17" fmla="*/ 176 w 176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6" h="144">
                <a:moveTo>
                  <a:pt x="0" y="0"/>
                </a:moveTo>
                <a:lnTo>
                  <a:pt x="176" y="0"/>
                </a:lnTo>
                <a:lnTo>
                  <a:pt x="176" y="144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1" name="Freeform 21"/>
          <p:cNvSpPr>
            <a:spLocks/>
          </p:cNvSpPr>
          <p:nvPr/>
        </p:nvSpPr>
        <p:spPr bwMode="auto">
          <a:xfrm>
            <a:off x="2489200" y="2941638"/>
            <a:ext cx="279400" cy="228600"/>
          </a:xfrm>
          <a:custGeom>
            <a:avLst/>
            <a:gdLst>
              <a:gd name="T0" fmla="*/ 0 w 176"/>
              <a:gd name="T1" fmla="*/ 0 h 144"/>
              <a:gd name="T2" fmla="*/ 2147483647 w 176"/>
              <a:gd name="T3" fmla="*/ 0 h 144"/>
              <a:gd name="T4" fmla="*/ 2147483647 w 176"/>
              <a:gd name="T5" fmla="*/ 2147483647 h 144"/>
              <a:gd name="T6" fmla="*/ 0 60000 65536"/>
              <a:gd name="T7" fmla="*/ 0 60000 65536"/>
              <a:gd name="T8" fmla="*/ 0 60000 65536"/>
              <a:gd name="T9" fmla="*/ 0 w 176"/>
              <a:gd name="T10" fmla="*/ 0 h 144"/>
              <a:gd name="T11" fmla="*/ 176 w 176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144">
                <a:moveTo>
                  <a:pt x="0" y="0"/>
                </a:moveTo>
                <a:lnTo>
                  <a:pt x="176" y="0"/>
                </a:lnTo>
                <a:lnTo>
                  <a:pt x="176" y="144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2" name="Freeform 22"/>
          <p:cNvSpPr>
            <a:spLocks/>
          </p:cNvSpPr>
          <p:nvPr/>
        </p:nvSpPr>
        <p:spPr bwMode="auto">
          <a:xfrm>
            <a:off x="1817688" y="2954338"/>
            <a:ext cx="252412" cy="279400"/>
          </a:xfrm>
          <a:custGeom>
            <a:avLst/>
            <a:gdLst>
              <a:gd name="T0" fmla="*/ 2147483647 w 159"/>
              <a:gd name="T1" fmla="*/ 0 h 176"/>
              <a:gd name="T2" fmla="*/ 0 w 159"/>
              <a:gd name="T3" fmla="*/ 0 h 176"/>
              <a:gd name="T4" fmla="*/ 0 w 159"/>
              <a:gd name="T5" fmla="*/ 0 h 176"/>
              <a:gd name="T6" fmla="*/ 0 w 159"/>
              <a:gd name="T7" fmla="*/ 2147483647 h 176"/>
              <a:gd name="T8" fmla="*/ 0 w 159"/>
              <a:gd name="T9" fmla="*/ 2147483647 h 1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176"/>
              <a:gd name="T17" fmla="*/ 159 w 159"/>
              <a:gd name="T18" fmla="*/ 176 h 1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176">
                <a:moveTo>
                  <a:pt x="159" y="0"/>
                </a:moveTo>
                <a:lnTo>
                  <a:pt x="0" y="0"/>
                </a:lnTo>
                <a:lnTo>
                  <a:pt x="0" y="176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3" name="Freeform 23"/>
          <p:cNvSpPr>
            <a:spLocks/>
          </p:cNvSpPr>
          <p:nvPr/>
        </p:nvSpPr>
        <p:spPr bwMode="auto">
          <a:xfrm>
            <a:off x="1804988" y="2941638"/>
            <a:ext cx="252412" cy="279400"/>
          </a:xfrm>
          <a:custGeom>
            <a:avLst/>
            <a:gdLst>
              <a:gd name="T0" fmla="*/ 2147483647 w 159"/>
              <a:gd name="T1" fmla="*/ 0 h 176"/>
              <a:gd name="T2" fmla="*/ 0 w 159"/>
              <a:gd name="T3" fmla="*/ 0 h 176"/>
              <a:gd name="T4" fmla="*/ 0 w 159"/>
              <a:gd name="T5" fmla="*/ 2147483647 h 176"/>
              <a:gd name="T6" fmla="*/ 0 60000 65536"/>
              <a:gd name="T7" fmla="*/ 0 60000 65536"/>
              <a:gd name="T8" fmla="*/ 0 60000 65536"/>
              <a:gd name="T9" fmla="*/ 0 w 159"/>
              <a:gd name="T10" fmla="*/ 0 h 176"/>
              <a:gd name="T11" fmla="*/ 159 w 159"/>
              <a:gd name="T12" fmla="*/ 176 h 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176">
                <a:moveTo>
                  <a:pt x="159" y="0"/>
                </a:moveTo>
                <a:lnTo>
                  <a:pt x="0" y="0"/>
                </a:lnTo>
                <a:lnTo>
                  <a:pt x="0" y="176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4" name="Freeform 24"/>
          <p:cNvSpPr>
            <a:spLocks/>
          </p:cNvSpPr>
          <p:nvPr/>
        </p:nvSpPr>
        <p:spPr bwMode="auto">
          <a:xfrm>
            <a:off x="1792288" y="3371850"/>
            <a:ext cx="989012" cy="139700"/>
          </a:xfrm>
          <a:custGeom>
            <a:avLst/>
            <a:gdLst>
              <a:gd name="T0" fmla="*/ 0 w 623"/>
              <a:gd name="T1" fmla="*/ 0 h 88"/>
              <a:gd name="T2" fmla="*/ 0 w 623"/>
              <a:gd name="T3" fmla="*/ 2147483647 h 88"/>
              <a:gd name="T4" fmla="*/ 0 w 623"/>
              <a:gd name="T5" fmla="*/ 2147483647 h 88"/>
              <a:gd name="T6" fmla="*/ 2147483647 w 623"/>
              <a:gd name="T7" fmla="*/ 2147483647 h 88"/>
              <a:gd name="T8" fmla="*/ 2147483647 w 623"/>
              <a:gd name="T9" fmla="*/ 2147483647 h 88"/>
              <a:gd name="T10" fmla="*/ 2147483647 w 623"/>
              <a:gd name="T11" fmla="*/ 0 h 88"/>
              <a:gd name="T12" fmla="*/ 2147483647 w 623"/>
              <a:gd name="T13" fmla="*/ 0 h 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23"/>
              <a:gd name="T22" fmla="*/ 0 h 88"/>
              <a:gd name="T23" fmla="*/ 623 w 623"/>
              <a:gd name="T24" fmla="*/ 88 h 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23" h="88">
                <a:moveTo>
                  <a:pt x="0" y="0"/>
                </a:moveTo>
                <a:lnTo>
                  <a:pt x="0" y="88"/>
                </a:lnTo>
                <a:lnTo>
                  <a:pt x="623" y="88"/>
                </a:lnTo>
                <a:lnTo>
                  <a:pt x="623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5" name="Rectangle 26"/>
          <p:cNvSpPr>
            <a:spLocks noChangeArrowheads="1"/>
          </p:cNvSpPr>
          <p:nvPr/>
        </p:nvSpPr>
        <p:spPr bwMode="auto">
          <a:xfrm>
            <a:off x="1563688" y="3043238"/>
            <a:ext cx="393700" cy="3032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6" name="Rectangle 27"/>
          <p:cNvSpPr>
            <a:spLocks noChangeArrowheads="1"/>
          </p:cNvSpPr>
          <p:nvPr/>
        </p:nvSpPr>
        <p:spPr bwMode="auto">
          <a:xfrm>
            <a:off x="1550988" y="3030538"/>
            <a:ext cx="419100" cy="328612"/>
          </a:xfrm>
          <a:prstGeom prst="rect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7" name="Rectangle 28"/>
          <p:cNvSpPr>
            <a:spLocks noChangeArrowheads="1"/>
          </p:cNvSpPr>
          <p:nvPr/>
        </p:nvSpPr>
        <p:spPr bwMode="auto">
          <a:xfrm>
            <a:off x="2565400" y="3043238"/>
            <a:ext cx="393700" cy="3032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8" name="Rectangle 29"/>
          <p:cNvSpPr>
            <a:spLocks noChangeArrowheads="1"/>
          </p:cNvSpPr>
          <p:nvPr/>
        </p:nvSpPr>
        <p:spPr bwMode="auto">
          <a:xfrm>
            <a:off x="2552700" y="3030538"/>
            <a:ext cx="419100" cy="328612"/>
          </a:xfrm>
          <a:prstGeom prst="rect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799" name="Rectangle 30"/>
          <p:cNvSpPr>
            <a:spLocks noChangeArrowheads="1"/>
          </p:cNvSpPr>
          <p:nvPr/>
        </p:nvSpPr>
        <p:spPr bwMode="auto">
          <a:xfrm>
            <a:off x="765175" y="2865438"/>
            <a:ext cx="392113" cy="3175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00" name="Rectangle 31"/>
          <p:cNvSpPr>
            <a:spLocks noChangeArrowheads="1"/>
          </p:cNvSpPr>
          <p:nvPr/>
        </p:nvSpPr>
        <p:spPr bwMode="auto">
          <a:xfrm>
            <a:off x="752475" y="2852738"/>
            <a:ext cx="417513" cy="342900"/>
          </a:xfrm>
          <a:prstGeom prst="rect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01" name="Line 32"/>
          <p:cNvSpPr>
            <a:spLocks noChangeShapeType="1"/>
          </p:cNvSpPr>
          <p:nvPr/>
        </p:nvSpPr>
        <p:spPr bwMode="auto">
          <a:xfrm>
            <a:off x="1550988" y="3689350"/>
            <a:ext cx="1587" cy="227013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2802" name="Line 33"/>
          <p:cNvSpPr>
            <a:spLocks noChangeShapeType="1"/>
          </p:cNvSpPr>
          <p:nvPr/>
        </p:nvSpPr>
        <p:spPr bwMode="auto">
          <a:xfrm>
            <a:off x="1538288" y="4371975"/>
            <a:ext cx="1587" cy="227013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2803" name="Oval 34"/>
          <p:cNvSpPr>
            <a:spLocks noChangeArrowheads="1"/>
          </p:cNvSpPr>
          <p:nvPr/>
        </p:nvSpPr>
        <p:spPr bwMode="auto">
          <a:xfrm>
            <a:off x="1487488" y="4611688"/>
            <a:ext cx="139700" cy="17780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04" name="Oval 35"/>
          <p:cNvSpPr>
            <a:spLocks noChangeArrowheads="1"/>
          </p:cNvSpPr>
          <p:nvPr/>
        </p:nvSpPr>
        <p:spPr bwMode="auto">
          <a:xfrm>
            <a:off x="1474788" y="4598988"/>
            <a:ext cx="165100" cy="203200"/>
          </a:xfrm>
          <a:prstGeom prst="ellips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05" name="Freeform 36"/>
          <p:cNvSpPr>
            <a:spLocks/>
          </p:cNvSpPr>
          <p:nvPr/>
        </p:nvSpPr>
        <p:spPr bwMode="auto">
          <a:xfrm>
            <a:off x="587375" y="2182813"/>
            <a:ext cx="976313" cy="1936750"/>
          </a:xfrm>
          <a:custGeom>
            <a:avLst/>
            <a:gdLst>
              <a:gd name="T0" fmla="*/ 2147483647 w 615"/>
              <a:gd name="T1" fmla="*/ 2147483647 h 1220"/>
              <a:gd name="T2" fmla="*/ 0 w 615"/>
              <a:gd name="T3" fmla="*/ 2147483647 h 1220"/>
              <a:gd name="T4" fmla="*/ 0 w 615"/>
              <a:gd name="T5" fmla="*/ 2147483647 h 1220"/>
              <a:gd name="T6" fmla="*/ 0 w 615"/>
              <a:gd name="T7" fmla="*/ 0 h 1220"/>
              <a:gd name="T8" fmla="*/ 0 w 615"/>
              <a:gd name="T9" fmla="*/ 0 h 1220"/>
              <a:gd name="T10" fmla="*/ 2147483647 w 615"/>
              <a:gd name="T11" fmla="*/ 0 h 1220"/>
              <a:gd name="T12" fmla="*/ 2147483647 w 615"/>
              <a:gd name="T13" fmla="*/ 0 h 1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15"/>
              <a:gd name="T22" fmla="*/ 0 h 1220"/>
              <a:gd name="T23" fmla="*/ 615 w 615"/>
              <a:gd name="T24" fmla="*/ 1220 h 1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15" h="1220">
                <a:moveTo>
                  <a:pt x="471" y="1220"/>
                </a:moveTo>
                <a:lnTo>
                  <a:pt x="0" y="1220"/>
                </a:lnTo>
                <a:lnTo>
                  <a:pt x="0" y="0"/>
                </a:lnTo>
                <a:lnTo>
                  <a:pt x="615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06" name="Freeform 37"/>
          <p:cNvSpPr>
            <a:spLocks/>
          </p:cNvSpPr>
          <p:nvPr/>
        </p:nvSpPr>
        <p:spPr bwMode="auto">
          <a:xfrm>
            <a:off x="574675" y="2170113"/>
            <a:ext cx="976313" cy="1936750"/>
          </a:xfrm>
          <a:custGeom>
            <a:avLst/>
            <a:gdLst>
              <a:gd name="T0" fmla="*/ 2147483647 w 615"/>
              <a:gd name="T1" fmla="*/ 2147483647 h 1220"/>
              <a:gd name="T2" fmla="*/ 0 w 615"/>
              <a:gd name="T3" fmla="*/ 2147483647 h 1220"/>
              <a:gd name="T4" fmla="*/ 0 w 615"/>
              <a:gd name="T5" fmla="*/ 0 h 1220"/>
              <a:gd name="T6" fmla="*/ 2147483647 w 615"/>
              <a:gd name="T7" fmla="*/ 0 h 1220"/>
              <a:gd name="T8" fmla="*/ 0 60000 65536"/>
              <a:gd name="T9" fmla="*/ 0 60000 65536"/>
              <a:gd name="T10" fmla="*/ 0 60000 65536"/>
              <a:gd name="T11" fmla="*/ 0 60000 65536"/>
              <a:gd name="T12" fmla="*/ 0 w 615"/>
              <a:gd name="T13" fmla="*/ 0 h 1220"/>
              <a:gd name="T14" fmla="*/ 615 w 615"/>
              <a:gd name="T15" fmla="*/ 1220 h 12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5" h="1220">
                <a:moveTo>
                  <a:pt x="471" y="1220"/>
                </a:moveTo>
                <a:lnTo>
                  <a:pt x="0" y="1220"/>
                </a:lnTo>
                <a:lnTo>
                  <a:pt x="0" y="0"/>
                </a:lnTo>
                <a:lnTo>
                  <a:pt x="615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grpSp>
        <p:nvGrpSpPr>
          <p:cNvPr id="32807" name="Group 38"/>
          <p:cNvGrpSpPr>
            <a:grpSpLocks/>
          </p:cNvGrpSpPr>
          <p:nvPr/>
        </p:nvGrpSpPr>
        <p:grpSpPr bwMode="auto">
          <a:xfrm>
            <a:off x="1373188" y="2132013"/>
            <a:ext cx="203200" cy="88900"/>
            <a:chOff x="903" y="1334"/>
            <a:chExt cx="128" cy="56"/>
          </a:xfrm>
        </p:grpSpPr>
        <p:sp>
          <p:nvSpPr>
            <p:cNvPr id="32834" name="Freeform 39"/>
            <p:cNvSpPr>
              <a:spLocks/>
            </p:cNvSpPr>
            <p:nvPr/>
          </p:nvSpPr>
          <p:spPr bwMode="auto">
            <a:xfrm>
              <a:off x="911" y="1334"/>
              <a:ext cx="120" cy="56"/>
            </a:xfrm>
            <a:custGeom>
              <a:avLst/>
              <a:gdLst>
                <a:gd name="T0" fmla="*/ 120 w 120"/>
                <a:gd name="T1" fmla="*/ 32 h 56"/>
                <a:gd name="T2" fmla="*/ 0 w 120"/>
                <a:gd name="T3" fmla="*/ 56 h 56"/>
                <a:gd name="T4" fmla="*/ 0 w 120"/>
                <a:gd name="T5" fmla="*/ 32 h 56"/>
                <a:gd name="T6" fmla="*/ 0 w 120"/>
                <a:gd name="T7" fmla="*/ 0 h 56"/>
                <a:gd name="T8" fmla="*/ 120 w 120"/>
                <a:gd name="T9" fmla="*/ 32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56"/>
                <a:gd name="T17" fmla="*/ 120 w 120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56">
                  <a:moveTo>
                    <a:pt x="120" y="32"/>
                  </a:moveTo>
                  <a:lnTo>
                    <a:pt x="0" y="56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2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35" name="Line 40"/>
            <p:cNvSpPr>
              <a:spLocks noChangeShapeType="1"/>
            </p:cNvSpPr>
            <p:nvPr/>
          </p:nvSpPr>
          <p:spPr bwMode="auto">
            <a:xfrm>
              <a:off x="903" y="1366"/>
              <a:ext cx="8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32808" name="Group 41"/>
          <p:cNvGrpSpPr>
            <a:grpSpLocks/>
          </p:cNvGrpSpPr>
          <p:nvPr/>
        </p:nvGrpSpPr>
        <p:grpSpPr bwMode="auto">
          <a:xfrm>
            <a:off x="2222500" y="2498725"/>
            <a:ext cx="88900" cy="254000"/>
            <a:chOff x="1438" y="1565"/>
            <a:chExt cx="56" cy="160"/>
          </a:xfrm>
        </p:grpSpPr>
        <p:sp>
          <p:nvSpPr>
            <p:cNvPr id="32832" name="Freeform 42"/>
            <p:cNvSpPr>
              <a:spLocks/>
            </p:cNvSpPr>
            <p:nvPr/>
          </p:nvSpPr>
          <p:spPr bwMode="auto">
            <a:xfrm>
              <a:off x="1438" y="1613"/>
              <a:ext cx="56" cy="112"/>
            </a:xfrm>
            <a:custGeom>
              <a:avLst/>
              <a:gdLst>
                <a:gd name="T0" fmla="*/ 24 w 56"/>
                <a:gd name="T1" fmla="*/ 112 h 112"/>
                <a:gd name="T2" fmla="*/ 0 w 56"/>
                <a:gd name="T3" fmla="*/ 0 h 112"/>
                <a:gd name="T4" fmla="*/ 24 w 56"/>
                <a:gd name="T5" fmla="*/ 0 h 112"/>
                <a:gd name="T6" fmla="*/ 56 w 56"/>
                <a:gd name="T7" fmla="*/ 0 h 112"/>
                <a:gd name="T8" fmla="*/ 24 w 56"/>
                <a:gd name="T9" fmla="*/ 112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2"/>
                <a:gd name="T17" fmla="*/ 56 w 56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2">
                  <a:moveTo>
                    <a:pt x="24" y="112"/>
                  </a:moveTo>
                  <a:lnTo>
                    <a:pt x="0" y="0"/>
                  </a:lnTo>
                  <a:lnTo>
                    <a:pt x="24" y="0"/>
                  </a:lnTo>
                  <a:lnTo>
                    <a:pt x="56" y="0"/>
                  </a:lnTo>
                  <a:lnTo>
                    <a:pt x="24" y="1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33" name="Line 43"/>
            <p:cNvSpPr>
              <a:spLocks noChangeShapeType="1"/>
            </p:cNvSpPr>
            <p:nvPr/>
          </p:nvSpPr>
          <p:spPr bwMode="auto">
            <a:xfrm>
              <a:off x="1462" y="1565"/>
              <a:ext cx="1" cy="4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32809" name="Group 44"/>
          <p:cNvGrpSpPr>
            <a:grpSpLocks/>
          </p:cNvGrpSpPr>
          <p:nvPr/>
        </p:nvGrpSpPr>
        <p:grpSpPr bwMode="auto">
          <a:xfrm>
            <a:off x="917575" y="2638425"/>
            <a:ext cx="88900" cy="227013"/>
            <a:chOff x="616" y="1653"/>
            <a:chExt cx="56" cy="143"/>
          </a:xfrm>
        </p:grpSpPr>
        <p:sp>
          <p:nvSpPr>
            <p:cNvPr id="32830" name="Freeform 45"/>
            <p:cNvSpPr>
              <a:spLocks/>
            </p:cNvSpPr>
            <p:nvPr/>
          </p:nvSpPr>
          <p:spPr bwMode="auto">
            <a:xfrm>
              <a:off x="616" y="1685"/>
              <a:ext cx="56" cy="111"/>
            </a:xfrm>
            <a:custGeom>
              <a:avLst/>
              <a:gdLst>
                <a:gd name="T0" fmla="*/ 32 w 56"/>
                <a:gd name="T1" fmla="*/ 111 h 111"/>
                <a:gd name="T2" fmla="*/ 0 w 56"/>
                <a:gd name="T3" fmla="*/ 0 h 111"/>
                <a:gd name="T4" fmla="*/ 32 w 56"/>
                <a:gd name="T5" fmla="*/ 0 h 111"/>
                <a:gd name="T6" fmla="*/ 56 w 56"/>
                <a:gd name="T7" fmla="*/ 0 h 111"/>
                <a:gd name="T8" fmla="*/ 32 w 56"/>
                <a:gd name="T9" fmla="*/ 111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1"/>
                <a:gd name="T17" fmla="*/ 56 w 56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1">
                  <a:moveTo>
                    <a:pt x="32" y="111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32" y="1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31" name="Line 46"/>
            <p:cNvSpPr>
              <a:spLocks noChangeShapeType="1"/>
            </p:cNvSpPr>
            <p:nvPr/>
          </p:nvSpPr>
          <p:spPr bwMode="auto">
            <a:xfrm>
              <a:off x="648" y="1653"/>
              <a:ext cx="1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32810" name="Group 47"/>
          <p:cNvGrpSpPr>
            <a:grpSpLocks/>
          </p:cNvGrpSpPr>
          <p:nvPr/>
        </p:nvGrpSpPr>
        <p:grpSpPr bwMode="auto">
          <a:xfrm>
            <a:off x="1512888" y="3702050"/>
            <a:ext cx="88900" cy="252413"/>
            <a:chOff x="991" y="2323"/>
            <a:chExt cx="56" cy="159"/>
          </a:xfrm>
        </p:grpSpPr>
        <p:sp>
          <p:nvSpPr>
            <p:cNvPr id="32828" name="Freeform 48"/>
            <p:cNvSpPr>
              <a:spLocks/>
            </p:cNvSpPr>
            <p:nvPr/>
          </p:nvSpPr>
          <p:spPr bwMode="auto">
            <a:xfrm>
              <a:off x="991" y="2370"/>
              <a:ext cx="56" cy="112"/>
            </a:xfrm>
            <a:custGeom>
              <a:avLst/>
              <a:gdLst>
                <a:gd name="T0" fmla="*/ 32 w 56"/>
                <a:gd name="T1" fmla="*/ 112 h 112"/>
                <a:gd name="T2" fmla="*/ 0 w 56"/>
                <a:gd name="T3" fmla="*/ 0 h 112"/>
                <a:gd name="T4" fmla="*/ 32 w 56"/>
                <a:gd name="T5" fmla="*/ 0 h 112"/>
                <a:gd name="T6" fmla="*/ 56 w 56"/>
                <a:gd name="T7" fmla="*/ 0 h 112"/>
                <a:gd name="T8" fmla="*/ 32 w 56"/>
                <a:gd name="T9" fmla="*/ 112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2"/>
                <a:gd name="T17" fmla="*/ 56 w 56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2">
                  <a:moveTo>
                    <a:pt x="32" y="112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32" y="1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29" name="Line 49"/>
            <p:cNvSpPr>
              <a:spLocks noChangeShapeType="1"/>
            </p:cNvSpPr>
            <p:nvPr/>
          </p:nvSpPr>
          <p:spPr bwMode="auto">
            <a:xfrm>
              <a:off x="1023" y="2323"/>
              <a:ext cx="1" cy="4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32811" name="Group 50"/>
          <p:cNvGrpSpPr>
            <a:grpSpLocks/>
          </p:cNvGrpSpPr>
          <p:nvPr/>
        </p:nvGrpSpPr>
        <p:grpSpPr bwMode="auto">
          <a:xfrm>
            <a:off x="1487488" y="2017713"/>
            <a:ext cx="88900" cy="190500"/>
            <a:chOff x="975" y="1262"/>
            <a:chExt cx="56" cy="120"/>
          </a:xfrm>
        </p:grpSpPr>
        <p:sp>
          <p:nvSpPr>
            <p:cNvPr id="32826" name="Freeform 51"/>
            <p:cNvSpPr>
              <a:spLocks/>
            </p:cNvSpPr>
            <p:nvPr/>
          </p:nvSpPr>
          <p:spPr bwMode="auto">
            <a:xfrm>
              <a:off x="975" y="1270"/>
              <a:ext cx="56" cy="112"/>
            </a:xfrm>
            <a:custGeom>
              <a:avLst/>
              <a:gdLst>
                <a:gd name="T0" fmla="*/ 32 w 56"/>
                <a:gd name="T1" fmla="*/ 112 h 112"/>
                <a:gd name="T2" fmla="*/ 0 w 56"/>
                <a:gd name="T3" fmla="*/ 0 h 112"/>
                <a:gd name="T4" fmla="*/ 32 w 56"/>
                <a:gd name="T5" fmla="*/ 0 h 112"/>
                <a:gd name="T6" fmla="*/ 56 w 56"/>
                <a:gd name="T7" fmla="*/ 0 h 112"/>
                <a:gd name="T8" fmla="*/ 32 w 56"/>
                <a:gd name="T9" fmla="*/ 112 h 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2"/>
                <a:gd name="T17" fmla="*/ 56 w 56"/>
                <a:gd name="T18" fmla="*/ 112 h 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2">
                  <a:moveTo>
                    <a:pt x="32" y="112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32" y="1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27" name="Line 52"/>
            <p:cNvSpPr>
              <a:spLocks noChangeShapeType="1"/>
            </p:cNvSpPr>
            <p:nvPr/>
          </p:nvSpPr>
          <p:spPr bwMode="auto">
            <a:xfrm>
              <a:off x="1007" y="1262"/>
              <a:ext cx="1" cy="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32812" name="Group 53"/>
          <p:cNvGrpSpPr>
            <a:grpSpLocks/>
          </p:cNvGrpSpPr>
          <p:nvPr/>
        </p:nvGrpSpPr>
        <p:grpSpPr bwMode="auto">
          <a:xfrm>
            <a:off x="1500188" y="4435475"/>
            <a:ext cx="88900" cy="201613"/>
            <a:chOff x="983" y="2785"/>
            <a:chExt cx="56" cy="127"/>
          </a:xfrm>
        </p:grpSpPr>
        <p:sp>
          <p:nvSpPr>
            <p:cNvPr id="32824" name="Freeform 54"/>
            <p:cNvSpPr>
              <a:spLocks/>
            </p:cNvSpPr>
            <p:nvPr/>
          </p:nvSpPr>
          <p:spPr bwMode="auto">
            <a:xfrm>
              <a:off x="983" y="2801"/>
              <a:ext cx="56" cy="111"/>
            </a:xfrm>
            <a:custGeom>
              <a:avLst/>
              <a:gdLst>
                <a:gd name="T0" fmla="*/ 32 w 56"/>
                <a:gd name="T1" fmla="*/ 111 h 111"/>
                <a:gd name="T2" fmla="*/ 0 w 56"/>
                <a:gd name="T3" fmla="*/ 0 h 111"/>
                <a:gd name="T4" fmla="*/ 32 w 56"/>
                <a:gd name="T5" fmla="*/ 0 h 111"/>
                <a:gd name="T6" fmla="*/ 56 w 56"/>
                <a:gd name="T7" fmla="*/ 0 h 111"/>
                <a:gd name="T8" fmla="*/ 32 w 56"/>
                <a:gd name="T9" fmla="*/ 111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1"/>
                <a:gd name="T17" fmla="*/ 56 w 56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1">
                  <a:moveTo>
                    <a:pt x="32" y="111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56" y="0"/>
                  </a:lnTo>
                  <a:lnTo>
                    <a:pt x="32" y="1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  <a:ea typeface="굴림" pitchFamily="50" charset="-127"/>
              </a:endParaRPr>
            </a:p>
          </p:txBody>
        </p:sp>
        <p:sp>
          <p:nvSpPr>
            <p:cNvPr id="32825" name="Line 55"/>
            <p:cNvSpPr>
              <a:spLocks noChangeShapeType="1"/>
            </p:cNvSpPr>
            <p:nvPr/>
          </p:nvSpPr>
          <p:spPr bwMode="auto">
            <a:xfrm>
              <a:off x="1015" y="2785"/>
              <a:ext cx="1" cy="1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32813" name="Rectangle 56"/>
          <p:cNvSpPr>
            <a:spLocks noChangeArrowheads="1"/>
          </p:cNvSpPr>
          <p:nvPr/>
        </p:nvSpPr>
        <p:spPr bwMode="auto">
          <a:xfrm>
            <a:off x="3321050" y="974725"/>
            <a:ext cx="5508625" cy="199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A </a:t>
            </a:r>
            <a:r>
              <a:rPr lang="en-US" altLang="ko-KR" sz="2400" b="0" u="sng" dirty="0">
                <a:solidFill>
                  <a:srgbClr val="003399"/>
                </a:solidFill>
                <a:ea typeface="굴림" pitchFamily="50" charset="-127"/>
              </a:rPr>
              <a:t>quantitative measure </a:t>
            </a:r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of the </a:t>
            </a:r>
            <a:r>
              <a:rPr lang="en-US" altLang="ko-KR" sz="2400" b="0" u="sng" dirty="0">
                <a:solidFill>
                  <a:srgbClr val="003399"/>
                </a:solidFill>
                <a:ea typeface="굴림" pitchFamily="50" charset="-127"/>
              </a:rPr>
              <a:t>logical complexity </a:t>
            </a:r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 </a:t>
            </a:r>
          </a:p>
          <a:p>
            <a:endParaRPr lang="en-US" altLang="ko-KR" sz="2400" b="0" dirty="0">
              <a:solidFill>
                <a:srgbClr val="003399"/>
              </a:solidFill>
              <a:ea typeface="굴림" pitchFamily="50" charset="-127"/>
            </a:endParaRPr>
          </a:p>
          <a:p>
            <a:pPr>
              <a:buFont typeface="Arial" charset="0"/>
              <a:buChar char="•"/>
            </a:pPr>
            <a:r>
              <a:rPr lang="en-US" altLang="ko-KR" sz="2400" b="0" dirty="0" err="1">
                <a:solidFill>
                  <a:srgbClr val="003399"/>
                </a:solidFill>
                <a:ea typeface="굴림" pitchFamily="50" charset="-127"/>
              </a:rPr>
              <a:t>Cyclomatic</a:t>
            </a:r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 complexity defines the # of independent paths to test for complete statement/branch coverage</a:t>
            </a:r>
            <a:endParaRPr lang="en-US" altLang="ko-KR" dirty="0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4" name="Rectangle 58"/>
          <p:cNvSpPr>
            <a:spLocks noChangeArrowheads="1"/>
          </p:cNvSpPr>
          <p:nvPr/>
        </p:nvSpPr>
        <p:spPr bwMode="auto">
          <a:xfrm>
            <a:off x="3487738" y="2168525"/>
            <a:ext cx="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5" name="Rectangle 59"/>
          <p:cNvSpPr>
            <a:spLocks noChangeArrowheads="1"/>
          </p:cNvSpPr>
          <p:nvPr/>
        </p:nvSpPr>
        <p:spPr bwMode="auto">
          <a:xfrm>
            <a:off x="3622675" y="3309938"/>
            <a:ext cx="5156200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- number of simple decisions + 1         </a:t>
            </a:r>
            <a:endParaRPr lang="en-US" altLang="ko-KR" dirty="0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6" name="Rectangle 60"/>
          <p:cNvSpPr>
            <a:spLocks noChangeArrowheads="1"/>
          </p:cNvSpPr>
          <p:nvPr/>
        </p:nvSpPr>
        <p:spPr bwMode="auto">
          <a:xfrm>
            <a:off x="3636963" y="3289300"/>
            <a:ext cx="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7" name="Rectangle 62"/>
          <p:cNvSpPr>
            <a:spLocks noChangeArrowheads="1"/>
          </p:cNvSpPr>
          <p:nvPr/>
        </p:nvSpPr>
        <p:spPr bwMode="auto">
          <a:xfrm>
            <a:off x="3636963" y="3922713"/>
            <a:ext cx="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ko-KR" altLang="en-US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8" name="Rectangle 63"/>
          <p:cNvSpPr>
            <a:spLocks noChangeArrowheads="1"/>
          </p:cNvSpPr>
          <p:nvPr/>
        </p:nvSpPr>
        <p:spPr bwMode="auto">
          <a:xfrm>
            <a:off x="3636963" y="3968750"/>
            <a:ext cx="4229100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- number of enclosed areas + 1</a:t>
            </a:r>
            <a:endParaRPr lang="en-US" altLang="ko-KR" dirty="0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19" name="Rectangle 65"/>
          <p:cNvSpPr>
            <a:spLocks noChangeArrowheads="1"/>
          </p:cNvSpPr>
          <p:nvPr/>
        </p:nvSpPr>
        <p:spPr bwMode="auto">
          <a:xfrm>
            <a:off x="3636963" y="4383088"/>
            <a:ext cx="3054350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2400" b="0">
                <a:solidFill>
                  <a:srgbClr val="003399"/>
                </a:solidFill>
                <a:ea typeface="굴림" pitchFamily="50" charset="-127"/>
              </a:rPr>
              <a:t>- In this case, V(G) = 4</a:t>
            </a:r>
            <a:endParaRPr lang="en-US" altLang="ko-KR">
              <a:solidFill>
                <a:srgbClr val="003399"/>
              </a:solidFill>
              <a:ea typeface="굴림" pitchFamily="50" charset="-127"/>
            </a:endParaRPr>
          </a:p>
        </p:txBody>
      </p:sp>
      <p:sp>
        <p:nvSpPr>
          <p:cNvPr id="32820" name="Freeform 66"/>
          <p:cNvSpPr>
            <a:spLocks/>
          </p:cNvSpPr>
          <p:nvPr/>
        </p:nvSpPr>
        <p:spPr bwMode="auto">
          <a:xfrm>
            <a:off x="993775" y="3208338"/>
            <a:ext cx="1279525" cy="481012"/>
          </a:xfrm>
          <a:custGeom>
            <a:avLst/>
            <a:gdLst>
              <a:gd name="T0" fmla="*/ 2147483647 w 806"/>
              <a:gd name="T1" fmla="*/ 2147483647 h 303"/>
              <a:gd name="T2" fmla="*/ 2147483647 w 806"/>
              <a:gd name="T3" fmla="*/ 2147483647 h 303"/>
              <a:gd name="T4" fmla="*/ 2147483647 w 806"/>
              <a:gd name="T5" fmla="*/ 2147483647 h 303"/>
              <a:gd name="T6" fmla="*/ 0 w 806"/>
              <a:gd name="T7" fmla="*/ 2147483647 h 303"/>
              <a:gd name="T8" fmla="*/ 0 w 806"/>
              <a:gd name="T9" fmla="*/ 2147483647 h 303"/>
              <a:gd name="T10" fmla="*/ 0 w 806"/>
              <a:gd name="T11" fmla="*/ 0 h 303"/>
              <a:gd name="T12" fmla="*/ 0 w 806"/>
              <a:gd name="T13" fmla="*/ 0 h 3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06"/>
              <a:gd name="T22" fmla="*/ 0 h 303"/>
              <a:gd name="T23" fmla="*/ 806 w 806"/>
              <a:gd name="T24" fmla="*/ 303 h 30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06" h="303">
                <a:moveTo>
                  <a:pt x="806" y="215"/>
                </a:moveTo>
                <a:lnTo>
                  <a:pt x="806" y="303"/>
                </a:lnTo>
                <a:lnTo>
                  <a:pt x="0" y="303"/>
                </a:lnTo>
                <a:lnTo>
                  <a:pt x="0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21" name="Freeform 67"/>
          <p:cNvSpPr>
            <a:spLocks/>
          </p:cNvSpPr>
          <p:nvPr/>
        </p:nvSpPr>
        <p:spPr bwMode="auto">
          <a:xfrm>
            <a:off x="981075" y="3195638"/>
            <a:ext cx="1279525" cy="481012"/>
          </a:xfrm>
          <a:custGeom>
            <a:avLst/>
            <a:gdLst>
              <a:gd name="T0" fmla="*/ 2147483647 w 806"/>
              <a:gd name="T1" fmla="*/ 2147483647 h 303"/>
              <a:gd name="T2" fmla="*/ 2147483647 w 806"/>
              <a:gd name="T3" fmla="*/ 2147483647 h 303"/>
              <a:gd name="T4" fmla="*/ 0 w 806"/>
              <a:gd name="T5" fmla="*/ 2147483647 h 303"/>
              <a:gd name="T6" fmla="*/ 0 w 806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  <a:gd name="T12" fmla="*/ 0 w 806"/>
              <a:gd name="T13" fmla="*/ 0 h 303"/>
              <a:gd name="T14" fmla="*/ 806 w 806"/>
              <a:gd name="T15" fmla="*/ 303 h 3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6" h="303">
                <a:moveTo>
                  <a:pt x="806" y="215"/>
                </a:moveTo>
                <a:lnTo>
                  <a:pt x="806" y="303"/>
                </a:lnTo>
                <a:lnTo>
                  <a:pt x="0" y="303"/>
                </a:lnTo>
                <a:lnTo>
                  <a:pt x="0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822" name="Rectangle 69"/>
          <p:cNvSpPr>
            <a:spLocks noChangeArrowheads="1"/>
          </p:cNvSpPr>
          <p:nvPr/>
        </p:nvSpPr>
        <p:spPr bwMode="auto">
          <a:xfrm>
            <a:off x="3641725" y="3638550"/>
            <a:ext cx="5451813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ko-KR" sz="2400" b="0" dirty="0">
                <a:solidFill>
                  <a:srgbClr val="003399"/>
                </a:solidFill>
                <a:ea typeface="굴림" pitchFamily="50" charset="-127"/>
              </a:rPr>
              <a:t>- number of edge – number of node +2p</a:t>
            </a:r>
            <a:endParaRPr lang="en-US" altLang="ko-KR" dirty="0">
              <a:solidFill>
                <a:srgbClr val="003399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411375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3795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0954CAA-036F-4B58-8D78-F124F6B0D44B}" type="slidenum">
              <a:rPr lang="ko-KR" altLang="en-US" smtClean="0"/>
              <a:pPr/>
              <a:t>33</a:t>
            </a:fld>
            <a:endParaRPr lang="en-US" altLang="ko-KR"/>
          </a:p>
        </p:txBody>
      </p:sp>
      <p:sp>
        <p:nvSpPr>
          <p:cNvPr id="13199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000250" y="244475"/>
            <a:ext cx="516255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Metrics for Testing</a:t>
            </a:r>
          </a:p>
        </p:txBody>
      </p:sp>
      <p:sp>
        <p:nvSpPr>
          <p:cNvPr id="1319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422400"/>
            <a:ext cx="8686800" cy="39989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Testing effort can also be estimated using metrics derived from Halstead measures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Binder [BIN94] suggests a broad array of design metrics that have a direct influence on the “testability” of an OO system.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Lack of cohesion in methods (LCOM).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Percent public and protected (PAP).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Public access to data members (PAD). 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Number of root classes (NOR). 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Fan-in (FIN).  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altLang="ko-KR" dirty="0">
                <a:solidFill>
                  <a:srgbClr val="FF9933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Number of children (NOC) and depth of the inheritance tree (DIT).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4819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7686DB7-9069-4EFC-83AB-B98EF20117ED}" type="slidenum">
              <a:rPr lang="ko-KR" altLang="en-US" smtClean="0"/>
              <a:pPr/>
              <a:t>34</a:t>
            </a:fld>
            <a:endParaRPr lang="en-US" altLang="ko-KR"/>
          </a:p>
        </p:txBody>
      </p:sp>
      <p:sp>
        <p:nvSpPr>
          <p:cNvPr id="1326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Metrics for Maintenance</a:t>
            </a:r>
          </a:p>
        </p:txBody>
      </p:sp>
      <p:sp>
        <p:nvSpPr>
          <p:cNvPr id="132608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23838" y="1422400"/>
            <a:ext cx="8686800" cy="3998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800" dirty="0">
                <a:latin typeface="Arial" pitchFamily="34" charset="0"/>
                <a:ea typeface="굴림" pitchFamily="50" charset="-127"/>
                <a:cs typeface="Arial" pitchFamily="34" charset="0"/>
              </a:rPr>
              <a:t>IEEE Std 982.1-1998 Software Maturity Index (SMI)</a:t>
            </a:r>
          </a:p>
          <a:p>
            <a:pPr lvl="1" eaLnBrk="1" hangingPunct="1">
              <a:defRPr/>
            </a:pPr>
            <a:r>
              <a:rPr lang="en-US" altLang="ko-KR" sz="2400" dirty="0">
                <a:latin typeface="Arial" pitchFamily="34" charset="0"/>
                <a:ea typeface="굴림" pitchFamily="50" charset="-127"/>
                <a:cs typeface="Arial" pitchFamily="34" charset="0"/>
              </a:rPr>
              <a:t>SMI = [M</a:t>
            </a:r>
            <a:r>
              <a:rPr lang="en-US" altLang="ko-KR" sz="2400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t  </a:t>
            </a:r>
            <a:r>
              <a:rPr lang="en-US" altLang="ko-KR" sz="2400" dirty="0">
                <a:latin typeface="Arial" pitchFamily="34" charset="0"/>
                <a:ea typeface="굴림" pitchFamily="50" charset="-127"/>
                <a:cs typeface="Arial" pitchFamily="34" charset="0"/>
              </a:rPr>
              <a:t>- (</a:t>
            </a:r>
            <a:r>
              <a:rPr lang="en-US" altLang="ko-KR" sz="24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4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r>
              <a:rPr lang="en-US" altLang="ko-KR" sz="2400" dirty="0">
                <a:latin typeface="Arial" pitchFamily="34" charset="0"/>
                <a:ea typeface="굴림" pitchFamily="50" charset="-127"/>
                <a:cs typeface="Arial" pitchFamily="34" charset="0"/>
              </a:rPr>
              <a:t> + </a:t>
            </a:r>
            <a:r>
              <a:rPr lang="en-US" altLang="ko-KR" sz="24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4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400" dirty="0">
                <a:latin typeface="Arial" pitchFamily="34" charset="0"/>
                <a:ea typeface="굴림" pitchFamily="50" charset="-127"/>
                <a:cs typeface="Arial" pitchFamily="34" charset="0"/>
              </a:rPr>
              <a:t> + </a:t>
            </a:r>
            <a:r>
              <a:rPr lang="en-US" altLang="ko-KR" sz="24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4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d</a:t>
            </a:r>
            <a:r>
              <a:rPr lang="en-US" altLang="ko-KR" sz="2400" dirty="0">
                <a:latin typeface="Arial" pitchFamily="34" charset="0"/>
                <a:ea typeface="굴림" pitchFamily="50" charset="-127"/>
                <a:cs typeface="Arial" pitchFamily="34" charset="0"/>
              </a:rPr>
              <a:t>)]/M</a:t>
            </a:r>
            <a:r>
              <a:rPr lang="en-US" altLang="ko-KR" sz="2400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t</a:t>
            </a:r>
          </a:p>
          <a:p>
            <a:pPr lvl="2" eaLnBrk="1" hangingPunct="1">
              <a:defRPr/>
            </a:pP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M</a:t>
            </a:r>
            <a:r>
              <a:rPr lang="en-US" altLang="ko-KR" sz="2000" baseline="-25000" dirty="0">
                <a:latin typeface="Arial" pitchFamily="34" charset="0"/>
                <a:ea typeface="굴림" pitchFamily="50" charset="-127"/>
                <a:cs typeface="Arial" pitchFamily="34" charset="0"/>
              </a:rPr>
              <a:t>t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= # of modules in the current release</a:t>
            </a:r>
          </a:p>
          <a:p>
            <a:pPr lvl="2" eaLnBrk="1" hangingPunct="1">
              <a:defRPr/>
            </a:pP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0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c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= # of modules in the current release that have been changed</a:t>
            </a:r>
          </a:p>
          <a:p>
            <a:pPr lvl="2" eaLnBrk="1" hangingPunct="1">
              <a:defRPr/>
            </a:pP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0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= # of modules in the current release that have been added</a:t>
            </a:r>
          </a:p>
          <a:p>
            <a:pPr lvl="2" eaLnBrk="1" hangingPunct="1">
              <a:defRPr/>
            </a:pPr>
            <a:r>
              <a:rPr lang="en-US" altLang="ko-KR" sz="2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F</a:t>
            </a:r>
            <a:r>
              <a:rPr lang="en-US" altLang="ko-KR" sz="2000" baseline="-25000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d</a:t>
            </a:r>
            <a:r>
              <a:rPr lang="en-US" altLang="ko-KR" sz="2000" dirty="0">
                <a:latin typeface="Arial" pitchFamily="34" charset="0"/>
                <a:ea typeface="굴림" pitchFamily="50" charset="-127"/>
                <a:cs typeface="Arial" pitchFamily="34" charset="0"/>
              </a:rPr>
              <a:t> = # of modules from the preceding release that were deleted in the current release</a:t>
            </a:r>
          </a:p>
          <a:p>
            <a:pPr lvl="2" eaLnBrk="1" hangingPunct="1">
              <a:defRPr/>
            </a:pPr>
            <a:endParaRPr lang="en-US" altLang="ko-KR" sz="2000" dirty="0"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C07C0-254D-7B76-E304-2D4FE6E4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CEAED-2B20-9B6F-E4EB-2F052A39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4DDD33-62FF-9B6A-6124-B05F7E50F1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9EDFBC-23A6-AF78-0DD3-67BA66275A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875E70-5D8F-49A8-ADA8-ABFCCCCAF9DD}" type="slidenum">
              <a:rPr lang="ko-KR" altLang="en-US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2300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  <p:sp>
        <p:nvSpPr>
          <p:cNvPr id="30723" name="슬라이드 번호 개체 틀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C304C4-BF08-4039-A64C-26D02AE0DAD2}" type="slidenum">
              <a:rPr lang="ko-KR" altLang="en-US" smtClean="0"/>
              <a:pPr/>
              <a:t>36</a:t>
            </a:fld>
            <a:endParaRPr lang="en-US" altLang="ko-KR"/>
          </a:p>
        </p:txBody>
      </p:sp>
      <p:sp>
        <p:nvSpPr>
          <p:cNvPr id="13137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2313" y="244475"/>
            <a:ext cx="5156200" cy="60007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Class-Oriented Metrics</a:t>
            </a:r>
          </a:p>
        </p:txBody>
      </p:sp>
      <p:sp>
        <p:nvSpPr>
          <p:cNvPr id="13137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371600" y="1751013"/>
            <a:ext cx="7162800" cy="363061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class size</a:t>
            </a:r>
          </a:p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number of operations overridden by a subclass</a:t>
            </a:r>
          </a:p>
          <a:p>
            <a:pPr eaLnBrk="1" hangingPunct="1">
              <a:defRPr/>
            </a:pPr>
            <a:r>
              <a:rPr lang="en-US" altLang="ko-KR">
                <a:latin typeface="Arial" pitchFamily="34" charset="0"/>
                <a:ea typeface="굴림" pitchFamily="50" charset="-127"/>
                <a:cs typeface="Arial" pitchFamily="34" charset="0"/>
              </a:rPr>
              <a:t>number of operations added by a subclass</a:t>
            </a:r>
          </a:p>
        </p:txBody>
      </p:sp>
      <p:sp>
        <p:nvSpPr>
          <p:cNvPr id="1313796" name="Rectangle 4"/>
          <p:cNvSpPr>
            <a:spLocks noChangeArrowheads="1"/>
          </p:cNvSpPr>
          <p:nvPr/>
        </p:nvSpPr>
        <p:spPr bwMode="auto">
          <a:xfrm>
            <a:off x="1116013" y="1068388"/>
            <a:ext cx="5503862" cy="4175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altLang="ko-KR" sz="2400" b="0" i="1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Proposed by Lorenz and Kidd [LOR94]</a:t>
            </a:r>
            <a:r>
              <a:rPr lang="en-US" altLang="ko-KR" sz="2400" b="0" i="1">
                <a:effectLst>
                  <a:outerShdw blurRad="38100" dist="38100" dir="2700000" algn="tl">
                    <a:srgbClr val="C0C0C0"/>
                  </a:outerShdw>
                </a:effectLst>
                <a:latin typeface="Palatino" charset="0"/>
                <a:ea typeface="굴림" pitchFamily="50" charset="-127"/>
              </a:rPr>
              <a:t>:</a:t>
            </a:r>
            <a:endParaRPr lang="en-US" altLang="ko-KR" sz="2400" b="0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652663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s550">
  <a:themeElements>
    <a:clrScheme name="cs550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cs550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cs550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550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s550">
  <a:themeElements>
    <a:clrScheme name="cs550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cs550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err="1">
            <a:ln>
              <a:noFill/>
            </a:ln>
            <a:solidFill>
              <a:schemeClr val="bg2"/>
            </a:solidFill>
            <a:effectLst/>
            <a:latin typeface="Helvetica" charset="0"/>
          </a:defRPr>
        </a:defPPr>
      </a:lstStyle>
    </a:spDef>
    <a:lnDef>
      <a:spPr bwMode="auto">
        <a:noFill/>
        <a:ln w="1270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cs550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550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cs550</Template>
  <TotalTime>4148</TotalTime>
  <Words>3627</Words>
  <Application>Microsoft Office PowerPoint</Application>
  <PresentationFormat>사용자 지정</PresentationFormat>
  <Paragraphs>729</Paragraphs>
  <Slides>36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Avant Garde</vt:lpstr>
      <vt:lpstr>Palatino</vt:lpstr>
      <vt:lpstr>굴림</vt:lpstr>
      <vt:lpstr>Arial</vt:lpstr>
      <vt:lpstr>Helvetica</vt:lpstr>
      <vt:lpstr>Wingdings</vt:lpstr>
      <vt:lpstr>cs550</vt:lpstr>
      <vt:lpstr>1_cs550</vt:lpstr>
      <vt:lpstr>  Chapter 23 Software Metrics and Analytics</vt:lpstr>
      <vt:lpstr>McCall’s Triangle of Quality</vt:lpstr>
      <vt:lpstr>Measures, Metrics and Indicators</vt:lpstr>
      <vt:lpstr>Measurement Principles</vt:lpstr>
      <vt:lpstr>Measurement Process</vt:lpstr>
      <vt:lpstr>Goal-Oriented Software Measurement</vt:lpstr>
      <vt:lpstr>Ex&gt; Goal definition for SafeHome</vt:lpstr>
      <vt:lpstr>Metrics Attributes</vt:lpstr>
      <vt:lpstr>Collection and Analysis Principles</vt:lpstr>
      <vt:lpstr>Overview of Ch23. Product Metrics</vt:lpstr>
      <vt:lpstr>Metrics for the Analysis Model</vt:lpstr>
      <vt:lpstr>Function-Based Metrics</vt:lpstr>
      <vt:lpstr>Function Points</vt:lpstr>
      <vt:lpstr>PowerPoint 프레젠테이션</vt:lpstr>
      <vt:lpstr>Value Adjustment Factors (Fi)</vt:lpstr>
      <vt:lpstr>Usage of Function Points</vt:lpstr>
      <vt:lpstr>Metrics for the Design Model</vt:lpstr>
      <vt:lpstr>Architectural Design Metrics</vt:lpstr>
      <vt:lpstr>Morphology Metrics</vt:lpstr>
      <vt:lpstr>Design Structure Quality Index (DSQI)</vt:lpstr>
      <vt:lpstr>Metrics for OO Design-I</vt:lpstr>
      <vt:lpstr>Metrics for OO Design-II</vt:lpstr>
      <vt:lpstr>Distinguishing Characteristics</vt:lpstr>
      <vt:lpstr>Class-Oriented Metrics</vt:lpstr>
      <vt:lpstr>Class-Oriented Metrics</vt:lpstr>
      <vt:lpstr>Applying CK Metrics</vt:lpstr>
      <vt:lpstr>PowerPoint 프레젠테이션</vt:lpstr>
      <vt:lpstr>Class-Oriented Metrics</vt:lpstr>
      <vt:lpstr>Component-Level Design Metrics</vt:lpstr>
      <vt:lpstr>Operation-Oriented Metrics</vt:lpstr>
      <vt:lpstr>Metrics for Source Code</vt:lpstr>
      <vt:lpstr>Cyclometic Complexity</vt:lpstr>
      <vt:lpstr>Metrics for Testing</vt:lpstr>
      <vt:lpstr>Metrics for Maintenance</vt:lpstr>
      <vt:lpstr>PowerPoint 프레젠테이션</vt:lpstr>
      <vt:lpstr>Class-Oriented Metrics</vt:lpstr>
    </vt:vector>
  </TitlesOfParts>
  <Company>CS Dept. 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Chapter 1 Software and Software Engineering   Moonzoo Kim CS Division of EECS Dept.  KAIST  moonzoo@cs.kaist.ac.kr http://pswlab.kaist.ac.kr/courses/cs550-07</dc:title>
  <dc:creator>Moonzoo Kim</dc:creator>
  <cp:lastModifiedBy>moonzoo</cp:lastModifiedBy>
  <cp:revision>732</cp:revision>
  <cp:lastPrinted>2025-11-05T03:10:55Z</cp:lastPrinted>
  <dcterms:created xsi:type="dcterms:W3CDTF">2007-02-27T05:57:08Z</dcterms:created>
  <dcterms:modified xsi:type="dcterms:W3CDTF">2025-11-10T03:18:35Z</dcterms:modified>
</cp:coreProperties>
</file>