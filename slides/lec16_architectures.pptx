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0" r:id="rId1"/>
  </p:sldMasterIdLst>
  <p:notesMasterIdLst>
    <p:notesMasterId r:id="rId22"/>
  </p:notesMasterIdLst>
  <p:handoutMasterIdLst>
    <p:handoutMasterId r:id="rId23"/>
  </p:handoutMasterIdLst>
  <p:sldIdLst>
    <p:sldId id="256" r:id="rId2"/>
    <p:sldId id="501" r:id="rId3"/>
    <p:sldId id="634" r:id="rId4"/>
    <p:sldId id="2282" r:id="rId5"/>
    <p:sldId id="633" r:id="rId6"/>
    <p:sldId id="506" r:id="rId7"/>
    <p:sldId id="516" r:id="rId8"/>
    <p:sldId id="474" r:id="rId9"/>
    <p:sldId id="469" r:id="rId10"/>
    <p:sldId id="482" r:id="rId11"/>
    <p:sldId id="470" r:id="rId12"/>
    <p:sldId id="484" r:id="rId13"/>
    <p:sldId id="471" r:id="rId14"/>
    <p:sldId id="486" r:id="rId15"/>
    <p:sldId id="448" r:id="rId16"/>
    <p:sldId id="546" r:id="rId17"/>
    <p:sldId id="627" r:id="rId18"/>
    <p:sldId id="521" r:id="rId19"/>
    <p:sldId id="522" r:id="rId20"/>
    <p:sldId id="672" r:id="rId21"/>
  </p:sldIdLst>
  <p:sldSz cx="12192000" cy="6858000"/>
  <p:notesSz cx="9939338" cy="68072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00" userDrawn="1">
          <p15:clr>
            <a:srgbClr val="A4A3A4"/>
          </p15:clr>
        </p15:guide>
        <p15:guide id="2" orient="horz" pos="2592" userDrawn="1">
          <p15:clr>
            <a:srgbClr val="A4A3A4"/>
          </p15:clr>
        </p15:guide>
        <p15:guide id="3" orient="horz" pos="1824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1856" userDrawn="1">
          <p15:clr>
            <a:srgbClr val="A4A3A4"/>
          </p15:clr>
        </p15:guide>
        <p15:guide id="6" pos="5312" userDrawn="1">
          <p15:clr>
            <a:srgbClr val="A4A3A4"/>
          </p15:clr>
        </p15:guide>
        <p15:guide id="7" pos="37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 userDrawn="1">
          <p15:clr>
            <a:srgbClr val="A4A3A4"/>
          </p15:clr>
        </p15:guide>
        <p15:guide id="2" pos="313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432FF"/>
    <a:srgbClr val="F2E6DD"/>
    <a:srgbClr val="FEE9C0"/>
    <a:srgbClr val="F4FAAB"/>
    <a:srgbClr val="0000CC"/>
    <a:srgbClr val="0F4191"/>
    <a:srgbClr val="DAFDA7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40" autoAdjust="0"/>
    <p:restoredTop sz="90832" autoAdjust="0"/>
  </p:normalViewPr>
  <p:slideViewPr>
    <p:cSldViewPr>
      <p:cViewPr varScale="1">
        <p:scale>
          <a:sx n="73" d="100"/>
          <a:sy n="73" d="100"/>
        </p:scale>
        <p:origin x="84" y="3744"/>
      </p:cViewPr>
      <p:guideLst>
        <p:guide orient="horz" pos="3600"/>
        <p:guide orient="horz" pos="2592"/>
        <p:guide orient="horz" pos="1824"/>
        <p:guide pos="3840"/>
        <p:guide pos="1856"/>
        <p:guide pos="5312"/>
        <p:guide pos="371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50" d="100"/>
          <a:sy n="150" d="100"/>
        </p:scale>
        <p:origin x="-468" y="840"/>
      </p:cViewPr>
      <p:guideLst>
        <p:guide orient="horz" pos="2144"/>
        <p:guide pos="313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9992" y="1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/>
          <a:lstStyle>
            <a:lvl1pPr algn="r">
              <a:defRPr sz="1200"/>
            </a:lvl1pPr>
          </a:lstStyle>
          <a:p>
            <a:fld id="{20566D1B-0D1C-42D9-9914-2174036F284F}" type="datetimeFigureOut">
              <a:rPr lang="ko-KR" altLang="en-US" smtClean="0"/>
              <a:pPr/>
              <a:t>2025-11-10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65660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9992" y="6465660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 anchor="b"/>
          <a:lstStyle>
            <a:lvl1pPr algn="r">
              <a:defRPr sz="1200"/>
            </a:lvl1pPr>
          </a:lstStyle>
          <a:p>
            <a:fld id="{76A72F3A-EA42-4A96-9A55-9403BE5157D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2751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992" y="1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/>
          <a:lstStyle>
            <a:lvl1pPr algn="r" latinLnBrk="1">
              <a:defRPr lang="ko-KR" sz="1200"/>
            </a:lvl1pPr>
          </a:lstStyle>
          <a:p>
            <a:fld id="{2447E72A-D913-4DC2-9E0A-E520CE8FCC86}" type="datetimeFigureOut">
              <a:rPr lang="ko-KR" altLang="en-US"/>
              <a:pPr/>
              <a:t>2025-11-10</a:t>
            </a:fld>
            <a:endParaRPr lang="ko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1925" y="511175"/>
            <a:ext cx="4535488" cy="25527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02" tIns="45901" rIns="91802" bIns="45901" rtlCol="0" anchor="ctr"/>
          <a:lstStyle/>
          <a:p>
            <a:endParaRPr lang="ko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935" y="3233422"/>
            <a:ext cx="7951470" cy="3063239"/>
          </a:xfrm>
          <a:prstGeom prst="rect">
            <a:avLst/>
          </a:prstGeom>
        </p:spPr>
        <p:txBody>
          <a:bodyPr vert="horz" lIns="91802" tIns="45901" rIns="91802" bIns="45901" rtlCol="0">
            <a:normAutofit/>
          </a:bodyPr>
          <a:lstStyle/>
          <a:p>
            <a:pPr lvl="0"/>
            <a:r>
              <a:rPr lang="ko-KR"/>
              <a:t>마스터 텍스트 스타일을 편집합니다</a:t>
            </a:r>
          </a:p>
          <a:p>
            <a:pPr lvl="1"/>
            <a:r>
              <a:rPr lang="ko-KR"/>
              <a:t>둘째 수준</a:t>
            </a:r>
          </a:p>
          <a:p>
            <a:pPr lvl="2"/>
            <a:r>
              <a:rPr lang="ko-KR"/>
              <a:t>셋째 수준</a:t>
            </a:r>
          </a:p>
          <a:p>
            <a:pPr lvl="3"/>
            <a:r>
              <a:rPr lang="ko-KR"/>
              <a:t>넷째 수준</a:t>
            </a:r>
          </a:p>
          <a:p>
            <a:pPr lvl="4"/>
            <a:r>
              <a:rPr lang="ko-KR"/>
              <a:t>다섯째 수준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5660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 anchor="b"/>
          <a:lstStyle>
            <a:lvl1pPr algn="l" latinLnBrk="1">
              <a:defRPr lang="ko-KR" sz="1200"/>
            </a:lvl1pPr>
          </a:lstStyle>
          <a:p>
            <a:endParaRPr lang="ko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992" y="6465660"/>
            <a:ext cx="4307048" cy="340360"/>
          </a:xfrm>
          <a:prstGeom prst="rect">
            <a:avLst/>
          </a:prstGeom>
        </p:spPr>
        <p:txBody>
          <a:bodyPr vert="horz" lIns="91802" tIns="45901" rIns="91802" bIns="45901" rtlCol="0" anchor="b"/>
          <a:lstStyle>
            <a:lvl1pPr algn="r" latinLnBrk="1">
              <a:defRPr lang="ko-KR" sz="1200"/>
            </a:lvl1pPr>
          </a:lstStyle>
          <a:p>
            <a:fld id="{A5D78FC6-CE17-4259-A63C-DDFC12E048FC}" type="slidenum">
              <a:rPr/>
              <a:pPr/>
              <a:t>‹#›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40568607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rtl="0" latinLnBrk="1">
      <a:defRPr lang="ko-K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ko-K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eiljbrown.com/2017/05/13/message-broker-or-bus-whats-the-difference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01925" y="511175"/>
            <a:ext cx="4535488" cy="2552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altLang="ko-KR" smtClean="0"/>
              <a:pPr/>
              <a:t>1</a:t>
            </a:fld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39921595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2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66981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R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0258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6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3976312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7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343553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8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645487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ore-KR" dirty="0"/>
              <a:t>…</a:t>
            </a:r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10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18536331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ore-KR" smtClean="0"/>
              <a:pPr/>
              <a:t>11</a:t>
            </a:fld>
            <a:endParaRPr lang="ko-Kore-KR" altLang="en-US"/>
          </a:p>
        </p:txBody>
      </p:sp>
    </p:spTree>
    <p:extLst>
      <p:ext uri="{BB962C8B-B14F-4D97-AF65-F5344CB8AC3E}">
        <p14:creationId xmlns:p14="http://schemas.microsoft.com/office/powerpoint/2010/main" val="2334993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Compiler:  lexical analysis, parsing, semantic analysis, code generation,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111760-9A14-AD43-BEDC-BC3AB056B8FD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03485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Under what occasions do you have this structure?</a:t>
            </a:r>
          </a:p>
          <a:p>
            <a:r>
              <a:rPr lang="en-US" altLang="ko-KR" dirty="0"/>
              <a:t>- Parallel processing  for fault tolerance or performance reasons.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111760-9A14-AD43-BEDC-BC3AB056B8FD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8274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Clients does not need to know existence of specific servers, unlike Client-Server pattern.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111760-9A14-AD43-BEDC-BC3AB056B8FD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95306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Event-bus vs broker ???</a:t>
            </a:r>
          </a:p>
          <a:p>
            <a:endParaRPr kumimoji="1" lang="en-US" altLang="ko-KR" dirty="0"/>
          </a:p>
          <a:p>
            <a:r>
              <a:rPr lang="en-US" altLang="ko-KR" dirty="0">
                <a:hlinkClick r:id="rId3"/>
              </a:rPr>
              <a:t>https://neiljbrown.com/2017/05/13/message-broker-or-bus-whats-the-difference/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111760-9A14-AD43-BEDC-BC3AB056B8FD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61404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The solid line represents a direct association, the dashed an indirect association (via an observer for example).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altLang="ko-KR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588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687FE4-4171-40A8-B888-B889957A7FBC}" type="slidenum">
              <a:rPr lang="en-US" altLang="ko-KR" smtClean="0"/>
              <a:pPr/>
              <a:t>19</a:t>
            </a:fld>
            <a:endParaRPr lang="en-US" altLang="ko-KR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ko-KR"/>
              <a:t>Components are for solving general problems, not just for a specific application.</a:t>
            </a:r>
          </a:p>
          <a:p>
            <a:pPr eaLnBrk="1" hangingPunct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84059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78FC6-CE17-4259-A63C-DDFC12E048FC}" type="slidenum">
              <a:rPr lang="en-US" altLang="ko-KR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735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 flip="none" rotWithShape="1">
          <a:gsLst>
            <a:gs pos="18000">
              <a:schemeClr val="bg1"/>
            </a:gs>
            <a:gs pos="80000">
              <a:srgbClr val="50B0E7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 sz="4000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/>
              <a:t>Click to edit Master subtitle style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844659" y="693737"/>
            <a:ext cx="1219200" cy="91440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kumimoji="1" lang="ja-JP" altLang="en-US" sz="1200" b="1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AF2A19E8-2598-D944-B408-E678960DC0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2000" y="304800"/>
            <a:ext cx="1838960" cy="61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1055019" cy="5410200"/>
          </a:xfrm>
        </p:spPr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20688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20F90BFD-81E8-494C-9CA2-979747C59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1594" y="6428613"/>
            <a:ext cx="1593088" cy="42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85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9718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ko-KR"/>
              <a:t>Click to edit Master title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29540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2819400"/>
            <a:ext cx="12192000" cy="152400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201" y="6424208"/>
            <a:ext cx="1690624" cy="455676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819400"/>
            <a:ext cx="12192000" cy="152400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0904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052737"/>
            <a:ext cx="5384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52737"/>
            <a:ext cx="5384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92696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198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244" y="98072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28801"/>
            <a:ext cx="5386917" cy="44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012" y="98072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28801"/>
            <a:ext cx="5389033" cy="44973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692696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6711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" y="152400"/>
            <a:ext cx="2235200" cy="45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4191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altLang="ko-KR" b="1" smtClean="0">
                <a:solidFill>
                  <a:srgbClr val="004191"/>
                </a:solidFill>
              </a:defRPr>
            </a:lvl1pPr>
          </a:lstStyle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20" name="Rectangle 19"/>
          <p:cNvSpPr/>
          <p:nvPr/>
        </p:nvSpPr>
        <p:spPr>
          <a:xfrm>
            <a:off x="0" y="692696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064" y="2106051"/>
            <a:ext cx="4030960" cy="3082499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1952606"/>
            <a:ext cx="4230943" cy="338938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5386" y="188640"/>
            <a:ext cx="11481229" cy="45990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lang="en-US" altLang="ko-KR" sz="2400" b="1" dirty="0">
                <a:solidFill>
                  <a:srgbClr val="004191"/>
                </a:solidFill>
              </a:rPr>
              <a:t>Formatting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300789" y="836713"/>
            <a:ext cx="11590425" cy="231601"/>
            <a:chOff x="209550" y="692696"/>
            <a:chExt cx="8692819" cy="288032"/>
          </a:xfrm>
          <a:noFill/>
        </p:grpSpPr>
        <p:sp>
          <p:nvSpPr>
            <p:cNvPr id="28" name="Rounded Rectangle 27"/>
            <p:cNvSpPr/>
            <p:nvPr userDrawn="1"/>
          </p:nvSpPr>
          <p:spPr>
            <a:xfrm>
              <a:off x="209550" y="692696"/>
              <a:ext cx="1562472" cy="288032"/>
            </a:xfrm>
            <a:prstGeom prst="roundRect">
              <a:avLst/>
            </a:prstGeom>
            <a:solidFill>
              <a:srgbClr val="5FBEEB"/>
            </a:solidFill>
            <a:ln w="6350">
              <a:noFill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bg1"/>
                  </a:solidFill>
                </a:rPr>
                <a:t>Introduction</a:t>
              </a:r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Rounded Rectangle 28"/>
            <p:cNvSpPr/>
            <p:nvPr userDrawn="1"/>
          </p:nvSpPr>
          <p:spPr>
            <a:xfrm>
              <a:off x="1992137" y="692696"/>
              <a:ext cx="1562472" cy="288032"/>
            </a:xfrm>
            <a:prstGeom prst="roundRect">
              <a:avLst/>
            </a:prstGeom>
            <a:solidFill>
              <a:srgbClr val="DFF2FB"/>
            </a:solidFill>
            <a:ln w="6350">
              <a:noFill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000" dirty="0">
                  <a:solidFill>
                    <a:srgbClr val="5FBEEB"/>
                  </a:solidFill>
                </a:rPr>
                <a:t>Introduction</a:t>
              </a:r>
              <a:endParaRPr lang="ko-KR" altLang="en-US" sz="1000" dirty="0">
                <a:solidFill>
                  <a:srgbClr val="5FBEEB"/>
                </a:solidFill>
              </a:endParaRPr>
            </a:p>
          </p:txBody>
        </p:sp>
        <p:sp>
          <p:nvSpPr>
            <p:cNvPr id="30" name="Rounded Rectangle 29"/>
            <p:cNvSpPr/>
            <p:nvPr userDrawn="1"/>
          </p:nvSpPr>
          <p:spPr>
            <a:xfrm>
              <a:off x="3774724" y="692696"/>
              <a:ext cx="1562472" cy="288032"/>
            </a:xfrm>
            <a:prstGeom prst="roundRect">
              <a:avLst/>
            </a:prstGeom>
            <a:solidFill>
              <a:srgbClr val="DFF2FB"/>
            </a:solidFill>
            <a:ln w="6350">
              <a:noFill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000" dirty="0">
                  <a:solidFill>
                    <a:srgbClr val="5FBEEB"/>
                  </a:solidFill>
                </a:rPr>
                <a:t>Introduction</a:t>
              </a:r>
              <a:endParaRPr lang="ko-KR" altLang="en-US" sz="1000" dirty="0">
                <a:solidFill>
                  <a:srgbClr val="5FBEEB"/>
                </a:solidFill>
              </a:endParaRPr>
            </a:p>
          </p:txBody>
        </p:sp>
        <p:sp>
          <p:nvSpPr>
            <p:cNvPr id="31" name="Rounded Rectangle 30"/>
            <p:cNvSpPr/>
            <p:nvPr userDrawn="1"/>
          </p:nvSpPr>
          <p:spPr>
            <a:xfrm>
              <a:off x="5557311" y="692696"/>
              <a:ext cx="1562472" cy="288032"/>
            </a:xfrm>
            <a:prstGeom prst="roundRect">
              <a:avLst/>
            </a:prstGeom>
            <a:solidFill>
              <a:srgbClr val="DFF2FB"/>
            </a:solidFill>
            <a:ln w="6350">
              <a:noFill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000" dirty="0">
                  <a:solidFill>
                    <a:srgbClr val="5FBEEB"/>
                  </a:solidFill>
                </a:rPr>
                <a:t>Introduction</a:t>
              </a:r>
              <a:endParaRPr lang="ko-KR" altLang="en-US" sz="1000" dirty="0">
                <a:solidFill>
                  <a:srgbClr val="5FBEEB"/>
                </a:solidFill>
              </a:endParaRPr>
            </a:p>
          </p:txBody>
        </p:sp>
        <p:sp>
          <p:nvSpPr>
            <p:cNvPr id="32" name="Rounded Rectangle 31"/>
            <p:cNvSpPr/>
            <p:nvPr userDrawn="1"/>
          </p:nvSpPr>
          <p:spPr>
            <a:xfrm>
              <a:off x="7339897" y="692696"/>
              <a:ext cx="1562472" cy="288032"/>
            </a:xfrm>
            <a:prstGeom prst="roundRect">
              <a:avLst/>
            </a:prstGeom>
            <a:solidFill>
              <a:srgbClr val="DFF2FB"/>
            </a:solidFill>
            <a:ln w="6350">
              <a:noFill/>
            </a:ln>
            <a:effectLst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US" altLang="ko-KR" sz="1000" dirty="0">
                  <a:solidFill>
                    <a:srgbClr val="5FBEEB"/>
                  </a:solidFill>
                </a:rPr>
                <a:t>Introduction</a:t>
              </a:r>
              <a:endParaRPr lang="ko-KR" altLang="en-US" sz="1000" dirty="0">
                <a:solidFill>
                  <a:srgbClr val="5FBEEB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184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4191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lang="en-US" altLang="ko-KR" b="1" smtClean="0">
                <a:solidFill>
                  <a:srgbClr val="004191"/>
                </a:solidFill>
              </a:defRPr>
            </a:lvl1pPr>
          </a:lstStyle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692696"/>
            <a:ext cx="12192000" cy="72008"/>
          </a:xfrm>
          <a:prstGeom prst="rect">
            <a:avLst/>
          </a:prstGeom>
          <a:gradFill flip="none" rotWithShape="1">
            <a:gsLst>
              <a:gs pos="0">
                <a:srgbClr val="5FBEEB"/>
              </a:gs>
              <a:gs pos="87000">
                <a:srgbClr val="FFFFFF"/>
              </a:gs>
            </a:gsLst>
            <a:lin ang="10800000" scaled="1"/>
            <a:tileRect/>
          </a:gradFill>
          <a:ln w="6350"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30398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7685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Drag picture to placeholder or click icon to add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81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409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414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제목 슬라이드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ko-KR" altLang="en-US" sz="1800" dirty="0"/>
          </a:p>
        </p:txBody>
      </p:sp>
      <p:sp>
        <p:nvSpPr>
          <p:cNvPr id="28" name="날짜 개체 틀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 latinLnBrk="1">
              <a:defRPr lang="ko-KR" sz="20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altLang="ko-KR"/>
              <a:t>Spring 2025</a:t>
            </a:r>
            <a:endParaRPr lang="en-US" altLang="en-US" dirty="0"/>
          </a:p>
        </p:txBody>
      </p:sp>
      <p:pic>
        <p:nvPicPr>
          <p:cNvPr id="1026" name="Picture 2" descr="C:\Users\sangho\AppData\Local\Temp\_AZTMP0_\DragTemp\엠블럼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769600" y="6037658"/>
            <a:ext cx="1117600" cy="721608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3095807" y="6212541"/>
            <a:ext cx="582627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20040" marR="0" lvl="0" indent="-32004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DD8047"/>
              </a:buClr>
              <a:buSzPct val="60000"/>
              <a:buFont typeface="Wingdings"/>
              <a:buNone/>
              <a:tabLst/>
              <a:defRPr/>
            </a:pPr>
            <a:r>
              <a:rPr lang="en-US" altLang="en-US" sz="1900" kern="1200" noProof="0" dirty="0">
                <a:solidFill>
                  <a:schemeClr val="tx1"/>
                </a:solidFill>
                <a:latin typeface="Tahoma" pitchFamily="34" charset="0"/>
                <a:ea typeface="맑은 고딕" pitchFamily="50" charset="-127"/>
                <a:cs typeface="Tahoma" pitchFamily="34" charset="0"/>
              </a:rPr>
              <a:t>Korea Advanced Institute of Science and Technology</a:t>
            </a:r>
            <a:endParaRPr lang="ko-KR" altLang="en-US" sz="1900" kern="1200" dirty="0">
              <a:solidFill>
                <a:schemeClr val="tx1"/>
              </a:solidFill>
              <a:latin typeface="Tahoma" pitchFamily="34" charset="0"/>
              <a:ea typeface="맑은 고딕" pitchFamily="50" charset="-127"/>
              <a:cs typeface="Tahoma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711200" y="2057400"/>
            <a:ext cx="5181600" cy="419100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6299200" y="2057400"/>
            <a:ext cx="5181600" cy="419100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711200" y="12954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 latinLnBrk="1">
              <a:buFontTx/>
              <a:buNone/>
              <a:defRPr lang="ko-KR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6299200" y="12954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 latinLnBrk="1">
              <a:buFontTx/>
              <a:buNone/>
              <a:defRPr lang="ko-KR"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7" name="제목 1"/>
          <p:cNvSpPr>
            <a:spLocks noGrp="1"/>
          </p:cNvSpPr>
          <p:nvPr>
            <p:ph type="title"/>
          </p:nvPr>
        </p:nvSpPr>
        <p:spPr>
          <a:xfrm>
            <a:off x="812800" y="-76200"/>
            <a:ext cx="10871200" cy="99060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(캡션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latinLnBrk="1">
              <a:defRPr lang="ko-KR">
                <a:solidFill>
                  <a:srgbClr val="FFFFFF"/>
                </a:solidFill>
              </a:defRPr>
            </a:lvl1pPr>
          </a:lstStyle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711200" y="15240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latinLnBrk="1">
              <a:spcAft>
                <a:spcPts val="1000"/>
              </a:spcAft>
              <a:buNone/>
              <a:defRPr lang="ko-KR" sz="1800"/>
            </a:lvl1pPr>
            <a:lvl2pPr>
              <a:buNone/>
              <a:defRPr lang="ko-KR" sz="1200"/>
            </a:lvl2pPr>
            <a:lvl3pPr>
              <a:buNone/>
              <a:defRPr lang="ko-KR" sz="1000"/>
            </a:lvl3pPr>
            <a:lvl4pPr>
              <a:buNone/>
              <a:defRPr lang="ko-KR" sz="900"/>
            </a:lvl4pPr>
            <a:lvl5pPr>
              <a:buNone/>
              <a:defRPr lang="ko-KR" sz="900"/>
            </a:lvl5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3048000" y="1524000"/>
            <a:ext cx="8534400" cy="4419600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/>
          </a:p>
        </p:txBody>
      </p:sp>
      <p:sp>
        <p:nvSpPr>
          <p:cNvPr id="10" name="Rectangle 2"/>
          <p:cNvSpPr>
            <a:spLocks noGrp="1"/>
          </p:cNvSpPr>
          <p:nvPr>
            <p:ph type="ftr" sz="quarter" idx="3"/>
          </p:nvPr>
        </p:nvSpPr>
        <p:spPr>
          <a:xfrm>
            <a:off x="1306290" y="6479803"/>
            <a:ext cx="8244111" cy="365125"/>
          </a:xfrm>
          <a:prstGeom prst="rect">
            <a:avLst/>
          </a:prstGeom>
        </p:spPr>
        <p:txBody>
          <a:bodyPr vert="horz" anchor="ctr"/>
          <a:lstStyle>
            <a:lvl1pPr algn="r" latinLnBrk="1">
              <a:defRPr lang="ko-KR" sz="1200" b="1">
                <a:solidFill>
                  <a:schemeClr val="tx2"/>
                </a:solidFill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812800" y="-76200"/>
            <a:ext cx="10871200" cy="99060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x Main 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61247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B2D170F-7AF9-40BB-A11B-08474DF5C3A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070496"/>
            <a:ext cx="11277600" cy="649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2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356A590-66B5-4770-8441-82DC031F56E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2900944"/>
            <a:ext cx="11277600" cy="6731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3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30BD29E5-BD7B-4CD0-9B09-8F8B24F89FB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375535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4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E908CA92-5DB2-4DC0-937B-1B178AA9178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57200" y="4635164"/>
            <a:ext cx="11277600" cy="6985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5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8B728CCD-2639-461B-9841-57505AC1346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5514976"/>
            <a:ext cx="11277600" cy="7334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 6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752" y="6324600"/>
            <a:ext cx="320649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2" y="6684964"/>
            <a:ext cx="9296399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438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92">
          <p15:clr>
            <a:srgbClr val="FBAE40"/>
          </p15:clr>
        </p15:guide>
        <p15:guide id="2" orient="horz" pos="27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제목 및 텍스트/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02784" y="862013"/>
            <a:ext cx="10668000" cy="8382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219200" y="2209800"/>
            <a:ext cx="10668000" cy="18669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219200" y="4229100"/>
            <a:ext cx="10668000" cy="18669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Spring 2025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CS30500        Copyright (c) In-Young Ko, KAIST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1549-D891-46A8-BE9D-BD13382BD92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642347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제목 및 내용/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02784" y="862013"/>
            <a:ext cx="10668000" cy="8382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219200" y="2209800"/>
            <a:ext cx="10668000" cy="18669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19200" y="4229100"/>
            <a:ext cx="10668000" cy="18669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Spring 2025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CS30500        Copyright (c) In-Young Ko, KAIST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CB37-9868-457B-AE39-A23028AE1A0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74340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Main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>
            <a:extLst>
              <a:ext uri="{FF2B5EF4-FFF2-40B4-BE49-F238E27FC236}">
                <a16:creationId xmlns:a16="http://schemas.microsoft.com/office/drawing/2014/main" id="{A4407840-F6A4-4638-BB2F-9FBAA1A814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4801"/>
            <a:ext cx="11277600" cy="678611"/>
          </a:xfrm>
          <a:prstGeom prst="rect">
            <a:avLst/>
          </a:prstGeom>
        </p:spPr>
        <p:txBody>
          <a:bodyPr anchor="ctr"/>
          <a:lstStyle>
            <a:lvl1pPr>
              <a:defRPr sz="24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D13536C2-DC17-4031-9948-17E37EF9911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1276710"/>
            <a:ext cx="11277600" cy="49716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Slide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Appendix Link">
            <a:extLst>
              <a:ext uri="{FF2B5EF4-FFF2-40B4-BE49-F238E27FC236}">
                <a16:creationId xmlns:a16="http://schemas.microsoft.com/office/drawing/2014/main" id="{24E3FC7A-8095-4466-BF43-4B6D04A5D8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92463" y="6324600"/>
            <a:ext cx="3207076" cy="190500"/>
          </a:xfrm>
        </p:spPr>
        <p:txBody>
          <a:bodyPr anchor="b">
            <a:noAutofit/>
          </a:bodyPr>
          <a:lstStyle>
            <a:lvl1pPr algn="ctr">
              <a:defRPr sz="900"/>
            </a:lvl1pPr>
          </a:lstStyle>
          <a:p>
            <a:pPr lvl="0"/>
            <a:r>
              <a:rPr lang="en-US" dirty="0"/>
              <a:t>Add text alternative link, if needed.</a:t>
            </a:r>
          </a:p>
        </p:txBody>
      </p:sp>
      <p:sp>
        <p:nvSpPr>
          <p:cNvPr id="9" name="Image Credit">
            <a:extLst>
              <a:ext uri="{FF2B5EF4-FFF2-40B4-BE49-F238E27FC236}">
                <a16:creationId xmlns:a16="http://schemas.microsoft.com/office/drawing/2014/main" id="{29651301-3A88-4CBC-9B7F-A569599DC5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2800" y="6684964"/>
            <a:ext cx="9296401" cy="173037"/>
          </a:xfrm>
        </p:spPr>
        <p:txBody>
          <a:bodyPr anchor="ctr">
            <a:noAutofit/>
          </a:bodyPr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algn="r">
              <a:defRPr sz="900"/>
            </a:lvl2pPr>
            <a:lvl3pPr algn="r">
              <a:defRPr sz="900"/>
            </a:lvl3pPr>
            <a:lvl4pPr algn="r">
              <a:defRPr sz="900"/>
            </a:lvl4pPr>
            <a:lvl5pPr algn="r">
              <a:defRPr sz="900"/>
            </a:lvl5pPr>
          </a:lstStyle>
          <a:p>
            <a:pPr lvl="0"/>
            <a:r>
              <a:rPr lang="en-US" dirty="0"/>
              <a:t>Insert Image Credit Here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745DF60F-BF33-428F-883B-9C19F83780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151E55-6873-49E2-B8D5-2F265E6F1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0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360">
          <p15:clr>
            <a:srgbClr val="FBAE40"/>
          </p15:clr>
        </p15:guide>
        <p15:guide id="3" pos="264">
          <p15:clr>
            <a:srgbClr val="FBAE4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CS30500        Copyright (c) In-Young Ko, KAIST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ED8FC-2E74-8E4F-8B2C-832F09AE2E9F}" type="slidenum">
              <a:rPr lang="en-US" altLang="x-none"/>
              <a:pPr/>
              <a:t>‹#›</a:t>
            </a:fld>
            <a:endParaRPr lang="en-US" altLang="x-none"/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Spring 2025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60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7382" y="116632"/>
            <a:ext cx="11137237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24744"/>
            <a:ext cx="11055019" cy="51998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50401" y="6491080"/>
            <a:ext cx="1421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ko-KR" altLang="en-US" sz="1200" b="0" kern="1200" dirty="0">
                <a:solidFill>
                  <a:srgbClr val="00419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altLang="ko-KR"/>
              <a:t>Spring 2025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3659" y="6492876"/>
            <a:ext cx="6221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ko-KR" altLang="en-US" sz="1200" b="0" kern="1200" dirty="0">
                <a:solidFill>
                  <a:srgbClr val="0F419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76000" y="6492876"/>
            <a:ext cx="790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ko-KR" altLang="en-US" sz="1200" b="0" kern="1200" smtClean="0">
                <a:solidFill>
                  <a:srgbClr val="00419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72AC53DF-4216-466D-99A7-94400E6C2A25}" type="slidenum">
              <a:rPr lang="uk-UA" altLang="ko-KR" smtClean="0">
                <a:solidFill>
                  <a:schemeClr val="tx2"/>
                </a:solidFill>
              </a:rPr>
              <a:pPr/>
              <a:t>‹#›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0108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7" r:id="rId16"/>
    <p:sldLayoutId id="2147483738" r:id="rId17"/>
    <p:sldLayoutId id="2147483740" r:id="rId18"/>
    <p:sldLayoutId id="2147483741" r:id="rId19"/>
    <p:sldLayoutId id="2147483742" r:id="rId20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hf hdr="0"/>
  <p:txStyles>
    <p:titleStyle>
      <a:lvl1pPr algn="l" defTabSz="914400" rtl="0" eaLnBrk="1" latinLnBrk="1" hangingPunct="1">
        <a:spcBef>
          <a:spcPct val="0"/>
        </a:spcBef>
        <a:buNone/>
        <a:defRPr kumimoji="1" sz="3200" b="1" kern="1200">
          <a:solidFill>
            <a:srgbClr val="0F4191"/>
          </a:solidFill>
          <a:latin typeface="Arial" charset="0"/>
          <a:ea typeface="Arial" charset="0"/>
          <a:cs typeface="Arial" charset="0"/>
        </a:defRPr>
      </a:lvl1pPr>
    </p:titleStyle>
    <p:bodyStyle>
      <a:lvl1pPr marL="342900" indent="-342900" algn="l" defTabSz="914400" rtl="0" eaLnBrk="1" latinLnBrk="0" hangingPunct="1">
        <a:spcBef>
          <a:spcPts val="1272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24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emf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gif"/><Relationship Id="rId4" Type="http://schemas.openxmlformats.org/officeDocument/2006/relationships/image" Target="../media/image16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46C2F65-AFBE-A443-992B-545A1D1D9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10591800" cy="1752600"/>
          </a:xfrm>
        </p:spPr>
        <p:txBody>
          <a:bodyPr/>
          <a:lstStyle/>
          <a:p>
            <a:pPr algn="l"/>
            <a:r>
              <a:rPr lang="en-US" altLang="ko-KR" sz="3200" dirty="0"/>
              <a:t>CS30500:</a:t>
            </a:r>
            <a:br>
              <a:rPr lang="en-US" altLang="ko-KR" sz="3200" dirty="0"/>
            </a:br>
            <a:r>
              <a:rPr lang="en-US" altLang="ko-KR" sz="4600" dirty="0">
                <a:effectLst>
                  <a:reflection blurRad="6350" stA="55000" endA="300" endPos="45500" dir="5400000" sy="-100000" algn="bl" rotWithShape="0"/>
                </a:effectLst>
              </a:rPr>
              <a:t>Introduction to Software Engineering</a:t>
            </a:r>
            <a:endParaRPr lang="ja-JP" altLang="en-US" sz="4600" dirty="0"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6AC6335-4885-604B-B17F-FE1125CA42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90800" y="4800600"/>
            <a:ext cx="7010400" cy="1295400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Prof. In-Young Ko</a:t>
            </a:r>
          </a:p>
          <a:p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School of Computing</a:t>
            </a:r>
          </a:p>
        </p:txBody>
      </p:sp>
      <p:sp>
        <p:nvSpPr>
          <p:cNvPr id="12" name="날짜 개체 틀 6">
            <a:extLst>
              <a:ext uri="{FF2B5EF4-FFF2-40B4-BE49-F238E27FC236}">
                <a16:creationId xmlns:a16="http://schemas.microsoft.com/office/drawing/2014/main" id="{EA994E28-A9E8-A94E-B41D-7947F159D665}"/>
              </a:ext>
            </a:extLst>
          </p:cNvPr>
          <p:cNvSpPr txBox="1">
            <a:spLocks/>
          </p:cNvSpPr>
          <p:nvPr/>
        </p:nvSpPr>
        <p:spPr>
          <a:xfrm>
            <a:off x="9069936" y="268937"/>
            <a:ext cx="23622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latinLnBrk="0">
              <a:defRPr lang="ko-KR" altLang="en-US" sz="1200" b="0" kern="1200" dirty="0">
                <a:solidFill>
                  <a:srgbClr val="00419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latinLnBrk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2400" dirty="0"/>
              <a:t>Spring 2025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4A8481-84D5-F745-8EBE-09F65B08EA67}"/>
              </a:ext>
            </a:extLst>
          </p:cNvPr>
          <p:cNvSpPr/>
          <p:nvPr/>
        </p:nvSpPr>
        <p:spPr>
          <a:xfrm>
            <a:off x="5190143" y="3424535"/>
            <a:ext cx="18117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2400" dirty="0">
                <a:solidFill>
                  <a:srgbClr val="595959"/>
                </a:solidFill>
                <a:latin typeface="Arial" charset="0"/>
                <a:ea typeface="Arial" charset="0"/>
                <a:cs typeface="Arial" charset="0"/>
              </a:rPr>
              <a:t>Lecture #16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41C5AA-3030-1A45-87FA-8267D228F8D9}"/>
              </a:ext>
            </a:extLst>
          </p:cNvPr>
          <p:cNvSpPr txBox="1"/>
          <p:nvPr/>
        </p:nvSpPr>
        <p:spPr>
          <a:xfrm>
            <a:off x="1341690" y="358923"/>
            <a:ext cx="0" cy="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kumimoji="1" lang="ko-Kore-KR" altLang="en-US" sz="12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609599" y="914400"/>
            <a:ext cx="11055019" cy="5105400"/>
          </a:xfrm>
        </p:spPr>
        <p:txBody>
          <a:bodyPr>
            <a:normAutofit/>
          </a:bodyPr>
          <a:lstStyle/>
          <a:p>
            <a:r>
              <a:rPr lang="en-US" altLang="ko-KR" u="sng" dirty="0"/>
              <a:t>Transforms</a:t>
            </a:r>
            <a:r>
              <a:rPr lang="en-US" altLang="ko-KR" dirty="0"/>
              <a:t> requirements into the form that can help developers to build a software system effectively</a:t>
            </a:r>
          </a:p>
          <a:p>
            <a:r>
              <a:rPr lang="en-US" altLang="ko-KR" dirty="0"/>
              <a:t>Design classification:</a:t>
            </a:r>
          </a:p>
          <a:p>
            <a:pPr marL="691650" lvl="1" indent="-291600">
              <a:spcBef>
                <a:spcPts val="1000"/>
              </a:spcBef>
            </a:pPr>
            <a:r>
              <a:rPr lang="en-US" altLang="en-US" b="1" dirty="0">
                <a:solidFill>
                  <a:srgbClr val="0432FF"/>
                </a:solidFill>
              </a:rPr>
              <a:t>Architectural</a:t>
            </a:r>
            <a:r>
              <a:rPr lang="en-US" altLang="en-US" dirty="0">
                <a:solidFill>
                  <a:prstClr val="black"/>
                </a:solidFill>
              </a:rPr>
              <a:t> design – defines relationships among the major software structural elements</a:t>
            </a:r>
          </a:p>
          <a:p>
            <a:pPr marL="691650" lvl="1" indent="-291600">
              <a:spcBef>
                <a:spcPts val="1000"/>
              </a:spcBef>
            </a:pPr>
            <a:r>
              <a:rPr lang="en-US" altLang="en-US" b="1" dirty="0">
                <a:solidFill>
                  <a:srgbClr val="0432FF"/>
                </a:solidFill>
              </a:rPr>
              <a:t>Component-level</a:t>
            </a:r>
            <a:r>
              <a:rPr lang="en-US" altLang="en-US" dirty="0">
                <a:solidFill>
                  <a:prstClr val="black"/>
                </a:solidFill>
              </a:rPr>
              <a:t> design – transforms structural elements into </a:t>
            </a:r>
            <a:r>
              <a:rPr lang="en-US" altLang="en-US" u="sng" dirty="0">
                <a:solidFill>
                  <a:prstClr val="black"/>
                </a:solidFill>
              </a:rPr>
              <a:t>procedural</a:t>
            </a:r>
            <a:r>
              <a:rPr lang="en-US" altLang="en-US" dirty="0">
                <a:solidFill>
                  <a:prstClr val="black"/>
                </a:solidFill>
              </a:rPr>
              <a:t> descriptions of software components</a:t>
            </a:r>
            <a:endParaRPr lang="en-US" altLang="ko-KR" sz="2800" dirty="0">
              <a:solidFill>
                <a:prstClr val="black"/>
              </a:solidFill>
            </a:endParaRPr>
          </a:p>
          <a:p>
            <a:pPr marL="691650" lvl="1" indent="-291600">
              <a:spcBef>
                <a:spcPts val="1000"/>
              </a:spcBef>
            </a:pPr>
            <a:r>
              <a:rPr lang="en-US" altLang="en-US" b="1" dirty="0">
                <a:solidFill>
                  <a:srgbClr val="0432FF"/>
                </a:solidFill>
              </a:rPr>
              <a:t>Data/Class</a:t>
            </a:r>
            <a:r>
              <a:rPr lang="en-US" altLang="en-US" dirty="0">
                <a:solidFill>
                  <a:prstClr val="black"/>
                </a:solidFill>
              </a:rPr>
              <a:t> design – transforms analysis classes into implementation classes and data structures</a:t>
            </a:r>
          </a:p>
          <a:p>
            <a:pPr marL="691650" lvl="1" indent="-291600">
              <a:spcBef>
                <a:spcPts val="1000"/>
              </a:spcBef>
            </a:pPr>
            <a:r>
              <a:rPr lang="en-US" altLang="en-US" b="1" dirty="0">
                <a:solidFill>
                  <a:srgbClr val="0432FF"/>
                </a:solidFill>
              </a:rPr>
              <a:t>Interface</a:t>
            </a:r>
            <a:r>
              <a:rPr lang="en-US" altLang="en-US" dirty="0">
                <a:solidFill>
                  <a:prstClr val="black"/>
                </a:solidFill>
              </a:rPr>
              <a:t> design – defines how software elements, hardware elements, and end-users communicate</a:t>
            </a:r>
          </a:p>
          <a:p>
            <a:endParaRPr lang="en-US" altLang="ko-KR" dirty="0"/>
          </a:p>
          <a:p>
            <a:endParaRPr kumimoji="1"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CS30500        Copyright (c) In-Young Ko, KAIST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0DFA1-5B51-481B-BC1A-57EEBE62BF05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Software Design</a:t>
            </a:r>
            <a:endParaRPr kumimoji="1" lang="ko-KR" altLang="en-US" dirty="0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8341E59C-6E96-4F40-8B30-63537C320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3822" y="6214081"/>
            <a:ext cx="8947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GB" altLang="ko-KR" sz="1200" dirty="0">
                <a:solidFill>
                  <a:srgbClr val="B2B2B2"/>
                </a:solidFill>
              </a:rPr>
              <a:t>[PrMa20 ] </a:t>
            </a:r>
            <a:endParaRPr lang="en-US" altLang="ko-KR" sz="1200" dirty="0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507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8B240-B6F6-53B2-3A24-CA347886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are the things to design? </a:t>
            </a:r>
            <a:r>
              <a:rPr kumimoji="1" lang="en-US" altLang="ko-KR" sz="2000" dirty="0"/>
              <a:t>(1/2)</a:t>
            </a:r>
            <a:endParaRPr kumimoji="1"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C28A2-90EA-C0BB-CB8C-7A41F82E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B3078-02A6-CC65-497E-E6AE401B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B52CB-10D1-A509-5DD8-31B49B28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3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E2421-A629-FBD3-BFA0-680605C39E7F}"/>
              </a:ext>
            </a:extLst>
          </p:cNvPr>
          <p:cNvSpPr txBox="1"/>
          <p:nvPr/>
        </p:nvSpPr>
        <p:spPr>
          <a:xfrm>
            <a:off x="8318057" y="199647"/>
            <a:ext cx="388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F4191"/>
                </a:solidFill>
                <a:effectLst/>
                <a:uLnTx/>
                <a:uFillTx/>
                <a:latin typeface="Arial" charset="0"/>
                <a:cs typeface="Arial" charset="0"/>
              </a:rPr>
              <a:t>Team AVOCOADO, Spring 2022</a:t>
            </a:r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95E6A3F8-4ED9-00FA-325B-BBB0455EF6C3}"/>
              </a:ext>
            </a:extLst>
          </p:cNvPr>
          <p:cNvGrpSpPr/>
          <p:nvPr/>
        </p:nvGrpSpPr>
        <p:grpSpPr>
          <a:xfrm>
            <a:off x="782549" y="733323"/>
            <a:ext cx="5347164" cy="2895855"/>
            <a:chOff x="782549" y="733323"/>
            <a:chExt cx="5347164" cy="2895855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B568A0E-E3DC-3E97-5A10-E5EAD4EAF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2549" y="1109160"/>
              <a:ext cx="5347164" cy="2520018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3D8D53-5E13-BC50-8246-ABC3A1F82EEB}"/>
                </a:ext>
              </a:extLst>
            </p:cNvPr>
            <p:cNvSpPr txBox="1"/>
            <p:nvPr/>
          </p:nvSpPr>
          <p:spPr>
            <a:xfrm>
              <a:off x="1600200" y="733323"/>
              <a:ext cx="29718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Conceptual Architecture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EA7998D-C0BD-C88D-EFC0-D5EE0E6399D9}"/>
              </a:ext>
            </a:extLst>
          </p:cNvPr>
          <p:cNvGrpSpPr/>
          <p:nvPr/>
        </p:nvGrpSpPr>
        <p:grpSpPr>
          <a:xfrm>
            <a:off x="6347594" y="744283"/>
            <a:ext cx="5287527" cy="2884895"/>
            <a:chOff x="6347594" y="744283"/>
            <a:chExt cx="5287527" cy="2884895"/>
          </a:xfrm>
        </p:grpSpPr>
        <p:pic>
          <p:nvPicPr>
            <p:cNvPr id="43" name="Google Shape;274;p29">
              <a:extLst>
                <a:ext uri="{FF2B5EF4-FFF2-40B4-BE49-F238E27FC236}">
                  <a16:creationId xmlns:a16="http://schemas.microsoft.com/office/drawing/2014/main" id="{F52525A3-D00B-AF34-A6A0-0E608938081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47594" y="1109160"/>
              <a:ext cx="5287527" cy="2520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638EB1-48A5-8225-5D43-456C5DB9B68C}"/>
                </a:ext>
              </a:extLst>
            </p:cNvPr>
            <p:cNvSpPr txBox="1"/>
            <p:nvPr/>
          </p:nvSpPr>
          <p:spPr>
            <a:xfrm>
              <a:off x="6856435" y="744283"/>
              <a:ext cx="40142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System Architecture (Components) 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A64D5713-28F8-EA16-E645-BB95A885CBD9}"/>
              </a:ext>
            </a:extLst>
          </p:cNvPr>
          <p:cNvGrpSpPr/>
          <p:nvPr/>
        </p:nvGrpSpPr>
        <p:grpSpPr>
          <a:xfrm>
            <a:off x="5424800" y="3677950"/>
            <a:ext cx="6210322" cy="2875250"/>
            <a:chOff x="5424800" y="3677950"/>
            <a:chExt cx="6210322" cy="2875250"/>
          </a:xfrm>
        </p:grpSpPr>
        <p:pic>
          <p:nvPicPr>
            <p:cNvPr id="49" name="Google Shape;355;p36">
              <a:extLst>
                <a:ext uri="{FF2B5EF4-FFF2-40B4-BE49-F238E27FC236}">
                  <a16:creationId xmlns:a16="http://schemas.microsoft.com/office/drawing/2014/main" id="{59B85089-F8E6-5447-03E2-87E9593A893F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424800" y="4128443"/>
              <a:ext cx="2349350" cy="223081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356;p36">
              <a:extLst>
                <a:ext uri="{FF2B5EF4-FFF2-40B4-BE49-F238E27FC236}">
                  <a16:creationId xmlns:a16="http://schemas.microsoft.com/office/drawing/2014/main" id="{DD9EBD42-DC57-3DD8-0325-96E8B0E4BBC5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792226" y="4033182"/>
              <a:ext cx="3842896" cy="2520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80E2CC7-8B97-435C-65CB-15D52942FDE8}"/>
                </a:ext>
              </a:extLst>
            </p:cNvPr>
            <p:cNvSpPr txBox="1"/>
            <p:nvPr/>
          </p:nvSpPr>
          <p:spPr>
            <a:xfrm>
              <a:off x="6800123" y="3677950"/>
              <a:ext cx="24962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Flows &amp; Interactions 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3ADA3020-F534-BE29-A067-484E6A1CE489}"/>
              </a:ext>
            </a:extLst>
          </p:cNvPr>
          <p:cNvGrpSpPr/>
          <p:nvPr/>
        </p:nvGrpSpPr>
        <p:grpSpPr>
          <a:xfrm>
            <a:off x="97176" y="3781687"/>
            <a:ext cx="5084955" cy="2475606"/>
            <a:chOff x="97176" y="3781687"/>
            <a:chExt cx="5084955" cy="2475606"/>
          </a:xfrm>
        </p:grpSpPr>
        <p:pic>
          <p:nvPicPr>
            <p:cNvPr id="46" name="Google Shape;263;p28">
              <a:extLst>
                <a:ext uri="{FF2B5EF4-FFF2-40B4-BE49-F238E27FC236}">
                  <a16:creationId xmlns:a16="http://schemas.microsoft.com/office/drawing/2014/main" id="{19352F0F-6664-5A60-BB5A-BFB744B89F26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85854" y="4128443"/>
              <a:ext cx="2496277" cy="212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D79428C-BAC9-DA02-D78F-B33B0B857692}"/>
                </a:ext>
              </a:extLst>
            </p:cNvPr>
            <p:cNvSpPr txBox="1"/>
            <p:nvPr/>
          </p:nvSpPr>
          <p:spPr>
            <a:xfrm>
              <a:off x="2174933" y="3781687"/>
              <a:ext cx="8918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Data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52" name="Google Shape;262;p28">
              <a:extLst>
                <a:ext uri="{FF2B5EF4-FFF2-40B4-BE49-F238E27FC236}">
                  <a16:creationId xmlns:a16="http://schemas.microsoft.com/office/drawing/2014/main" id="{06A43F19-C7E1-9561-FE7A-45C680BAEFCA}"/>
                </a:ext>
              </a:extLst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97176" y="4650284"/>
              <a:ext cx="2588678" cy="101389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22505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8B240-B6F6-53B2-3A24-CA3478869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What are the things to design? </a:t>
            </a:r>
            <a:r>
              <a:rPr kumimoji="1" lang="en-US" altLang="ko-KR" sz="2000" dirty="0"/>
              <a:t>(2/2)</a:t>
            </a:r>
            <a:endParaRPr kumimoji="1"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DC28A2-90EA-C0BB-CB8C-7A41F82E3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BB3078-02A6-CC65-497E-E6AE401B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6B52CB-10D1-A509-5DD8-31B49B28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4</a:t>
            </a:fld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6E2421-A629-FBD3-BFA0-680605C39E7F}"/>
              </a:ext>
            </a:extLst>
          </p:cNvPr>
          <p:cNvSpPr txBox="1"/>
          <p:nvPr/>
        </p:nvSpPr>
        <p:spPr>
          <a:xfrm>
            <a:off x="8318057" y="199647"/>
            <a:ext cx="3886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0F4191"/>
                </a:solidFill>
                <a:effectLst/>
                <a:uLnTx/>
                <a:uFillTx/>
                <a:latin typeface="Arial" charset="0"/>
                <a:cs typeface="Arial" charset="0"/>
              </a:rPr>
              <a:t>Team AVOCOADO, Spring 2022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280CEF4-1B2C-76E4-2A17-546817F3EDF6}"/>
              </a:ext>
            </a:extLst>
          </p:cNvPr>
          <p:cNvGrpSpPr/>
          <p:nvPr/>
        </p:nvGrpSpPr>
        <p:grpSpPr>
          <a:xfrm>
            <a:off x="141865" y="1118704"/>
            <a:ext cx="7619425" cy="4777673"/>
            <a:chOff x="141865" y="1118704"/>
            <a:chExt cx="7619425" cy="477767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53D8D53-5E13-BC50-8246-ABC3A1F82EEB}"/>
                </a:ext>
              </a:extLst>
            </p:cNvPr>
            <p:cNvSpPr txBox="1"/>
            <p:nvPr/>
          </p:nvSpPr>
          <p:spPr>
            <a:xfrm>
              <a:off x="2541877" y="1118704"/>
              <a:ext cx="2819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Implementation Classes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pic>
          <p:nvPicPr>
            <p:cNvPr id="3" name="Google Shape;252;p27">
              <a:extLst>
                <a:ext uri="{FF2B5EF4-FFF2-40B4-BE49-F238E27FC236}">
                  <a16:creationId xmlns:a16="http://schemas.microsoft.com/office/drawing/2014/main" id="{800FB839-5AE2-8DA3-F44C-E36C96E0294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41865" y="1552977"/>
              <a:ext cx="7619425" cy="4343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BC1F0AA-4EB7-94C2-3398-B74153B572B7}"/>
              </a:ext>
            </a:extLst>
          </p:cNvPr>
          <p:cNvGrpSpPr/>
          <p:nvPr/>
        </p:nvGrpSpPr>
        <p:grpSpPr>
          <a:xfrm>
            <a:off x="7922355" y="1112398"/>
            <a:ext cx="4046546" cy="4969571"/>
            <a:chOff x="7922355" y="1112398"/>
            <a:chExt cx="4046546" cy="4969571"/>
          </a:xfrm>
        </p:grpSpPr>
        <p:pic>
          <p:nvPicPr>
            <p:cNvPr id="44" name="Google Shape;285;p30">
              <a:extLst>
                <a:ext uri="{FF2B5EF4-FFF2-40B4-BE49-F238E27FC236}">
                  <a16:creationId xmlns:a16="http://schemas.microsoft.com/office/drawing/2014/main" id="{92577A75-DBE5-275D-8085-51E8DD724C3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22355" y="1488036"/>
              <a:ext cx="4046546" cy="45939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DF5C7-BA1A-98EA-DEE3-84CA524D61C4}"/>
                </a:ext>
              </a:extLst>
            </p:cNvPr>
            <p:cNvSpPr txBox="1"/>
            <p:nvPr/>
          </p:nvSpPr>
          <p:spPr>
            <a:xfrm>
              <a:off x="9038516" y="1112398"/>
              <a:ext cx="18142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ko-KR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User Interface</a:t>
              </a:r>
              <a:endParaRPr lang="ko-KR" altLang="en-US" sz="1100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244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D0B637F9-0576-F349-B55D-D7765D7C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ore-KR" dirty="0"/>
              <a:t>Architecture Patterns</a:t>
            </a:r>
            <a:endParaRPr lang="ko-Kore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42D22CE-A97D-304F-A684-847E1C87C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4565CF-5A00-B746-8B11-EE0198908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2F306E-0C54-5249-95FF-FA84FD5A8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06A69-7273-094A-8C15-7520B30C3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0960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8E82C-6D01-7549-A7B6-A152C5AC8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Architectural Design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3A9932-CDAA-3040-BE51-525972B4D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11055019" cy="2362200"/>
          </a:xfrm>
        </p:spPr>
        <p:txBody>
          <a:bodyPr>
            <a:normAutofit/>
          </a:bodyPr>
          <a:lstStyle/>
          <a:p>
            <a:r>
              <a:rPr lang="en-US" altLang="ko-Kore-KR" dirty="0"/>
              <a:t>An </a:t>
            </a:r>
            <a:r>
              <a:rPr lang="en-US" altLang="ko-Kore-KR" dirty="0">
                <a:solidFill>
                  <a:srgbClr val="0432FF"/>
                </a:solidFill>
              </a:rPr>
              <a:t>architectural model</a:t>
            </a:r>
            <a:r>
              <a:rPr lang="en-US" altLang="ko-Kore-KR" dirty="0"/>
              <a:t> is derived from three sources:</a:t>
            </a:r>
          </a:p>
          <a:p>
            <a:pPr lvl="1"/>
            <a:r>
              <a:rPr lang="en-US" altLang="ko-Kore-KR" dirty="0"/>
              <a:t>Information about the </a:t>
            </a:r>
            <a:r>
              <a:rPr lang="en-US" altLang="ko-Kore-KR" u="sng" dirty="0"/>
              <a:t>application domain</a:t>
            </a:r>
            <a:r>
              <a:rPr lang="en-US" altLang="ko-Kore-KR" dirty="0"/>
              <a:t> for the software to be built</a:t>
            </a:r>
          </a:p>
          <a:p>
            <a:pPr lvl="1"/>
            <a:r>
              <a:rPr lang="en-US" altLang="ko-Kore-KR" dirty="0"/>
              <a:t>Specific </a:t>
            </a:r>
            <a:r>
              <a:rPr lang="en-US" altLang="ko-Kore-KR" u="sng" dirty="0"/>
              <a:t>requirements</a:t>
            </a:r>
            <a:r>
              <a:rPr lang="en-US" altLang="ko-Kore-KR" dirty="0"/>
              <a:t> model elements such as data flow analysis classes and their relationships (collaborations) for the problem at hand</a:t>
            </a:r>
          </a:p>
          <a:p>
            <a:pPr lvl="1"/>
            <a:r>
              <a:rPr lang="en-US" altLang="ko-Kore-KR" dirty="0"/>
              <a:t>Availability of </a:t>
            </a:r>
            <a:r>
              <a:rPr lang="en-US" altLang="ko-Kore-KR" u="sng" dirty="0"/>
              <a:t>architectural patterns</a:t>
            </a:r>
            <a:r>
              <a:rPr lang="en-US" altLang="ko-Kore-KR" dirty="0"/>
              <a:t> and styles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082A45-8374-A445-AEBD-8256AD015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197A27-4F29-BF4E-AC13-162AB1C6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E08EBA-9D02-8446-A86D-78161BD8E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6</a:t>
            </a:fld>
            <a:endParaRPr lang="ko-KR" altLang="en-US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FCF813A-126F-3245-BC13-3D86205D40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1646" y="914400"/>
            <a:ext cx="8947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GB" altLang="ko-KR" sz="1200" dirty="0">
                <a:solidFill>
                  <a:srgbClr val="B2B2B2"/>
                </a:solidFill>
              </a:rPr>
              <a:t>[PrMa20 ] </a:t>
            </a:r>
            <a:endParaRPr lang="en-US" altLang="ko-KR" sz="1200" dirty="0">
              <a:solidFill>
                <a:srgbClr val="B2B2B2"/>
              </a:solidFill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3940FCEE-9AAA-1949-AD64-FB4299F35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6ADF9C-B50D-664E-9B13-5BD74E81FC66}"/>
              </a:ext>
            </a:extLst>
          </p:cNvPr>
          <p:cNvSpPr/>
          <p:nvPr/>
        </p:nvSpPr>
        <p:spPr>
          <a:xfrm>
            <a:off x="609600" y="3106534"/>
            <a:ext cx="7016666" cy="30346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1272"/>
              </a:spcBef>
              <a:buFont typeface="Arial" panose="020B0604020202020204" pitchFamily="34" charset="0"/>
              <a:buChar char="•"/>
            </a:pPr>
            <a:r>
              <a:rPr kumimoji="1" lang="en-US" altLang="ko-Kore-KR" sz="2800" dirty="0">
                <a:solidFill>
                  <a:prstClr val="black"/>
                </a:solidFill>
                <a:latin typeface="Arial" charset="0"/>
                <a:cs typeface="Arial" charset="0"/>
              </a:rPr>
              <a:t>Goal</a:t>
            </a:r>
          </a:p>
          <a:p>
            <a:pPr marL="742950" lvl="1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To develop a </a:t>
            </a:r>
            <a:r>
              <a:rPr kumimoji="1" lang="en-US" altLang="ko-Kore-KR" sz="2400" u="sng" dirty="0">
                <a:solidFill>
                  <a:prstClr val="black"/>
                </a:solidFill>
                <a:latin typeface="Arial" charset="0"/>
                <a:cs typeface="Arial" charset="0"/>
              </a:rPr>
              <a:t>modular</a:t>
            </a: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 program structure</a:t>
            </a:r>
          </a:p>
          <a:p>
            <a:pPr marL="742950" lvl="1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To represent the control </a:t>
            </a:r>
            <a:r>
              <a:rPr kumimoji="1" lang="en-US" altLang="ko-Kore-KR" sz="2400" u="sng" dirty="0">
                <a:solidFill>
                  <a:prstClr val="black"/>
                </a:solidFill>
                <a:latin typeface="Arial" charset="0"/>
                <a:cs typeface="Arial" charset="0"/>
              </a:rPr>
              <a:t>relationships</a:t>
            </a: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 between modules</a:t>
            </a:r>
          </a:p>
          <a:p>
            <a:pPr marL="742950" lvl="1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To </a:t>
            </a:r>
            <a:r>
              <a:rPr kumimoji="1" lang="en-US" altLang="ko-Kore-KR" sz="2400" u="sng" dirty="0">
                <a:solidFill>
                  <a:prstClr val="black"/>
                </a:solidFill>
                <a:latin typeface="Arial" charset="0"/>
                <a:cs typeface="Arial" charset="0"/>
              </a:rPr>
              <a:t>integrate</a:t>
            </a: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 the program structure and data structures</a:t>
            </a:r>
          </a:p>
          <a:p>
            <a:pPr marL="742950" lvl="1" indent="-285750">
              <a:spcBef>
                <a:spcPct val="20000"/>
              </a:spcBef>
              <a:buFont typeface="Arial" panose="020B0604020202020204" pitchFamily="34" charset="0"/>
              <a:buChar char="–"/>
            </a:pPr>
            <a:r>
              <a:rPr kumimoji="1" lang="en-US" altLang="ko-Kore-KR" sz="2400" dirty="0">
                <a:solidFill>
                  <a:prstClr val="black"/>
                </a:solidFill>
                <a:latin typeface="Arial" charset="0"/>
                <a:cs typeface="Arial" charset="0"/>
              </a:rPr>
              <a:t>To define </a:t>
            </a:r>
            <a:r>
              <a:rPr kumimoji="1" lang="en-US" altLang="ko-Kore-KR" sz="2400" u="sng" dirty="0">
                <a:solidFill>
                  <a:prstClr val="black"/>
                </a:solidFill>
                <a:latin typeface="Arial" charset="0"/>
                <a:cs typeface="Arial" charset="0"/>
              </a:rPr>
              <a:t>interfaces</a:t>
            </a:r>
            <a:endParaRPr kumimoji="1" lang="ko-Kore-KR" altLang="en-US" sz="2400" u="sng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30724" name="Picture 4">
            <a:extLst>
              <a:ext uri="{FF2B5EF4-FFF2-40B4-BE49-F238E27FC236}">
                <a16:creationId xmlns:a16="http://schemas.microsoft.com/office/drawing/2014/main" id="{A8833B5B-5078-9B4B-B5C5-4CDBC78F9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090" y="2676263"/>
            <a:ext cx="3851275" cy="37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AD489EB0-8B0D-CA4B-9E45-C5BDA783A00F}"/>
              </a:ext>
            </a:extLst>
          </p:cNvPr>
          <p:cNvSpPr/>
          <p:nvPr/>
        </p:nvSpPr>
        <p:spPr>
          <a:xfrm>
            <a:off x="8445502" y="6383381"/>
            <a:ext cx="3352800" cy="201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sz="700" dirty="0">
                <a:solidFill>
                  <a:srgbClr val="B2B2B2"/>
                </a:solidFill>
                <a:latin typeface="Arial" charset="0"/>
                <a:ea typeface="굴림" charset="-127"/>
              </a:rPr>
              <a:t>https://towardsdatascience.com/software-architecture-patterns-98043af8028</a:t>
            </a:r>
          </a:p>
        </p:txBody>
      </p:sp>
    </p:spTree>
    <p:extLst>
      <p:ext uri="{BB962C8B-B14F-4D97-AF65-F5344CB8AC3E}">
        <p14:creationId xmlns:p14="http://schemas.microsoft.com/office/powerpoint/2010/main" val="154118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5BF5B-9DCC-9942-A0C3-0D2B9D89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Architectural Styles (Patterns)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E0A010-453C-7645-9685-A0B07E55D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838200"/>
            <a:ext cx="7543800" cy="5641032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u="sng" dirty="0"/>
              <a:t>Common and reusable patterns</a:t>
            </a:r>
            <a:r>
              <a:rPr lang="en-US" altLang="ko-KR" dirty="0"/>
              <a:t> of software architecture observed in different systems</a:t>
            </a:r>
          </a:p>
          <a:p>
            <a:r>
              <a:rPr lang="en-US" altLang="ko-KR" dirty="0"/>
              <a:t>Specialization of </a:t>
            </a:r>
            <a:r>
              <a:rPr lang="en-US" altLang="ko-KR" u="sng" dirty="0"/>
              <a:t>element and relation types</a:t>
            </a:r>
            <a:r>
              <a:rPr lang="en-US" altLang="ko-KR" dirty="0"/>
              <a:t>, together with a set of </a:t>
            </a:r>
            <a:r>
              <a:rPr lang="en-US" altLang="ko-KR" u="sng" dirty="0"/>
              <a:t>constraints</a:t>
            </a:r>
          </a:p>
          <a:p>
            <a:r>
              <a:rPr lang="en-US" altLang="ko-KR" dirty="0"/>
              <a:t>Represents </a:t>
            </a:r>
            <a:r>
              <a:rPr lang="en-US" altLang="ko-KR" u="sng" dirty="0"/>
              <a:t>common properties</a:t>
            </a:r>
          </a:p>
          <a:p>
            <a:r>
              <a:rPr lang="en-US" altLang="ko-KR" dirty="0"/>
              <a:t>Can be associated with different architectural views</a:t>
            </a:r>
          </a:p>
          <a:p>
            <a:r>
              <a:rPr lang="en-US" altLang="ko-KR" dirty="0"/>
              <a:t>Most widely used architectural patterns</a:t>
            </a:r>
          </a:p>
          <a:p>
            <a:pPr lvl="1"/>
            <a:r>
              <a:rPr lang="en-US" altLang="ko-KR" dirty="0"/>
              <a:t>Layered</a:t>
            </a:r>
          </a:p>
          <a:p>
            <a:pPr lvl="1"/>
            <a:r>
              <a:rPr lang="en-US" altLang="ko-KR" dirty="0"/>
              <a:t>Client-server</a:t>
            </a:r>
          </a:p>
          <a:p>
            <a:pPr lvl="1"/>
            <a:r>
              <a:rPr lang="en-US" altLang="ko-KR" dirty="0"/>
              <a:t>Pipe-filter</a:t>
            </a:r>
          </a:p>
          <a:p>
            <a:pPr lvl="1"/>
            <a:r>
              <a:rPr lang="en-US" altLang="ko-KR" dirty="0"/>
              <a:t>Broker</a:t>
            </a:r>
          </a:p>
          <a:p>
            <a:pPr lvl="1"/>
            <a:r>
              <a:rPr lang="en-US" altLang="ko-KR" dirty="0"/>
              <a:t>Event-bus</a:t>
            </a:r>
            <a:endParaRPr kumimoji="1" lang="ko-Kore-KR" altLang="en-US" sz="32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EDFDE4-FDAC-9B47-A9E4-AB3EB642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DCA424-8B8C-CC49-9CDE-07D5FBAB8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B5EE1-659F-4948-9622-AC318CD50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7</a:t>
            </a:fld>
            <a:endParaRPr lang="ko-KR" altLang="en-US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981DCEE5-C946-CA42-8EF3-CAA195B9B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03071" y="2771040"/>
            <a:ext cx="3580856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57BD03D2-661D-164E-A101-52FC004E5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20556" y="810473"/>
            <a:ext cx="3745887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3">
            <a:extLst>
              <a:ext uri="{FF2B5EF4-FFF2-40B4-BE49-F238E27FC236}">
                <a16:creationId xmlns:a16="http://schemas.microsoft.com/office/drawing/2014/main" id="{18043F3C-1B7F-FC41-B7EB-D9E79177A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724186" y="4662280"/>
            <a:ext cx="3073941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3968D3A9-F781-4D40-82CF-1A5146291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</p:spTree>
    <p:extLst>
      <p:ext uri="{BB962C8B-B14F-4D97-AF65-F5344CB8AC3E}">
        <p14:creationId xmlns:p14="http://schemas.microsoft.com/office/powerpoint/2010/main" val="264366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Layered Pattern </a:t>
            </a:r>
            <a:r>
              <a:rPr lang="en-US" altLang="ko-KR" sz="2000" dirty="0"/>
              <a:t>(1/2)</a:t>
            </a:r>
            <a:endParaRPr lang="ko-KR" altLang="en-US" dirty="0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09600" y="914400"/>
            <a:ext cx="10896599" cy="5410200"/>
          </a:xfrm>
        </p:spPr>
        <p:txBody>
          <a:bodyPr>
            <a:normAutofit/>
          </a:bodyPr>
          <a:lstStyle/>
          <a:p>
            <a:r>
              <a:rPr lang="en-US" altLang="ko-KR" dirty="0"/>
              <a:t>Decomposed into groups of </a:t>
            </a:r>
            <a:r>
              <a:rPr lang="en-US" altLang="ko-KR" u="sng" dirty="0"/>
              <a:t>subtasks</a:t>
            </a:r>
            <a:r>
              <a:rPr lang="en-US" altLang="ko-KR" dirty="0"/>
              <a:t>, each of which is at a particular </a:t>
            </a:r>
            <a:r>
              <a:rPr lang="en-US" altLang="ko-KR" u="sng" dirty="0"/>
              <a:t>level of abstraction</a:t>
            </a:r>
          </a:p>
          <a:p>
            <a:r>
              <a:rPr lang="en-US" altLang="ko-KR" dirty="0"/>
              <a:t>Each layer provides services to the next higher level</a:t>
            </a:r>
          </a:p>
          <a:p>
            <a:r>
              <a:rPr lang="en-US" altLang="ko-KR" dirty="0"/>
              <a:t>Common examples: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Network systems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E-commerce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8</a:t>
            </a:fld>
            <a:endParaRPr kumimoji="1" lang="ko-KR" alt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623" y="2641180"/>
            <a:ext cx="3560820" cy="34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70D1802-2FB8-1046-9D0C-372573318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D08082-2582-3144-A675-CE7AE798A9A7}"/>
              </a:ext>
            </a:extLst>
          </p:cNvPr>
          <p:cNvSpPr/>
          <p:nvPr/>
        </p:nvSpPr>
        <p:spPr>
          <a:xfrm>
            <a:off x="8512303" y="6077126"/>
            <a:ext cx="3352800" cy="201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sz="700" dirty="0">
                <a:solidFill>
                  <a:srgbClr val="B2B2B2"/>
                </a:solidFill>
                <a:latin typeface="Arial" charset="0"/>
                <a:ea typeface="굴림" charset="-127"/>
              </a:rPr>
              <a:t>https://towardsdatascience.com/software-architecture-patterns-98043af8028</a:t>
            </a:r>
          </a:p>
        </p:txBody>
      </p:sp>
      <p:pic>
        <p:nvPicPr>
          <p:cNvPr id="11" name="Picture 3" descr="An illustration displays layered architecture. The circular diagram has four layers. ">
            <a:extLst>
              <a:ext uri="{FF2B5EF4-FFF2-40B4-BE49-F238E27FC236}">
                <a16:creationId xmlns:a16="http://schemas.microsoft.com/office/drawing/2014/main" id="{6B5DB843-ECF6-3B4C-A92F-24A3577812C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00"/>
          <a:stretch/>
        </p:blipFill>
        <p:spPr>
          <a:xfrm>
            <a:off x="4387369" y="2986371"/>
            <a:ext cx="3588490" cy="3090755"/>
          </a:xfrm>
          <a:prstGeom prst="rect">
            <a:avLst/>
          </a:prstGeom>
        </p:spPr>
      </p:pic>
      <p:sp>
        <p:nvSpPr>
          <p:cNvPr id="12" name="Rectangle 8">
            <a:extLst>
              <a:ext uri="{FF2B5EF4-FFF2-40B4-BE49-F238E27FC236}">
                <a16:creationId xmlns:a16="http://schemas.microsoft.com/office/drawing/2014/main" id="{C7FDD1B1-FB08-504A-BFB4-6C4700B6B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796" y="5800127"/>
            <a:ext cx="8947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GB" altLang="ko-KR" sz="1200" dirty="0">
                <a:solidFill>
                  <a:srgbClr val="B2B2B2"/>
                </a:solidFill>
              </a:rPr>
              <a:t>[PrMa20 ] </a:t>
            </a:r>
            <a:endParaRPr lang="en-US" altLang="ko-KR" sz="1200" dirty="0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84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Layered Pattern </a:t>
            </a:r>
            <a:r>
              <a:rPr lang="en-US" altLang="ko-KR" sz="2000" dirty="0"/>
              <a:t>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Pros</a:t>
            </a:r>
          </a:p>
          <a:p>
            <a:pPr lvl="1"/>
            <a:r>
              <a:rPr lang="en-US" altLang="ko-KR" dirty="0">
                <a:solidFill>
                  <a:srgbClr val="0432FF"/>
                </a:solidFill>
              </a:rPr>
              <a:t>Separate of concern </a:t>
            </a:r>
            <a:r>
              <a:rPr lang="en-US" altLang="ko-KR" dirty="0"/>
              <a:t>– we only need to consider a smaller scope in each layer, which makes the problem much more straightforward</a:t>
            </a:r>
          </a:p>
          <a:p>
            <a:pPr lvl="1"/>
            <a:r>
              <a:rPr lang="en-US" altLang="ko-KR" dirty="0"/>
              <a:t>More </a:t>
            </a:r>
            <a:r>
              <a:rPr lang="en-US" altLang="ko-KR" dirty="0">
                <a:solidFill>
                  <a:srgbClr val="0432FF"/>
                </a:solidFill>
              </a:rPr>
              <a:t>testable</a:t>
            </a:r>
            <a:r>
              <a:rPr lang="en-US" altLang="ko-KR" dirty="0"/>
              <a:t> – each layer has less case to test and thus more testable</a:t>
            </a:r>
          </a:p>
          <a:p>
            <a:pPr lvl="1"/>
            <a:r>
              <a:rPr lang="en-US" altLang="ko-KR" dirty="0">
                <a:solidFill>
                  <a:srgbClr val="0432FF"/>
                </a:solidFill>
              </a:rPr>
              <a:t>Isolation</a:t>
            </a:r>
            <a:r>
              <a:rPr lang="en-US" altLang="ko-KR" dirty="0"/>
              <a:t> – changes in one layer will not affect downstream layers</a:t>
            </a:r>
          </a:p>
          <a:p>
            <a:pPr lvl="1"/>
            <a:r>
              <a:rPr lang="en-US" altLang="ko-KR" dirty="0">
                <a:solidFill>
                  <a:srgbClr val="0432FF"/>
                </a:solidFill>
              </a:rPr>
              <a:t>Changeability</a:t>
            </a:r>
            <a:r>
              <a:rPr lang="en-US" altLang="ko-KR" dirty="0"/>
              <a:t> – if you are not satisfied with the implementation of one layer, you can </a:t>
            </a:r>
            <a:r>
              <a:rPr lang="en-US" altLang="ko-KR" u="sng" dirty="0"/>
              <a:t>replace</a:t>
            </a:r>
            <a:r>
              <a:rPr lang="en-US" altLang="ko-KR" dirty="0"/>
              <a:t> it with another layer, as long as they implements the same interface</a:t>
            </a:r>
          </a:p>
          <a:p>
            <a:r>
              <a:rPr lang="en-US" altLang="ko-KR" dirty="0"/>
              <a:t>Cons</a:t>
            </a:r>
          </a:p>
          <a:p>
            <a:pPr lvl="1"/>
            <a:r>
              <a:rPr lang="en-US" altLang="ko-KR" u="sng" dirty="0"/>
              <a:t>Management cost</a:t>
            </a:r>
            <a:r>
              <a:rPr lang="en-US" altLang="ko-KR" dirty="0"/>
              <a:t> if there are too many layers</a:t>
            </a:r>
          </a:p>
          <a:p>
            <a:pPr lvl="1"/>
            <a:r>
              <a:rPr lang="en-US" altLang="ko-KR" dirty="0"/>
              <a:t>The </a:t>
            </a:r>
            <a:r>
              <a:rPr lang="en-US" altLang="ko-KR" u="sng" dirty="0"/>
              <a:t>performance</a:t>
            </a:r>
            <a:r>
              <a:rPr lang="en-US" altLang="ko-KR" dirty="0"/>
              <a:t> is getting slower as more and more layers added</a:t>
            </a:r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9</a:t>
            </a:fld>
            <a:endParaRPr kumimoji="1" lang="ko-KR" alt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DE14C1D-B361-6549-9A4D-68B7533BE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DE500EE-9CD2-7C4E-B33B-FB9D9EDF1715}"/>
              </a:ext>
            </a:extLst>
          </p:cNvPr>
          <p:cNvSpPr/>
          <p:nvPr/>
        </p:nvSpPr>
        <p:spPr>
          <a:xfrm>
            <a:off x="477780" y="6064312"/>
            <a:ext cx="24849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ore-KR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https://enqueuezero.com/layered-architecture.html</a:t>
            </a:r>
          </a:p>
        </p:txBody>
      </p:sp>
    </p:spTree>
    <p:extLst>
      <p:ext uri="{BB962C8B-B14F-4D97-AF65-F5344CB8AC3E}">
        <p14:creationId xmlns:p14="http://schemas.microsoft.com/office/powerpoint/2010/main" val="1774366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Client-Server Pattern </a:t>
            </a:r>
            <a:r>
              <a:rPr lang="en-US" altLang="ko-KR" sz="2000" dirty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</a:t>
            </a:r>
            <a:r>
              <a:rPr lang="en-US" altLang="ko-KR" i="1" dirty="0">
                <a:solidFill>
                  <a:srgbClr val="0432FF"/>
                </a:solidFill>
              </a:rPr>
              <a:t>server</a:t>
            </a:r>
            <a:r>
              <a:rPr lang="en-US" altLang="ko-KR" dirty="0"/>
              <a:t> component </a:t>
            </a:r>
            <a:r>
              <a:rPr lang="en-US" altLang="ko-KR" u="sng" dirty="0"/>
              <a:t>listens</a:t>
            </a:r>
            <a:r>
              <a:rPr lang="en-US" altLang="ko-KR" dirty="0"/>
              <a:t> </a:t>
            </a:r>
            <a:r>
              <a:rPr lang="en-US" altLang="ko-KR" i="1" dirty="0">
                <a:solidFill>
                  <a:srgbClr val="0432FF"/>
                </a:solidFill>
              </a:rPr>
              <a:t>client</a:t>
            </a:r>
            <a:r>
              <a:rPr lang="en-US" altLang="ko-KR" dirty="0"/>
              <a:t> requests, </a:t>
            </a:r>
            <a:r>
              <a:rPr lang="en-US" altLang="ko-KR" u="sng" dirty="0"/>
              <a:t>provides services</a:t>
            </a:r>
            <a:r>
              <a:rPr lang="en-US" altLang="ko-KR" dirty="0"/>
              <a:t> to multiple client component</a:t>
            </a:r>
          </a:p>
          <a:p>
            <a:r>
              <a:rPr lang="en-US" altLang="ko-KR" dirty="0"/>
              <a:t>Server does not need to know clients</a:t>
            </a:r>
          </a:p>
          <a:p>
            <a:r>
              <a:rPr lang="en-US" altLang="ko-KR" dirty="0"/>
              <a:t>Online applications such as Web, email, banking, etc.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10</a:t>
            </a:fld>
            <a:endParaRPr kumimoji="1" lang="ko-KR" altLang="en-US"/>
          </a:p>
        </p:txBody>
      </p:sp>
      <p:pic>
        <p:nvPicPr>
          <p:cNvPr id="7" name="Picture 4" descr="Image result for client-server patte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317859"/>
            <a:ext cx="5008561" cy="300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5C7181F0-C105-1547-BC6D-130D1A200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08D56A4-3345-8B42-AC58-5481EC6CA2ED}"/>
              </a:ext>
            </a:extLst>
          </p:cNvPr>
          <p:cNvSpPr/>
          <p:nvPr/>
        </p:nvSpPr>
        <p:spPr>
          <a:xfrm>
            <a:off x="5999161" y="5996171"/>
            <a:ext cx="30480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https://en.wikipedia.org/wiki/Client%E2%80%93server_model</a:t>
            </a:r>
          </a:p>
        </p:txBody>
      </p:sp>
    </p:spTree>
    <p:extLst>
      <p:ext uri="{BB962C8B-B14F-4D97-AF65-F5344CB8AC3E}">
        <p14:creationId xmlns:p14="http://schemas.microsoft.com/office/powerpoint/2010/main" val="3967947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Client-Server Pattern </a:t>
            </a:r>
            <a:r>
              <a:rPr lang="en-US" altLang="ko-KR" sz="2000" dirty="0"/>
              <a:t>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 producer/consumer computing architecture </a:t>
            </a:r>
          </a:p>
          <a:p>
            <a:pPr lvl="1"/>
            <a:r>
              <a:rPr lang="en-US" altLang="ko-KR" dirty="0"/>
              <a:t>A server acts as the </a:t>
            </a:r>
            <a:r>
              <a:rPr lang="en-US" altLang="ko-KR" i="1" dirty="0">
                <a:solidFill>
                  <a:srgbClr val="0432FF"/>
                </a:solidFill>
              </a:rPr>
              <a:t>producer</a:t>
            </a:r>
            <a:r>
              <a:rPr lang="en-US" altLang="ko-KR" dirty="0"/>
              <a:t>, providing services such as application access, storage, file sharing, printer access, …</a:t>
            </a:r>
          </a:p>
          <a:p>
            <a:pPr lvl="1"/>
            <a:r>
              <a:rPr lang="en-US" altLang="ko-KR" dirty="0"/>
              <a:t>A client acts as the </a:t>
            </a:r>
            <a:r>
              <a:rPr lang="en-US" altLang="ko-KR" i="1" dirty="0">
                <a:solidFill>
                  <a:srgbClr val="0432FF"/>
                </a:solidFill>
              </a:rPr>
              <a:t>consumer</a:t>
            </a:r>
          </a:p>
          <a:p>
            <a:r>
              <a:rPr lang="en-US" altLang="ko-KR" dirty="0"/>
              <a:t>Pros and Cons</a:t>
            </a:r>
          </a:p>
          <a:p>
            <a:pPr lvl="1"/>
            <a:r>
              <a:rPr lang="en-US" altLang="ko-KR" dirty="0"/>
              <a:t>Scalable?</a:t>
            </a:r>
          </a:p>
          <a:p>
            <a:pPr lvl="1"/>
            <a:r>
              <a:rPr lang="en-US" altLang="ko-KR" dirty="0"/>
              <a:t>Centralized control</a:t>
            </a:r>
          </a:p>
          <a:p>
            <a:pPr lvl="1"/>
            <a:r>
              <a:rPr lang="en-US" altLang="ko-KR" dirty="0"/>
              <a:t>Cost? – high maintenance </a:t>
            </a:r>
          </a:p>
          <a:p>
            <a:pPr lvl="1"/>
            <a:r>
              <a:rPr lang="en-US" altLang="ko-KR" dirty="0"/>
              <a:t>In case of failure?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11</a:t>
            </a:fld>
            <a:endParaRPr kumimoji="1" lang="ko-KR" altLang="en-US"/>
          </a:p>
        </p:txBody>
      </p:sp>
      <p:pic>
        <p:nvPicPr>
          <p:cNvPr id="2052" name="Picture 4" descr="https://ars.els-cdn.com/content/image/3-s2.0-B9780128014134000118-f11-06-978012801413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5616" y="2819400"/>
            <a:ext cx="6229003" cy="3271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ECF03EF7-FBE1-6D40-8928-B9CCA8699B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69F1C73-3FC5-6741-AAAF-39D3EC362A05}"/>
              </a:ext>
            </a:extLst>
          </p:cNvPr>
          <p:cNvSpPr/>
          <p:nvPr/>
        </p:nvSpPr>
        <p:spPr>
          <a:xfrm>
            <a:off x="7086600" y="6132727"/>
            <a:ext cx="39624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ore-KR" altLang="en-US" sz="7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https://www.sciencedirect.com/topics/computer-science/client-server-architecture</a:t>
            </a:r>
          </a:p>
        </p:txBody>
      </p:sp>
    </p:spTree>
    <p:extLst>
      <p:ext uri="{BB962C8B-B14F-4D97-AF65-F5344CB8AC3E}">
        <p14:creationId xmlns:p14="http://schemas.microsoft.com/office/powerpoint/2010/main" val="1815048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 and Filter (Data Flow) Pattern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structure of a system that produces and processes a </a:t>
            </a:r>
            <a:r>
              <a:rPr lang="en-US" altLang="ko-KR" u="sng" dirty="0"/>
              <a:t>stream of data</a:t>
            </a:r>
          </a:p>
          <a:p>
            <a:r>
              <a:rPr lang="en-US" altLang="ko-KR" dirty="0"/>
              <a:t>Each </a:t>
            </a:r>
            <a:r>
              <a:rPr lang="en-US" altLang="ko-KR" u="sng" dirty="0"/>
              <a:t>processing unit</a:t>
            </a:r>
            <a:r>
              <a:rPr lang="en-US" altLang="ko-KR" dirty="0"/>
              <a:t> is enclosed within a </a:t>
            </a:r>
            <a:r>
              <a:rPr lang="en-US" altLang="ko-KR" i="1" dirty="0">
                <a:solidFill>
                  <a:srgbClr val="0432FF"/>
                </a:solidFill>
              </a:rPr>
              <a:t>filter</a:t>
            </a:r>
            <a:r>
              <a:rPr lang="en-US" altLang="ko-KR" dirty="0"/>
              <a:t> component</a:t>
            </a:r>
          </a:p>
          <a:p>
            <a:r>
              <a:rPr lang="en-US" altLang="ko-KR" dirty="0"/>
              <a:t>Data to be processed is passed through </a:t>
            </a:r>
            <a:r>
              <a:rPr lang="en-US" altLang="ko-KR" i="1" dirty="0">
                <a:solidFill>
                  <a:srgbClr val="0432FF"/>
                </a:solidFill>
              </a:rPr>
              <a:t>pipes</a:t>
            </a:r>
          </a:p>
          <a:p>
            <a:r>
              <a:rPr lang="en-US" altLang="ko-KR" dirty="0"/>
              <a:t>e.g., Compiler, workflow machine,.. IoT, Digital Twins in CPS,..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12</a:t>
            </a:fld>
            <a:endParaRPr kumimoji="1" lang="ko-KR" altLang="en-US"/>
          </a:p>
        </p:txBody>
      </p:sp>
      <p:pic>
        <p:nvPicPr>
          <p:cNvPr id="3074" name="Picture 2" descr="https://cdn-images-1.medium.com/max/1600/1*qikehZcDhhl_wWsqeI_n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074" y="4419600"/>
            <a:ext cx="5187612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BBF6FB41-6EFF-FD4F-A8C4-B1075264D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BAE1BF-7AC3-3D47-B7FC-41EF57C67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6483" y="4267200"/>
            <a:ext cx="5683117" cy="137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5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Pipe and Filter Example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Automated Cruise Control System</a:t>
            </a:r>
          </a:p>
          <a:p>
            <a:pPr lvl="1"/>
            <a:r>
              <a:rPr lang="en-US" altLang="ko-KR" dirty="0"/>
              <a:t>Maintain a speed set by the driver</a:t>
            </a:r>
          </a:p>
          <a:p>
            <a:pPr lvl="2"/>
            <a:r>
              <a:rPr lang="en-US" altLang="ko-KR" dirty="0"/>
              <a:t>Sensor, processing unit, actuator</a:t>
            </a:r>
          </a:p>
          <a:p>
            <a:pPr lvl="1"/>
            <a:r>
              <a:rPr lang="en-US" altLang="ko-KR" dirty="0"/>
              <a:t>How to measure the current speed?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13</a:t>
            </a:fld>
            <a:endParaRPr kumimoji="1" lang="ko-KR" altLang="en-US"/>
          </a:p>
        </p:txBody>
      </p:sp>
      <p:sp>
        <p:nvSpPr>
          <p:cNvPr id="9" name="AutoShape 6" descr="Figure 3 shows an example applied to the pipeline for the data from Source 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12F70C9-E2E4-F646-AF4C-E489611CF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5094" y="72977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  <p:pic>
        <p:nvPicPr>
          <p:cNvPr id="1028" name="Picture 4" descr="A graphic demonstrating an Adaptive Cruise Control system">
            <a:extLst>
              <a:ext uri="{FF2B5EF4-FFF2-40B4-BE49-F238E27FC236}">
                <a16:creationId xmlns:a16="http://schemas.microsoft.com/office/drawing/2014/main" id="{2D1C9B6D-D6F2-19D3-1C45-AA5688262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386" y="1129733"/>
            <a:ext cx="4688733" cy="251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2293F21-D661-7AB2-EDA8-CDBC9E456821}"/>
              </a:ext>
            </a:extLst>
          </p:cNvPr>
          <p:cNvSpPr txBox="1"/>
          <p:nvPr/>
        </p:nvSpPr>
        <p:spPr>
          <a:xfrm>
            <a:off x="9647752" y="3647068"/>
            <a:ext cx="2514600" cy="169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5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</a:t>
            </a:r>
            <a:r>
              <a:rPr lang="ko-KR" altLang="en-US" sz="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://</a:t>
            </a:r>
            <a:r>
              <a:rPr lang="ko-KR" altLang="en-US" sz="5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www.thewindscreenco.co.uk</a:t>
            </a:r>
            <a:r>
              <a:rPr lang="ko-KR" altLang="en-US" sz="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5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adas-guide</a:t>
            </a:r>
            <a:r>
              <a:rPr lang="ko-KR" altLang="en-US" sz="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ko-KR" altLang="en-US" sz="500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adaptive-cruise-control-acc</a:t>
            </a:r>
            <a:r>
              <a:rPr lang="ko-KR" altLang="en-US" sz="5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56F484E-1B6C-B431-5DF9-252DC32429C2}"/>
              </a:ext>
            </a:extLst>
          </p:cNvPr>
          <p:cNvGrpSpPr/>
          <p:nvPr/>
        </p:nvGrpSpPr>
        <p:grpSpPr>
          <a:xfrm>
            <a:off x="482146" y="2957008"/>
            <a:ext cx="6493740" cy="3395172"/>
            <a:chOff x="482146" y="2957008"/>
            <a:chExt cx="6493740" cy="3395172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637A137-40A0-3EB6-67E0-3A2BF6CB1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146" y="2957008"/>
              <a:ext cx="6493740" cy="3376745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844F299-7F74-8FB3-DFB4-0F44CB171A9B}"/>
                </a:ext>
              </a:extLst>
            </p:cNvPr>
            <p:cNvSpPr txBox="1"/>
            <p:nvPr/>
          </p:nvSpPr>
          <p:spPr>
            <a:xfrm>
              <a:off x="990600" y="6182903"/>
              <a:ext cx="3204029" cy="1692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500" dirty="0" err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</a:t>
              </a:r>
              <a:r>
                <a:rPr lang="ko-KR" altLang="en-US" sz="5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://</a:t>
              </a:r>
              <a:r>
                <a:rPr lang="ko-KR" altLang="en-US" sz="500" dirty="0" err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www.researchgate.net</a:t>
              </a:r>
              <a:r>
                <a:rPr lang="ko-KR" altLang="en-US" sz="5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ko-KR" altLang="en-US" sz="500" dirty="0" err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figure</a:t>
              </a:r>
              <a:r>
                <a:rPr lang="ko-KR" altLang="en-US" sz="50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/Adaptive-Cruise-Control-ACC-fault-tolerant-paradigm_fig1_325702711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384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Broker Pattern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0" y="838200"/>
            <a:ext cx="11055019" cy="5410200"/>
          </a:xfrm>
        </p:spPr>
        <p:txBody>
          <a:bodyPr>
            <a:normAutofit/>
          </a:bodyPr>
          <a:lstStyle/>
          <a:p>
            <a:r>
              <a:rPr lang="en-US" altLang="ko-KR" dirty="0"/>
              <a:t>Structure of a </a:t>
            </a:r>
            <a:r>
              <a:rPr lang="en-US" altLang="ko-KR" u="sng" dirty="0"/>
              <a:t>distributed system</a:t>
            </a:r>
            <a:r>
              <a:rPr lang="en-US" altLang="ko-KR" dirty="0"/>
              <a:t> with decoupled components</a:t>
            </a:r>
          </a:p>
          <a:p>
            <a:r>
              <a:rPr lang="en-US" altLang="ko-KR" i="1" dirty="0">
                <a:solidFill>
                  <a:srgbClr val="0432FF"/>
                </a:solidFill>
              </a:rPr>
              <a:t>Broker</a:t>
            </a:r>
            <a:r>
              <a:rPr lang="en-US" altLang="ko-KR" dirty="0"/>
              <a:t> component is responsible for the </a:t>
            </a:r>
            <a:r>
              <a:rPr lang="en-US" altLang="ko-KR" u="sng" dirty="0"/>
              <a:t>coordination</a:t>
            </a:r>
            <a:r>
              <a:rPr lang="en-US" altLang="ko-KR" dirty="0"/>
              <a:t> and </a:t>
            </a:r>
            <a:r>
              <a:rPr lang="en-US" altLang="ko-KR" u="sng" dirty="0"/>
              <a:t>communication</a:t>
            </a:r>
            <a:r>
              <a:rPr lang="en-US" altLang="ko-KR" dirty="0"/>
              <a:t> among components</a:t>
            </a:r>
          </a:p>
          <a:p>
            <a:r>
              <a:rPr lang="en-US" altLang="ko-KR" i="1" dirty="0">
                <a:solidFill>
                  <a:srgbClr val="0432FF"/>
                </a:solidFill>
              </a:rPr>
              <a:t>Servers</a:t>
            </a:r>
            <a:r>
              <a:rPr lang="en-US" altLang="ko-KR" dirty="0"/>
              <a:t> publish their capabilities to a broker</a:t>
            </a:r>
          </a:p>
          <a:p>
            <a:r>
              <a:rPr lang="en-US" altLang="ko-KR" i="1" dirty="0">
                <a:solidFill>
                  <a:srgbClr val="0432FF"/>
                </a:solidFill>
              </a:rPr>
              <a:t>Clients</a:t>
            </a:r>
            <a:r>
              <a:rPr lang="en-US" altLang="ko-KR" dirty="0"/>
              <a:t> request a service from the broker, and the broker redirects the client to a suitable service</a:t>
            </a:r>
          </a:p>
          <a:p>
            <a:r>
              <a:rPr lang="en-US" altLang="ko-KR" dirty="0"/>
              <a:t>Message brokers: </a:t>
            </a:r>
          </a:p>
          <a:p>
            <a:pPr lvl="1"/>
            <a:r>
              <a:rPr lang="en-US" altLang="ko-KR" dirty="0"/>
              <a:t>Apache ActiveMQ </a:t>
            </a:r>
          </a:p>
          <a:p>
            <a:pPr lvl="1"/>
            <a:r>
              <a:rPr lang="en-US" altLang="ko-KR" dirty="0"/>
              <a:t>JBoss Messaging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14</a:t>
            </a:fld>
            <a:endParaRPr kumimoji="1" lang="ko-KR" altLang="en-US"/>
          </a:p>
        </p:txBody>
      </p:sp>
      <p:pic>
        <p:nvPicPr>
          <p:cNvPr id="5122" name="Picture 2" descr="https://cdn-images-1.medium.com/max/1600/1*1qRQZjLRAd0yY_T9p2OgB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488" y="3588812"/>
            <a:ext cx="5436955" cy="287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2AB21D42-66CE-0A48-9807-4DA4D9403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</p:spTree>
    <p:extLst>
      <p:ext uri="{BB962C8B-B14F-4D97-AF65-F5344CB8AC3E}">
        <p14:creationId xmlns:p14="http://schemas.microsoft.com/office/powerpoint/2010/main" val="321049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F632159B-C861-5446-8821-CBDA5993BCF2}"/>
              </a:ext>
            </a:extLst>
          </p:cNvPr>
          <p:cNvGrpSpPr/>
          <p:nvPr/>
        </p:nvGrpSpPr>
        <p:grpSpPr>
          <a:xfrm>
            <a:off x="6324600" y="4462863"/>
            <a:ext cx="5604823" cy="2097431"/>
            <a:chOff x="6324600" y="4462863"/>
            <a:chExt cx="5604823" cy="2097431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F0DE3D0-3D55-F147-A0E3-19524A5F95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600" y="4462863"/>
              <a:ext cx="5604823" cy="20974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D9D897A-43EC-8B4C-B566-94C4B5DAE1AA}"/>
                </a:ext>
              </a:extLst>
            </p:cNvPr>
            <p:cNvSpPr/>
            <p:nvPr/>
          </p:nvSpPr>
          <p:spPr>
            <a:xfrm>
              <a:off x="8475998" y="5984901"/>
              <a:ext cx="1539204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ore-KR" altLang="en-US" sz="600" dirty="0">
                  <a:solidFill>
                    <a:srgbClr val="B2B2B2"/>
                  </a:solidFill>
                  <a:latin typeface="Arial" charset="0"/>
                  <a:ea typeface="굴림" charset="-127"/>
                </a:rPr>
                <a:t>https://github.com/greenrobot/EventBus</a:t>
              </a:r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Event-bus Pattern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01" y="838200"/>
            <a:ext cx="6629400" cy="5410200"/>
          </a:xfrm>
        </p:spPr>
        <p:txBody>
          <a:bodyPr/>
          <a:lstStyle/>
          <a:p>
            <a:r>
              <a:rPr lang="en-US" altLang="ko-KR" dirty="0"/>
              <a:t>Has 4 components</a:t>
            </a:r>
          </a:p>
          <a:p>
            <a:pPr lvl="1"/>
            <a:r>
              <a:rPr lang="en-US" altLang="ko-KR" i="1" dirty="0">
                <a:solidFill>
                  <a:srgbClr val="0432FF"/>
                </a:solidFill>
              </a:rPr>
              <a:t>Event source</a:t>
            </a:r>
            <a:r>
              <a:rPr lang="en-US" altLang="ko-KR" dirty="0"/>
              <a:t> – </a:t>
            </a:r>
            <a:r>
              <a:rPr lang="en-US" altLang="ko-KR" u="sng" dirty="0"/>
              <a:t>publishes</a:t>
            </a:r>
            <a:r>
              <a:rPr lang="en-US" altLang="ko-KR" dirty="0"/>
              <a:t> messages to particular channels</a:t>
            </a:r>
          </a:p>
          <a:p>
            <a:pPr lvl="1"/>
            <a:r>
              <a:rPr lang="en-US" altLang="ko-KR" i="1" dirty="0">
                <a:solidFill>
                  <a:srgbClr val="0432FF"/>
                </a:solidFill>
              </a:rPr>
              <a:t>Event listener</a:t>
            </a:r>
            <a:r>
              <a:rPr lang="en-US" altLang="ko-KR" dirty="0"/>
              <a:t> – </a:t>
            </a:r>
            <a:r>
              <a:rPr lang="en-US" altLang="ko-KR" u="sng" dirty="0"/>
              <a:t>subscribes</a:t>
            </a:r>
            <a:r>
              <a:rPr lang="en-US" altLang="ko-KR" dirty="0"/>
              <a:t> to particular channels to get notifications of messages</a:t>
            </a:r>
          </a:p>
          <a:p>
            <a:pPr lvl="1"/>
            <a:r>
              <a:rPr lang="en-US" altLang="ko-KR" i="1" dirty="0">
                <a:solidFill>
                  <a:srgbClr val="0432FF"/>
                </a:solidFill>
              </a:rPr>
              <a:t>Channel</a:t>
            </a:r>
          </a:p>
          <a:p>
            <a:pPr lvl="1"/>
            <a:r>
              <a:rPr lang="en-US" altLang="ko-KR" i="1" dirty="0">
                <a:solidFill>
                  <a:srgbClr val="0432FF"/>
                </a:solidFill>
              </a:rPr>
              <a:t>Event bus (Common API)</a:t>
            </a:r>
          </a:p>
          <a:p>
            <a:r>
              <a:rPr lang="en-US" altLang="ko-Kore-KR" dirty="0"/>
              <a:t>Publish–subscribe (pub-sub) pattern</a:t>
            </a:r>
            <a:endParaRPr lang="en-US" altLang="ko-KR" dirty="0"/>
          </a:p>
          <a:p>
            <a:r>
              <a:rPr lang="en-US" altLang="ko-KR" dirty="0"/>
              <a:t>e.g., Android </a:t>
            </a:r>
            <a:r>
              <a:rPr lang="en-US" altLang="ko-KR" dirty="0" err="1"/>
              <a:t>EventBus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ko-KR"/>
              <a:t>Spring 2025</a:t>
            </a:r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ko-KR"/>
              <a:t>CS30500        Copyright (c) In-Young Ko, KAIST</a:t>
            </a:r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001DB4-F4F8-854C-847A-BD66F7E51DBB}" type="slidenum">
              <a:rPr kumimoji="1" lang="ko-KR" altLang="en-US" smtClean="0"/>
              <a:t>15</a:t>
            </a:fld>
            <a:endParaRPr kumimoji="1" lang="ko-KR" altLang="en-US"/>
          </a:p>
        </p:txBody>
      </p:sp>
      <p:pic>
        <p:nvPicPr>
          <p:cNvPr id="6146" name="Picture 2" descr="Image result for event bus patte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780766"/>
            <a:ext cx="4803643" cy="307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F69E377D-0478-6A4A-9DAA-E757316B3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780" y="6248400"/>
            <a:ext cx="325602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US" altLang="ko-KR" sz="900" dirty="0">
                <a:solidFill>
                  <a:srgbClr val="B2B2B2"/>
                </a:solidFill>
              </a:rPr>
              <a:t>Adopted from Prof. Doo-Hwan Bae’s CS350 lecture material</a:t>
            </a:r>
          </a:p>
        </p:txBody>
      </p:sp>
    </p:spTree>
    <p:extLst>
      <p:ext uri="{BB962C8B-B14F-4D97-AF65-F5344CB8AC3E}">
        <p14:creationId xmlns:p14="http://schemas.microsoft.com/office/powerpoint/2010/main" val="320603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/>
            </a:pPr>
            <a:r>
              <a:rPr lang="en-US" altLang="ko-KR" dirty="0"/>
              <a:t>Model-view-controller (MVC)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endParaRPr lang="ko-KR" altLang="en-US" dirty="0"/>
          </a:p>
        </p:txBody>
      </p:sp>
      <p:sp>
        <p:nvSpPr>
          <p:cNvPr id="4096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Isolates business logic from user interface</a:t>
            </a:r>
          </a:p>
          <a:p>
            <a:r>
              <a:rPr lang="en-US" altLang="ko-KR" dirty="0"/>
              <a:t>Makes it </a:t>
            </a:r>
            <a:r>
              <a:rPr lang="en-US" altLang="ko-KR" u="sng" dirty="0"/>
              <a:t>easier to modify applications</a:t>
            </a:r>
            <a:r>
              <a:rPr lang="en-US" altLang="ko-KR" dirty="0"/>
              <a:t> either their visual appearance or the underlying business rules without affecting others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Spring 2025</a:t>
            </a: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altLang="ko-KR"/>
              <a:t>CS30500        Copyright (c) In-Young Ko, KAIST</a:t>
            </a: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5E49CBC1-763C-41FC-9B1A-9EE17BFEFBE1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8" name="직사각형 7"/>
          <p:cNvSpPr/>
          <p:nvPr/>
        </p:nvSpPr>
        <p:spPr>
          <a:xfrm>
            <a:off x="6096000" y="3196966"/>
            <a:ext cx="5754327" cy="25545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/>
            </a:pPr>
            <a:r>
              <a:rPr lang="en-US" altLang="ko-KR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Model</a:t>
            </a:r>
            <a:r>
              <a:rPr lang="en-US" altLang="ko-KR" sz="2000" dirty="0">
                <a:latin typeface="Arial" pitchFamily="34" charset="0"/>
                <a:cs typeface="Arial" pitchFamily="34" charset="0"/>
              </a:rPr>
              <a:t>: the domain-specific </a:t>
            </a:r>
            <a:r>
              <a:rPr lang="en-US" altLang="ko-KR" sz="2000" u="sng" dirty="0">
                <a:latin typeface="Arial" pitchFamily="34" charset="0"/>
                <a:cs typeface="Arial" pitchFamily="34" charset="0"/>
              </a:rPr>
              <a:t>representation</a:t>
            </a:r>
            <a:r>
              <a:rPr lang="en-US" altLang="ko-KR" sz="2000" dirty="0">
                <a:latin typeface="Arial" pitchFamily="34" charset="0"/>
                <a:cs typeface="Arial" pitchFamily="34" charset="0"/>
              </a:rPr>
              <a:t> of the information on which the application operates</a:t>
            </a:r>
            <a:endParaRPr lang="en-US" altLang="ko-KR" sz="2000" b="1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ko-KR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View</a:t>
            </a:r>
            <a:r>
              <a:rPr lang="en-US" altLang="ko-KR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altLang="ko-KR" sz="2000" u="sng" dirty="0">
                <a:latin typeface="Arial" pitchFamily="34" charset="0"/>
                <a:cs typeface="Arial" pitchFamily="34" charset="0"/>
              </a:rPr>
              <a:t>renders</a:t>
            </a:r>
            <a:r>
              <a:rPr lang="en-US" altLang="ko-KR" sz="2000" dirty="0">
                <a:latin typeface="Arial" pitchFamily="34" charset="0"/>
                <a:cs typeface="Arial" pitchFamily="34" charset="0"/>
              </a:rPr>
              <a:t> the model into a form suitable for interaction, typically a user interface element</a:t>
            </a:r>
            <a:endParaRPr lang="en-US" altLang="ko-KR" sz="2000" b="1" dirty="0">
              <a:solidFill>
                <a:srgbClr val="0000CC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1200"/>
              </a:spcBef>
              <a:defRPr/>
            </a:pPr>
            <a:r>
              <a:rPr lang="en-US" altLang="ko-KR" sz="2000" b="1" dirty="0">
                <a:solidFill>
                  <a:srgbClr val="0000CC"/>
                </a:solidFill>
                <a:latin typeface="Arial" pitchFamily="34" charset="0"/>
                <a:cs typeface="Arial" pitchFamily="34" charset="0"/>
              </a:rPr>
              <a:t>Controller</a:t>
            </a:r>
            <a:r>
              <a:rPr lang="en-US" altLang="ko-KR" sz="2000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u="sng" dirty="0">
                <a:latin typeface="Arial" pitchFamily="34" charset="0"/>
                <a:cs typeface="Arial" pitchFamily="34" charset="0"/>
              </a:rPr>
              <a:t>processes and responds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to events, typically user actions, and may invoke changes on the model</a:t>
            </a:r>
            <a:endParaRPr lang="ko-KR" alt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0620375" y="6183105"/>
            <a:ext cx="1111250" cy="307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rPr>
              <a:t>[Wikipedia] 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26" name="Picture 2" descr="File:MVC-Proces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49684"/>
            <a:ext cx="3531066" cy="38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132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19281-9D6C-8845-9B04-A379FC30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MVC Example – </a:t>
            </a:r>
            <a:r>
              <a:rPr lang="en-US" altLang="ko-Kore-KR" dirty="0"/>
              <a:t>Dynamic </a:t>
            </a:r>
            <a:r>
              <a:rPr kumimoji="1" lang="en-US" altLang="ko-Kore-KR" dirty="0"/>
              <a:t>Web Applications</a:t>
            </a:r>
            <a:endParaRPr kumimoji="1" lang="ko-Kore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3DB761-5155-FE4E-B938-A5955B76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690779-BFCB-BA4C-B94E-0ACC3D67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6072CC-F964-5048-822A-DF0F0B2B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17</a:t>
            </a:fld>
            <a:endParaRPr lang="ko-KR" altLang="en-US" dirty="0"/>
          </a:p>
        </p:txBody>
      </p:sp>
      <p:pic>
        <p:nvPicPr>
          <p:cNvPr id="7" name="Picture 3" descr="The diagram shows a model view controller architecture. The architecture contains three section. The client, the server and the external data.">
            <a:extLst>
              <a:ext uri="{FF2B5EF4-FFF2-40B4-BE49-F238E27FC236}">
                <a16:creationId xmlns:a16="http://schemas.microsoft.com/office/drawing/2014/main" id="{785C1D38-C636-054C-B525-0B7D605FCDF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8"/>
          <a:stretch/>
        </p:blipFill>
        <p:spPr>
          <a:xfrm>
            <a:off x="1699768" y="885915"/>
            <a:ext cx="9448800" cy="5426640"/>
          </a:xfrm>
          <a:prstGeom prst="rect">
            <a:avLst/>
          </a:prstGeom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8741BD40-5BCD-C24B-8810-17AD68374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17220" y="6214081"/>
            <a:ext cx="89479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굴림" charset="-127"/>
              </a:defRPr>
            </a:lvl9pPr>
          </a:lstStyle>
          <a:p>
            <a:r>
              <a:rPr lang="en-GB" altLang="ko-KR" sz="1200" dirty="0">
                <a:solidFill>
                  <a:srgbClr val="B2B2B2"/>
                </a:solidFill>
              </a:rPr>
              <a:t>[PrMa20 ] </a:t>
            </a:r>
            <a:endParaRPr lang="en-US" altLang="ko-KR" sz="1200" dirty="0">
              <a:solidFill>
                <a:srgbClr val="B2B2B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685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>
            <a:extLst>
              <a:ext uri="{FF2B5EF4-FFF2-40B4-BE49-F238E27FC236}">
                <a16:creationId xmlns:a16="http://schemas.microsoft.com/office/drawing/2014/main" id="{07BA3490-5F22-E34B-BE3B-F8CDB41FC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95800" y="1936844"/>
            <a:ext cx="7696200" cy="44800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801AD47-118E-3340-A319-0221BAD3B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ore-KR" dirty="0"/>
              <a:t>Component-based Design Pattern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12C254-D235-1F40-BF5D-5D9DB6668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838200"/>
            <a:ext cx="11055019" cy="5410200"/>
          </a:xfrm>
        </p:spPr>
        <p:txBody>
          <a:bodyPr>
            <a:normAutofit/>
          </a:bodyPr>
          <a:lstStyle/>
          <a:p>
            <a:r>
              <a:rPr lang="en-US" altLang="ko-Kore-KR" sz="2400" i="1" dirty="0">
                <a:solidFill>
                  <a:srgbClr val="0432FF"/>
                </a:solidFill>
              </a:rPr>
              <a:t>Software Components</a:t>
            </a:r>
            <a:r>
              <a:rPr lang="en-US" altLang="ko-Kore-KR" sz="2400" dirty="0"/>
              <a:t>: “Binary (executable) units that are independently produced, acquired and deployed, and can be connected to each other to form a composite system.” [</a:t>
            </a:r>
            <a:r>
              <a:rPr lang="en-US" altLang="ko-Kore-KR" sz="2400" dirty="0" err="1"/>
              <a:t>Szyperski</a:t>
            </a:r>
            <a:r>
              <a:rPr lang="en-US" altLang="ko-Kore-KR" sz="2400" dirty="0"/>
              <a:t> 1998]</a:t>
            </a:r>
            <a:endParaRPr kumimoji="1" lang="ko-Kore-KR" altLang="en-US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321BD-9029-414B-B3F5-54ACAC32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304DB3-13AB-FE48-A70B-CADCCE3F9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F72BD-B313-1245-8CFB-0975208C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18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5B7129-49DB-0E44-B1FB-0D8DA4EF9F97}"/>
              </a:ext>
            </a:extLst>
          </p:cNvPr>
          <p:cNvSpPr/>
          <p:nvPr/>
        </p:nvSpPr>
        <p:spPr>
          <a:xfrm>
            <a:off x="990600" y="5884674"/>
            <a:ext cx="411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[BBB+00] Felix Bachmann, Len Bass, Charles </a:t>
            </a:r>
            <a:r>
              <a:rPr lang="en-US" altLang="ko-Kore-KR" sz="7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Buhman</a:t>
            </a:r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Santiago </a:t>
            </a:r>
            <a:r>
              <a:rPr lang="en-US" altLang="ko-Kore-KR" sz="7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Comella-Dorda</a:t>
            </a:r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Fred Long, John Robert, Robert </a:t>
            </a:r>
            <a:r>
              <a:rPr lang="en-US" altLang="ko-Kore-KR" sz="7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Seacord</a:t>
            </a:r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Kurt </a:t>
            </a:r>
            <a:r>
              <a:rPr lang="en-US" altLang="ko-Kore-KR" sz="7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Wallnau</a:t>
            </a:r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"Volume II: Technical Concepts of Component-Based Software Engineering, 2nd Edition</a:t>
            </a:r>
            <a:r>
              <a:rPr lang="ko-KR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r>
              <a:rPr lang="en-US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Software Engineering Institute, Carnegie Mellon University, Pittsburgh, Pennsylvania, Technical Report CMU/SEI-2000-TR-008, 2000.</a:t>
            </a:r>
            <a:r>
              <a:rPr lang="ko-Kore-KR" altLang="ko-Kore-KR" sz="7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ore-KR" altLang="en-US" sz="7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56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>
                <a:ea typeface="굴림" pitchFamily="50" charset="-127"/>
              </a:rPr>
              <a:t>Why Component-based?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ko-KR" dirty="0">
                <a:solidFill>
                  <a:srgbClr val="0000CC"/>
                </a:solidFill>
                <a:ea typeface="굴림" pitchFamily="50" charset="-127"/>
              </a:rPr>
              <a:t>Reusability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>
                <a:solidFill>
                  <a:srgbClr val="0000CC"/>
                </a:solidFill>
                <a:ea typeface="굴림" pitchFamily="50" charset="-127"/>
              </a:rPr>
              <a:t>Flexibility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Easier to </a:t>
            </a:r>
            <a:r>
              <a:rPr lang="en-US" altLang="ko-KR" u="sng" dirty="0">
                <a:ea typeface="굴림" pitchFamily="50" charset="-127"/>
              </a:rPr>
              <a:t>customize</a:t>
            </a:r>
            <a:r>
              <a:rPr lang="en-US" altLang="ko-KR" dirty="0">
                <a:ea typeface="굴림" pitchFamily="50" charset="-127"/>
              </a:rPr>
              <a:t> a software system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Easier to satisfy changing user requirements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>
                <a:solidFill>
                  <a:srgbClr val="0000CC"/>
                </a:solidFill>
                <a:ea typeface="굴림" pitchFamily="50" charset="-127"/>
              </a:rPr>
              <a:t>Maintainability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u="sng" dirty="0">
                <a:ea typeface="굴림" pitchFamily="50" charset="-127"/>
              </a:rPr>
              <a:t>Independent extensions</a:t>
            </a:r>
            <a:r>
              <a:rPr lang="en-US" altLang="ko-KR" dirty="0">
                <a:ea typeface="굴림" pitchFamily="50" charset="-127"/>
              </a:rPr>
              <a:t> (shorter upgrade cycle)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Easier to maintain state-of-the-art software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dirty="0">
                <a:solidFill>
                  <a:srgbClr val="0000CC"/>
                </a:solidFill>
                <a:ea typeface="굴림" pitchFamily="50" charset="-127"/>
              </a:rPr>
              <a:t>Productivity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u="sng" dirty="0">
                <a:ea typeface="굴림" pitchFamily="50" charset="-127"/>
              </a:rPr>
              <a:t>Reduced time-to-market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More outsourcing components (</a:t>
            </a:r>
            <a:r>
              <a:rPr lang="en-US" altLang="ko-KR" i="1" dirty="0">
                <a:solidFill>
                  <a:srgbClr val="0000CC"/>
                </a:solidFill>
                <a:ea typeface="굴림" pitchFamily="50" charset="-127"/>
              </a:rPr>
              <a:t>component markets</a:t>
            </a:r>
            <a:r>
              <a:rPr lang="en-US" altLang="ko-KR" dirty="0">
                <a:ea typeface="굴림" pitchFamily="50" charset="-127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Better cost efficiency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ko-KR" dirty="0">
                <a:ea typeface="굴림" pitchFamily="50" charset="-127"/>
              </a:rPr>
              <a:t>Higher quality (improved predictability &amp; reliability)</a:t>
            </a:r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Spring 2025</a:t>
            </a:r>
          </a:p>
        </p:txBody>
      </p:sp>
      <p:sp>
        <p:nvSpPr>
          <p:cNvPr id="15362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/>
              <a:t>CS30500        Copyright (c) In-Young Ko, KAIST</a:t>
            </a:r>
          </a:p>
        </p:txBody>
      </p:sp>
      <p:sp>
        <p:nvSpPr>
          <p:cNvPr id="15363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9AEF457-3663-4E7E-84BC-8C0EBA157A33}" type="slidenum">
              <a:rPr lang="en-US" altLang="ko-KR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3293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73F958-77E3-04D3-A048-AEC8D63F3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Software Reuse History</a:t>
            </a:r>
            <a:endParaRPr kumimoji="1"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D853A7-C414-22B2-2361-2E43A1BA0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Spring 2025</a:t>
            </a:r>
            <a:endParaRPr lang="en-US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C6A0F1-7038-69C3-C775-B3E0BEE23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/>
              <a:t>CS30500        Copyright (c) In-Young Ko, KAIST</a:t>
            </a:r>
            <a:endParaRPr lang="en-US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EEB825-1D13-AC8D-1DDA-FF479823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altLang="ko-KR" sz="1200" smtClean="0">
                <a:solidFill>
                  <a:schemeClr val="tx2"/>
                </a:solidFill>
              </a:rPr>
              <a:pPr/>
              <a:t>20</a:t>
            </a:fld>
            <a:endParaRPr lang="ko-KR" altLang="en-US" dirty="0"/>
          </a:p>
        </p:txBody>
      </p:sp>
      <p:pic>
        <p:nvPicPr>
          <p:cNvPr id="1026" name="Picture 2" descr="Reuse.. To don't reinvent the wheel - ppt download">
            <a:extLst>
              <a:ext uri="{FF2B5EF4-FFF2-40B4-BE49-F238E27FC236}">
                <a16:creationId xmlns:a16="http://schemas.microsoft.com/office/drawing/2014/main" id="{B05E0775-0BE9-7EE1-C779-D7B82C830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/>
          <a:stretch/>
        </p:blipFill>
        <p:spPr bwMode="auto">
          <a:xfrm>
            <a:off x="1410672" y="822332"/>
            <a:ext cx="9447914" cy="5668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79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s45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6350">
          <a:solidFill>
            <a:srgbClr val="439FD3"/>
          </a:solidFill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 smtClean="0">
            <a:solidFill>
              <a:schemeClr val="tx1"/>
            </a:solidFill>
          </a:defRPr>
        </a:defPPr>
      </a:lstStyle>
      <a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a:style>
    </a:spDef>
    <a:lnDef>
      <a:spPr>
        <a:ln w="28575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noAutofit/>
      </a:bodyPr>
      <a:lstStyle>
        <a:defPPr marL="285750" indent="-285750">
          <a:spcBef>
            <a:spcPts val="600"/>
          </a:spcBef>
          <a:buFont typeface="Arial" panose="020B0604020202020204" pitchFamily="34" charset="0"/>
          <a:buChar char="•"/>
          <a:defRPr sz="1200"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1446</Words>
  <Application>Microsoft Office PowerPoint</Application>
  <PresentationFormat>와이드스크린</PresentationFormat>
  <Paragraphs>227</Paragraphs>
  <Slides>20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굴림</vt:lpstr>
      <vt:lpstr>맑은 고딕</vt:lpstr>
      <vt:lpstr>Arial</vt:lpstr>
      <vt:lpstr>Calibri</vt:lpstr>
      <vt:lpstr>Tahoma</vt:lpstr>
      <vt:lpstr>Wingdings</vt:lpstr>
      <vt:lpstr>cs457</vt:lpstr>
      <vt:lpstr>CS30500: Introduction to Software Engineering</vt:lpstr>
      <vt:lpstr>Software Design</vt:lpstr>
      <vt:lpstr>What are the things to design? (1/2)</vt:lpstr>
      <vt:lpstr>What are the things to design? (2/2)</vt:lpstr>
      <vt:lpstr>Architecture Patterns</vt:lpstr>
      <vt:lpstr>Architectural Design</vt:lpstr>
      <vt:lpstr>Architectural Styles (Patterns)</vt:lpstr>
      <vt:lpstr>Layered Pattern (1/2)</vt:lpstr>
      <vt:lpstr>Layered Pattern (2/2)</vt:lpstr>
      <vt:lpstr>Client-Server Pattern (1/2)</vt:lpstr>
      <vt:lpstr>Client-Server Pattern (2/2)</vt:lpstr>
      <vt:lpstr>Pipe and Filter (Data Flow) Pattern</vt:lpstr>
      <vt:lpstr>Pipe and Filter Example</vt:lpstr>
      <vt:lpstr>Broker Pattern</vt:lpstr>
      <vt:lpstr>Event-bus Pattern</vt:lpstr>
      <vt:lpstr>Model-view-controller (MVC) Pattern</vt:lpstr>
      <vt:lpstr>MVC Example – Dynamic Web Applications</vt:lpstr>
      <vt:lpstr>Component-based Design Pattern</vt:lpstr>
      <vt:lpstr>Why Component-based?</vt:lpstr>
      <vt:lpstr>Software Reuse History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cp:lastPrinted>2022-04-14T11:43:25Z</cp:lastPrinted>
  <dcterms:created xsi:type="dcterms:W3CDTF">2008-07-23T13:45:57Z</dcterms:created>
  <dcterms:modified xsi:type="dcterms:W3CDTF">2025-11-10T03:35:56Z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TC101671251042</vt:lpwstr>
  </property>
</Properties>
</file>